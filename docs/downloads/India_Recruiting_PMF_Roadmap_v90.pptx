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Lst>
  <p:notesMasterIdLst>
    <p:notesMasterId r:id="rId6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Lst>
  <p:sldSz cx="9144000" cy="5143500" type="screen16x9"/>
  <p:notesSz cx="6858000" cy="9144000"/>
  <p:embeddedFontLst>
    <p:embeddedFont>
      <p:font typeface="Archivo" pitchFamily="2" charset="77"/>
      <p:regular r:id="rId70"/>
      <p:bold r:id="rId71"/>
      <p:italic r:id="rId72"/>
      <p:boldItalic r:id="rId73"/>
    </p:embeddedFont>
    <p:embeddedFont>
      <p:font typeface="Archivo Light" pitchFamily="2" charset="77"/>
      <p:regular r:id="rId74"/>
      <p:bold r:id="rId75"/>
      <p:italic r:id="rId76"/>
      <p:boldItalic r:id="rId77"/>
    </p:embeddedFont>
    <p:embeddedFont>
      <p:font typeface="Merriweather Sans" pitchFamily="2" charset="77"/>
      <p:regular r:id="rId78"/>
      <p:bold r:id="rId79"/>
      <p:italic r:id="rId80"/>
      <p:boldItalic r:id="rId8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11C8CD6-3F01-4482-9A65-288066B29C37}">
  <a:tblStyle styleId="{A11C8CD6-3F01-4482-9A65-288066B29C37}" styleName="Table_0">
    <a:wholeTbl>
      <a:tcTxStyle b="off" i="off">
        <a:font>
          <a:latin typeface="Arial"/>
          <a:ea typeface="Arial"/>
          <a:cs typeface="Arial"/>
        </a:font>
        <a:schemeClr val="dk1"/>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op>
            <a:ln w="9525" cap="flat" cmpd="sng">
              <a:solidFill>
                <a:schemeClr val="accent6"/>
              </a:solidFill>
              <a:prstDash val="solid"/>
              <a:round/>
              <a:headEnd type="none" w="sm" len="sm"/>
              <a:tailEnd type="none" w="sm" len="sm"/>
            </a:ln>
          </a:top>
          <a:bottom>
            <a:ln w="9525" cap="flat" cmpd="sng">
              <a:solidFill>
                <a:schemeClr val="accent6"/>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6"/>
              </a:solidFill>
              <a:prstDash val="solid"/>
              <a:round/>
              <a:headEnd type="none" w="sm" len="sm"/>
              <a:tailEnd type="none" w="sm" len="sm"/>
            </a:ln>
          </a:top>
          <a:bottom>
            <a:ln w="9525" cap="flat" cmpd="sng">
              <a:solidFill>
                <a:schemeClr val="accent6"/>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cBdr>
      </a:tcStyle>
    </a:band1V>
    <a:band2V>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6"/>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78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theme" Target="theme/theme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5.fntdata"/><Relationship Id="rId79" Type="http://schemas.openxmlformats.org/officeDocument/2006/relationships/font" Target="fonts/font10.fntdata"/><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notesMaster" Target="notesMasters/notesMaster1.xml"/><Relationship Id="rId77"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3.fntdata"/><Relationship Id="rId80" Type="http://schemas.openxmlformats.org/officeDocument/2006/relationships/font" Target="fonts/font11.fntdata"/><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font" Target="fonts/font1.fntdata"/><Relationship Id="rId75" Type="http://schemas.openxmlformats.org/officeDocument/2006/relationships/font" Target="fonts/font6.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font" Target="fonts/font12.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7.fntdata"/><Relationship Id="rId7" Type="http://schemas.openxmlformats.org/officeDocument/2006/relationships/slide" Target="slides/slide4.xml"/><Relationship Id="rId71" Type="http://schemas.openxmlformats.org/officeDocument/2006/relationships/font" Target="fonts/font2.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61" Type="http://schemas.openxmlformats.org/officeDocument/2006/relationships/slide" Target="slides/slide58.xml"/><Relationship Id="rId8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000"/>
            </a:pPr>
            <a:r>
              <a:t>Global TA ideation volume by capability (approx.)</a:t>
            </a:r>
          </a:p>
        </c:rich>
      </c:tx>
      <c:overlay val="0"/>
    </c:title>
    <c:autoTitleDeleted val="0"/>
    <c:plotArea>
      <c:layout/>
      <c:barChart>
        <c:barDir val="bar"/>
        <c:grouping val="clustered"/>
        <c:varyColors val="1"/>
        <c:ser>
          <c:idx val="0"/>
          <c:order val="0"/>
          <c:tx>
            <c:strRef>
              <c:f>Sheet1!$B$1</c:f>
              <c:strCache>
                <c:ptCount val="1"/>
                <c:pt idx="0">
                  <c:v>Idea volume (TA filter)</c:v>
                </c:pt>
              </c:strCache>
            </c:strRef>
          </c:tx>
          <c:invertIfNegative val="1"/>
          <c:cat>
            <c:strRef>
              <c:f>Sheet1!$A$2:$A$7</c:f>
              <c:strCache>
                <c:ptCount val="6"/>
                <c:pt idx="0">
                  <c:v>Comms</c:v>
                </c:pt>
                <c:pt idx="1">
                  <c:v>Job Reqs</c:v>
                </c:pt>
                <c:pt idx="2">
                  <c:v>Apply Flow</c:v>
                </c:pt>
                <c:pt idx="3">
                  <c:v>Candidates</c:v>
                </c:pt>
                <c:pt idx="4">
                  <c:v>Offers</c:v>
                </c:pt>
                <c:pt idx="5">
                  <c:v>BGC</c:v>
                </c:pt>
              </c:strCache>
            </c:strRef>
          </c:cat>
          <c:val>
            <c:numRef>
              <c:f>Sheet1!$B$2:$B$7</c:f>
              <c:numCache>
                <c:formatCode>General</c:formatCode>
                <c:ptCount val="6"/>
                <c:pt idx="0">
                  <c:v>1464</c:v>
                </c:pt>
                <c:pt idx="1">
                  <c:v>1407</c:v>
                </c:pt>
                <c:pt idx="2">
                  <c:v>1405</c:v>
                </c:pt>
                <c:pt idx="3">
                  <c:v>1220</c:v>
                </c:pt>
                <c:pt idx="4">
                  <c:v>926</c:v>
                </c:pt>
                <c:pt idx="5">
                  <c:v>199</c:v>
                </c:pt>
              </c:numCache>
            </c:numRef>
          </c:val>
          <c:extLst>
            <c:ext xmlns:c16="http://schemas.microsoft.com/office/drawing/2014/chart" uri="{C3380CC4-5D6E-409C-BE32-E72D297353CC}">
              <c16:uniqueId val="{00000000-F178-F247-9F16-10719A0A2AF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000"/>
            </a:pPr>
            <a:r>
              <a:t>TA ideas by capability (rounded volumes)</a:t>
            </a:r>
          </a:p>
        </c:rich>
      </c:tx>
      <c:overlay val="0"/>
    </c:title>
    <c:autoTitleDeleted val="0"/>
    <c:plotArea>
      <c:layout/>
      <c:barChart>
        <c:barDir val="col"/>
        <c:grouping val="clustered"/>
        <c:varyColors val="1"/>
        <c:ser>
          <c:idx val="0"/>
          <c:order val="0"/>
          <c:tx>
            <c:strRef>
              <c:f>Sheet1!$B$1</c:f>
              <c:strCache>
                <c:ptCount val="1"/>
                <c:pt idx="0">
                  <c:v>Volume</c:v>
                </c:pt>
              </c:strCache>
            </c:strRef>
          </c:tx>
          <c:invertIfNegative val="1"/>
          <c:cat>
            <c:strRef>
              <c:f>Sheet1!$A$2:$A$7</c:f>
              <c:strCache>
                <c:ptCount val="6"/>
                <c:pt idx="0">
                  <c:v>Comms</c:v>
                </c:pt>
                <c:pt idx="1">
                  <c:v>Job Reqs</c:v>
                </c:pt>
                <c:pt idx="2">
                  <c:v>Apply</c:v>
                </c:pt>
                <c:pt idx="3">
                  <c:v>Candidates</c:v>
                </c:pt>
                <c:pt idx="4">
                  <c:v>Offers</c:v>
                </c:pt>
                <c:pt idx="5">
                  <c:v>Compliance</c:v>
                </c:pt>
              </c:strCache>
            </c:strRef>
          </c:cat>
          <c:val>
            <c:numRef>
              <c:f>Sheet1!$B$2:$B$7</c:f>
              <c:numCache>
                <c:formatCode>General</c:formatCode>
                <c:ptCount val="6"/>
                <c:pt idx="0">
                  <c:v>1464</c:v>
                </c:pt>
                <c:pt idx="1">
                  <c:v>1407</c:v>
                </c:pt>
                <c:pt idx="2">
                  <c:v>1405</c:v>
                </c:pt>
                <c:pt idx="3">
                  <c:v>1220</c:v>
                </c:pt>
                <c:pt idx="4">
                  <c:v>926</c:v>
                </c:pt>
                <c:pt idx="5">
                  <c:v>851</c:v>
                </c:pt>
              </c:numCache>
            </c:numRef>
          </c:val>
          <c:extLst>
            <c:ext xmlns:c16="http://schemas.microsoft.com/office/drawing/2014/chart" uri="{C3380CC4-5D6E-409C-BE32-E72D297353CC}">
              <c16:uniqueId val="{00000000-5D7B-C94B-96ED-89B3D39534E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Consolidated executive summary focusing on identity, automation, compliance, and priority investments.</a:t>
            </a:r>
          </a:p>
          <a:p>
            <a:r>
              <a:t>• Emphasise that identity verification and high-volume automation are the core pillars for India market entry.</a:t>
            </a:r>
          </a:p>
          <a:p>
            <a:r>
              <a:t>• Highlight DPDP compliance as a critical requirement for multinational customers.</a:t>
            </a:r>
          </a:p>
          <a:p>
            <a:endParaRPr/>
          </a:p>
          <a:p>
            <a:r>
              <a:t>References:</a:t>
            </a:r>
          </a:p>
          <a:p>
            <a:r>
              <a:t>• PMF analysis: research/India/thematic-analysis/2026-04-01-India-PMF-Analysis-INDIA-PMF-006.md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Avoid claiming presales row counts.</a:t>
            </a:r>
          </a:p>
          <a:p>
            <a:endParaRPr/>
          </a:p>
          <a:p>
            <a:r>
              <a:t>References:</a:t>
            </a:r>
          </a:p>
          <a:p>
            <a:r>
              <a:t>• research/India/strategy-context-2026-04-01-INDIA-PMF-006.md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Transparent boundary for leadership.</a:t>
            </a:r>
          </a:p>
          <a:p>
            <a:endParaRPr/>
          </a:p>
          <a:p>
            <a:r>
              <a:t>References:</a:t>
            </a:r>
          </a:p>
          <a:p>
            <a:r>
              <a:t>• research/India/thematic-analysis/2026-04-01-India-PMF-Analysis-INDIA-PMF-006.md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FY26 Strategic Growth Objectives (SGOs) highlight international expansion.</a:t>
            </a:r>
          </a:p>
          <a:p>
            <a:r>
              <a:t>• The highlighted objective 'Increase right-to-win outside the US' directly supports the India market entry strategy.</a:t>
            </a:r>
          </a:p>
          <a:p>
            <a:r>
              <a:t>• This aligns with building ecosystem strength and leading in AI-powered innovation.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India presents a massive $800M addressable market with $70M+ in existing 5-year ARR.</a:t>
            </a:r>
          </a:p>
          <a:p>
            <a:r>
              <a:t>• We already have 2M+ users logging in from India before formal market entry.</a:t>
            </a:r>
          </a:p>
          <a:p>
            <a:r>
              <a:t>• India is 20% of the APJ software market, making it a strategic priority for regional growth.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Map each bullet to OKRs in quarterly markdown when challenged.</a:t>
            </a:r>
          </a:p>
          <a:p>
            <a:endParaRPr/>
          </a:p>
          <a:p>
            <a:r>
              <a:t>References:</a:t>
            </a:r>
          </a:p>
          <a:p>
            <a:r>
              <a:t>• research/India/strategy-context-2026-04-01-INDIA-PMF-006.md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Focal region appears first for non-GCC regional decks per style guide.</a:t>
            </a:r>
          </a:p>
          <a:p>
            <a:endParaRPr/>
          </a:p>
          <a:p>
            <a:r>
              <a:t>References:</a:t>
            </a:r>
          </a:p>
          <a:p>
            <a:r>
              <a:t>• research/India/strategy-context-2026-04-01-INDIA-PMF-006.md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Tie to SWOT and matrix true-gap rows.</a:t>
            </a:r>
          </a:p>
          <a:p>
            <a:endParaRPr/>
          </a:p>
          <a:p>
            <a:r>
              <a:t>References:</a:t>
            </a:r>
          </a:p>
          <a:p>
            <a:r>
              <a:t>• research/India/strategy-context-2026-04-01-INDIA-PMF-006.md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Cite labour.gov.in for statutory anchors.</a:t>
            </a:r>
          </a:p>
          <a:p>
            <a:endParaRPr/>
          </a:p>
          <a:p>
            <a:r>
              <a:t>References:</a:t>
            </a:r>
          </a:p>
          <a:p>
            <a:r>
              <a:t>• https://labour.gov.in/acts/industrial-relations-code-2020-31-dec-2020</a:t>
            </a:r>
          </a:p>
          <a:p>
            <a:r>
              <a:t>• research/India/pestel-analysis-India-2026-04-01-INDIA-PMF-006.md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IMARC anchors sizing.</a:t>
            </a:r>
          </a:p>
          <a:p>
            <a:endParaRPr/>
          </a:p>
          <a:p>
            <a:r>
              <a:t>References:</a:t>
            </a:r>
          </a:p>
          <a:p>
            <a:r>
              <a:t>• https://www.imarcgroup.com/human-resource-technology-market-india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Pair channels with DPDP consent.</a:t>
            </a:r>
          </a:p>
          <a:p>
            <a:endParaRPr/>
          </a:p>
          <a:p>
            <a:r>
              <a:t>References:</a:t>
            </a:r>
          </a:p>
          <a:p>
            <a:r>
              <a:t>• https://www.datareportal.com/reports/digital-2026-india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Deloitte press primary anchor.</a:t>
            </a:r>
          </a:p>
          <a:p>
            <a:endParaRPr/>
          </a:p>
          <a:p>
            <a:r>
              <a:t>References:</a:t>
            </a:r>
          </a:p>
          <a:p>
            <a:r>
              <a:t>• https://www.deloitte.com/in/en/about/press-room/indian-enterprises-lead-global-peers-in-at-scale-ai-adoption-across-most-functions.html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Reporting enabler positioning.</a:t>
            </a:r>
          </a:p>
          <a:p>
            <a:endParaRPr/>
          </a:p>
          <a:p>
            <a:r>
              <a:t>References:</a:t>
            </a:r>
          </a:p>
          <a:p>
            <a:r>
              <a:t>• research/India/pestel-analysis-India-2026-04-01-INDIA-PMF-006.md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Not legal advice.</a:t>
            </a:r>
          </a:p>
          <a:p>
            <a:endParaRPr/>
          </a:p>
          <a:p>
            <a:r>
              <a:t>References:</a:t>
            </a:r>
          </a:p>
          <a:p>
            <a:r>
              <a:t>• https://www.mondaq.com/india/privacy-protection/1406850/the-digital-personal-data-protection-act-2023-key-implications-for-employers</a:t>
            </a:r>
          </a:p>
          <a:p>
            <a:r>
              <a:t>• https://gdpr-info.eu/</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Ground in matrix v1.11 INDIA-PMF-006.</a:t>
            </a:r>
          </a:p>
          <a:p>
            <a:endParaRPr/>
          </a:p>
          <a:p>
            <a:r>
              <a:t>References:</a:t>
            </a:r>
          </a:p>
          <a:p>
            <a:r>
              <a:t>• research/competitive/matrices/in-competitive-matrix.md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Align to scan dated 01 April 2026.</a:t>
            </a:r>
          </a:p>
          <a:p>
            <a:endParaRPr/>
          </a:p>
          <a:p>
            <a:r>
              <a:t>References:</a:t>
            </a:r>
          </a:p>
          <a:p>
            <a:r>
              <a:t>• research/competitive/in/in-competitive-scan-2026-04-01-INDIA-PMF-006.md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Source is Step 3 SWOT file, not thematic report.</a:t>
            </a:r>
          </a:p>
          <a:p>
            <a:endParaRPr/>
          </a:p>
          <a:p>
            <a:r>
              <a:t>References:</a:t>
            </a:r>
          </a:p>
          <a:p>
            <a:r>
              <a:t>• research/India/swot-analysis-India-2026-04-01-INDIA-PMF-006.md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Ground counts in presales data gap analysis markdown.</a:t>
            </a:r>
          </a:p>
          <a:p>
            <a:endParaRPr/>
          </a:p>
          <a:p>
            <a:r>
              <a:t>References:</a:t>
            </a:r>
          </a:p>
          <a:p>
            <a:r>
              <a:t>• research/India/gap-analysis/2026-04-01-gap-analysis-INDIA-PMF-006.md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 Values from ideation data theme validation matrix.</a:t>
            </a:r>
          </a:p>
          <a:p>
            <a:endParaRPr/>
          </a:p>
          <a:p>
            <a:r>
              <a:t>References:</a:t>
            </a:r>
          </a:p>
          <a:p>
            <a:r>
              <a:t>• research/India/brainstorm-analysis/2026-04-01-brainstorm-analysis-INDIA-PMF-006.md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Buyer-reported severities; validate parity claims with competitive matrix.</a:t>
            </a:r>
          </a:p>
          <a:p>
            <a:endParaRPr/>
          </a:p>
          <a:p>
            <a:r>
              <a:t>References:</a:t>
            </a:r>
          </a:p>
          <a:p>
            <a:r>
              <a:t>• research/India/gap-analysis/2026-04-01-gap-analysis-INDIA-PMF-006.md</a:t>
            </a:r>
          </a:p>
          <a:p>
            <a:r>
              <a:t>• research/competitive/matrices/in-competitive-matrix.md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Exact N from ideation data report.</a:t>
            </a:r>
          </a:p>
          <a:p>
            <a:endParaRPr/>
          </a:p>
          <a:p>
            <a:r>
              <a:t>References:</a:t>
            </a:r>
          </a:p>
          <a:p>
            <a:r>
              <a:t>• research/India/brainstorm-analysis/2026-04-01-brainstorm-analysis-INDIA-PMF-006.md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 Compliance volume from theme validation matrix.</a:t>
            </a:r>
          </a:p>
          <a:p>
            <a:endParaRPr/>
          </a:p>
          <a:p>
            <a:r>
              <a:t>References:</a:t>
            </a:r>
          </a:p>
          <a:p>
            <a:r>
              <a:t>• research/India/brainstorm-analysis/2026-04-01-brainstorm-analysis-INDIA-PMF-006.md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Quotes are global ideation, not Teleperformance verbatims.</a:t>
            </a:r>
          </a:p>
          <a:p>
            <a:endParaRPr/>
          </a:p>
          <a:p>
            <a:r>
              <a:t>References:</a:t>
            </a:r>
          </a:p>
          <a:p>
            <a:r>
              <a:t>• research/India/brainstorm-analysis/2026-04-01-brainstorm-analysis-INDIA-PMF-006.md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Presenter map: SME1 Bernie; SME2 Fabiola Navarro; SME3 Santosh Gulia; SME4 David Lodola; SME5 David Phillips.</a:t>
            </a:r>
          </a:p>
          <a:p>
            <a:endParaRPr/>
          </a:p>
          <a:p>
            <a:r>
              <a:t>References:</a:t>
            </a:r>
          </a:p>
          <a:p>
            <a:r>
              <a:t>• research/India/105-sme-research-findings.md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Align IDs to 105 participant table.</a:t>
            </a:r>
          </a:p>
          <a:p>
            <a:endParaRPr/>
          </a:p>
          <a:p>
            <a:r>
              <a:t>References:</a:t>
            </a:r>
          </a:p>
          <a:p>
            <a:r>
              <a:t>• research/India/105-sme-research-findings.md</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Detailed quotes live in internal transcript files listed in 105.</a:t>
            </a:r>
          </a:p>
          <a:p>
            <a:endParaRPr/>
          </a:p>
          <a:p>
            <a:r>
              <a:t>References:</a:t>
            </a:r>
          </a:p>
          <a:p>
            <a:r>
              <a:t>• research/India/105-sme-research-findings.md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Detailed quotes live in internal transcript files listed in 105.</a:t>
            </a:r>
          </a:p>
          <a:p>
            <a:endParaRPr/>
          </a:p>
          <a:p>
            <a:r>
              <a:t>References:</a:t>
            </a:r>
          </a:p>
          <a:p>
            <a:r>
              <a:t>• research/India/105-sme-research-findings.md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Detailed quotes live in internal transcript files listed in 105.</a:t>
            </a:r>
          </a:p>
          <a:p>
            <a:endParaRPr/>
          </a:p>
          <a:p>
            <a:r>
              <a:t>References:</a:t>
            </a:r>
          </a:p>
          <a:p>
            <a:r>
              <a:t>• research/India/105-sme-research-findings.md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Detailed quotes live in internal transcript files listed in 105.</a:t>
            </a:r>
          </a:p>
          <a:p>
            <a:endParaRPr/>
          </a:p>
          <a:p>
            <a:r>
              <a:t>References:</a:t>
            </a:r>
          </a:p>
          <a:p>
            <a:r>
              <a:t>• research/India/105-sme-research-findings.md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Detailed quotes live in internal transcript files listed in 105.</a:t>
            </a:r>
          </a:p>
          <a:p>
            <a:endParaRPr/>
          </a:p>
          <a:p>
            <a:r>
              <a:t>References:</a:t>
            </a:r>
          </a:p>
          <a:p>
            <a:r>
              <a:t>• research/India/105-sme-research-findings.md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Anonymisation standard: P1–P5 only on slides.</a:t>
            </a:r>
          </a:p>
          <a:p>
            <a:endParaRPr/>
          </a:p>
          <a:p>
            <a:r>
              <a:t>References:</a:t>
            </a:r>
          </a:p>
          <a:p>
            <a:r>
              <a:t>• research/India/105-user-research-findings.md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Segment labels from 105 table.</a:t>
            </a:r>
          </a:p>
          <a:p>
            <a:endParaRPr/>
          </a:p>
          <a:p>
            <a:r>
              <a:t>References:</a:t>
            </a:r>
          </a:p>
          <a:p>
            <a:r>
              <a:t>• research/India/105-user-research-findings.md</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Verbatim strings: see 105 file for exact wording.</a:t>
            </a:r>
          </a:p>
          <a:p>
            <a:endParaRPr/>
          </a:p>
          <a:p>
            <a:r>
              <a:t>References:</a:t>
            </a:r>
          </a:p>
          <a:p>
            <a:r>
              <a:t>• research/India/105-user-research-findings.md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Verbatim strings: see 105 file for exact wording.</a:t>
            </a:r>
          </a:p>
          <a:p>
            <a:endParaRPr/>
          </a:p>
          <a:p>
            <a:r>
              <a:t>References:</a:t>
            </a:r>
          </a:p>
          <a:p>
            <a:r>
              <a:t>• research/India/105-user-research-findings.md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Verbatim strings: see 105 file for exact wording.</a:t>
            </a:r>
          </a:p>
          <a:p>
            <a:endParaRPr/>
          </a:p>
          <a:p>
            <a:r>
              <a:t>References:</a:t>
            </a:r>
          </a:p>
          <a:p>
            <a:r>
              <a:t>• research/India/105-user-research-findings.md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Verbatim strings: see 105 file for exact wording.</a:t>
            </a:r>
          </a:p>
          <a:p>
            <a:endParaRPr/>
          </a:p>
          <a:p>
            <a:r>
              <a:t>References:</a:t>
            </a:r>
          </a:p>
          <a:p>
            <a:r>
              <a:t>• research/India/105-user-research-findings.md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Verbatim strings: see 105 file for exact wording.</a:t>
            </a:r>
          </a:p>
          <a:p>
            <a:endParaRPr/>
          </a:p>
          <a:p>
            <a:r>
              <a:t>References:</a:t>
            </a:r>
          </a:p>
          <a:p>
            <a:r>
              <a:t>• research/India/105-user-research-findings.md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Themes from April 2026 India thematic report.</a:t>
            </a:r>
          </a:p>
          <a:p>
            <a:endParaRPr/>
          </a:p>
          <a:p>
            <a:r>
              <a:t>References:</a:t>
            </a:r>
          </a:p>
          <a:p>
            <a:r>
              <a:t>• research/India/thematic-analysis/2026-04-01-India-PMF-Analysis-INDIA-PMF-006.md</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Themes from April 2026 India thematic report.</a:t>
            </a:r>
          </a:p>
          <a:p>
            <a:endParaRPr/>
          </a:p>
          <a:p>
            <a:r>
              <a:t>References:</a:t>
            </a:r>
          </a:p>
          <a:p>
            <a:r>
              <a:t>• research/India/thematic-analysis/2026-04-01-India-PMF-Analysis-INDIA-PMF-006.md</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Themes from April 2026 India thematic report.</a:t>
            </a:r>
          </a:p>
          <a:p>
            <a:endParaRPr/>
          </a:p>
          <a:p>
            <a:r>
              <a:t>References:</a:t>
            </a:r>
          </a:p>
          <a:p>
            <a:r>
              <a:t>• research/India/thematic-analysis/2026-04-01-India-PMF-Analysis-INDIA-PMF-006.md</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Themes from April 2026 India thematic report.</a:t>
            </a:r>
          </a:p>
          <a:p>
            <a:endParaRPr/>
          </a:p>
          <a:p>
            <a:r>
              <a:t>References:</a:t>
            </a:r>
          </a:p>
          <a:p>
            <a:r>
              <a:t>• research/India/thematic-analysis/2026-04-01-India-PMF-Analysis-INDIA-PMF-006.md</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Themes from April 2026 India thematic report.</a:t>
            </a:r>
          </a:p>
          <a:p>
            <a:endParaRPr/>
          </a:p>
          <a:p>
            <a:r>
              <a:t>References:</a:t>
            </a:r>
          </a:p>
          <a:p>
            <a:r>
              <a:t>• research/India/thematic-analysis/2026-04-01-India-PMF-Analysis-INDIA-PMF-006.md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Matrix transcribed from thematic report Phase 4.</a:t>
            </a:r>
          </a:p>
          <a:p>
            <a:endParaRPr/>
          </a:p>
          <a:p>
            <a:r>
              <a:t>References:</a:t>
            </a:r>
          </a:p>
          <a:p>
            <a:r>
              <a:t>• research/India/thematic-analysis/2026-04-01-India-PMF-Analysis-INDIA-PMF-006.md</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Funnel labels illustrative; tailor per account workshops.</a:t>
            </a:r>
          </a:p>
          <a:p>
            <a:endParaRPr/>
          </a:p>
          <a:p>
            <a:r>
              <a:t>References:</a:t>
            </a:r>
          </a:p>
          <a:p>
            <a:r>
              <a:t>• research/India/thematic-analysis/2026-04-01-India-PMF-Analysis-INDIA-PMF-006.md</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Legal review on purge and Aadhaar-adjacent flows.</a:t>
            </a:r>
          </a:p>
          <a:p>
            <a:endParaRPr/>
          </a:p>
          <a:p>
            <a:r>
              <a:t>References:</a:t>
            </a:r>
          </a:p>
          <a:p>
            <a:r>
              <a:t>• research/India/thematic-analysis/2026-04-01-India-PMF-Analysis-INDIA-PMF-006.md</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Legal review on purge and Aadhaar-adjacent flows.</a:t>
            </a:r>
          </a:p>
          <a:p>
            <a:endParaRPr/>
          </a:p>
          <a:p>
            <a:r>
              <a:t>References:</a:t>
            </a:r>
          </a:p>
          <a:p>
            <a:r>
              <a:t>• research/India/thematic-analysis/2026-04-01-India-PMF-Analysis-INDIA-PMF-006.md</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Legal review on purge and Aadhaar-adjacent flows.</a:t>
            </a:r>
          </a:p>
          <a:p>
            <a:endParaRPr/>
          </a:p>
          <a:p>
            <a:r>
              <a:t>References:</a:t>
            </a:r>
          </a:p>
          <a:p>
            <a:r>
              <a:t>• research/India/thematic-analysis/2026-04-01-India-PMF-Analysis-INDIA-PMF-006.md</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 Legal review on purge and Aadhaar-adjacent flows.</a:t>
            </a:r>
          </a:p>
          <a:p>
            <a:endParaRPr/>
          </a:p>
          <a:p>
            <a:r>
              <a:t>References:</a:t>
            </a:r>
          </a:p>
          <a:p>
            <a:r>
              <a:t>• research/India/thematic-analysis/2026-04-01-India-PMF-Analysis-INDIA-PMF-006.md</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Legal review on purge and Aadhaar-adjacent flows.</a:t>
            </a:r>
          </a:p>
          <a:p>
            <a:endParaRPr/>
          </a:p>
          <a:p>
            <a:r>
              <a:t>References:</a:t>
            </a:r>
          </a:p>
          <a:p>
            <a:r>
              <a:t>• research/India/thematic-analysis/2026-04-01-India-PMF-Analysis-INDIA-PMF-006.md</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 Full table in thematic report; pick five for deep dives in-room.</a:t>
            </a:r>
          </a:p>
          <a:p>
            <a:endParaRPr/>
          </a:p>
          <a:p>
            <a:r>
              <a:t>References:</a:t>
            </a:r>
          </a:p>
          <a:p>
            <a:r>
              <a:t>• research/India/thematic-analysis/2026-04-01-India-PMF-Analysis-INDIA-PMF-006.md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53"/>
        <p:cNvGrpSpPr/>
        <p:nvPr/>
      </p:nvGrpSpPr>
      <p:grpSpPr>
        <a:xfrm>
          <a:off x="0" y="0"/>
          <a:ext cx="0" cy="0"/>
          <a:chOff x="0" y="0"/>
          <a:chExt cx="0" cy="0"/>
        </a:xfrm>
      </p:grpSpPr>
      <p:pic>
        <p:nvPicPr>
          <p:cNvPr id="54" name="Google Shape;54;p14"/>
          <p:cNvPicPr preferRelativeResize="0"/>
          <p:nvPr/>
        </p:nvPicPr>
        <p:blipFill rotWithShape="1">
          <a:blip r:embed="rId2">
            <a:alphaModFix/>
          </a:blip>
          <a:srcRect l="2703" r="2703"/>
          <a:stretch/>
        </p:blipFill>
        <p:spPr>
          <a:xfrm>
            <a:off x="0" y="0"/>
            <a:ext cx="9144000" cy="5148072"/>
          </a:xfrm>
          <a:prstGeom prst="rect">
            <a:avLst/>
          </a:prstGeom>
          <a:noFill/>
          <a:ln>
            <a:noFill/>
          </a:ln>
        </p:spPr>
      </p:pic>
      <p:pic>
        <p:nvPicPr>
          <p:cNvPr id="55" name="Google Shape;55;p14"/>
          <p:cNvPicPr preferRelativeResize="0"/>
          <p:nvPr/>
        </p:nvPicPr>
        <p:blipFill rotWithShape="1">
          <a:blip r:embed="rId3">
            <a:alphaModFix/>
          </a:blip>
          <a:srcRect/>
          <a:stretch/>
        </p:blipFill>
        <p:spPr>
          <a:xfrm>
            <a:off x="611868" y="471062"/>
            <a:ext cx="1227751" cy="580497"/>
          </a:xfrm>
          <a:prstGeom prst="rect">
            <a:avLst/>
          </a:prstGeom>
          <a:noFill/>
          <a:ln>
            <a:noFill/>
          </a:ln>
        </p:spPr>
      </p:pic>
      <p:sp>
        <p:nvSpPr>
          <p:cNvPr id="56" name="Google Shape;56;p14"/>
          <p:cNvSpPr txBox="1">
            <a:spLocks noGrp="1"/>
          </p:cNvSpPr>
          <p:nvPr>
            <p:ph type="ctrTitle"/>
          </p:nvPr>
        </p:nvSpPr>
        <p:spPr>
          <a:xfrm>
            <a:off x="466344" y="3228368"/>
            <a:ext cx="7886699" cy="590931"/>
          </a:xfrm>
          <a:prstGeom prst="rect">
            <a:avLst/>
          </a:prstGeom>
          <a:noFill/>
          <a:ln>
            <a:noFill/>
          </a:ln>
        </p:spPr>
        <p:txBody>
          <a:bodyPr spcFirstLastPara="1" wrap="square" lIns="91425" tIns="45700" rIns="0" bIns="45700" anchor="b" anchorCtr="0">
            <a:spAutoFit/>
          </a:bodyPr>
          <a:lstStyle>
            <a:lvl1pPr lvl="0" algn="l">
              <a:lnSpc>
                <a:spcPct val="90000"/>
              </a:lnSpc>
              <a:spcBef>
                <a:spcPts val="0"/>
              </a:spcBef>
              <a:spcAft>
                <a:spcPts val="0"/>
              </a:spcAft>
              <a:buClr>
                <a:schemeClr val="dk1"/>
              </a:buClr>
              <a:buSzPts val="3600"/>
              <a:buFont typeface="Archivo"/>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4"/>
          <p:cNvSpPr txBox="1">
            <a:spLocks noGrp="1"/>
          </p:cNvSpPr>
          <p:nvPr>
            <p:ph type="subTitle" idx="1"/>
          </p:nvPr>
        </p:nvSpPr>
        <p:spPr>
          <a:xfrm>
            <a:off x="466344" y="3813048"/>
            <a:ext cx="7886699" cy="338554"/>
          </a:xfrm>
          <a:prstGeom prst="rect">
            <a:avLst/>
          </a:prstGeom>
          <a:noFill/>
          <a:ln>
            <a:noFill/>
          </a:ln>
        </p:spPr>
        <p:txBody>
          <a:bodyPr spcFirstLastPara="1" wrap="square" lIns="91425" tIns="45700" rIns="0" bIns="45700" anchor="t" anchorCtr="0">
            <a:spAutoFit/>
          </a:bodyPr>
          <a:lstStyle>
            <a:lvl1pPr lvl="0" algn="l">
              <a:lnSpc>
                <a:spcPct val="100000"/>
              </a:lnSpc>
              <a:spcBef>
                <a:spcPts val="0"/>
              </a:spcBef>
              <a:spcAft>
                <a:spcPts val="0"/>
              </a:spcAft>
              <a:buSzPts val="1600"/>
              <a:buNone/>
              <a:defRPr sz="1600" b="0" i="0">
                <a:solidFill>
                  <a:schemeClr val="dk1"/>
                </a:solidFill>
                <a:latin typeface="Archivo"/>
                <a:ea typeface="Archivo"/>
                <a:cs typeface="Archivo"/>
                <a:sym typeface="Archivo"/>
              </a:defRPr>
            </a:lvl1pPr>
            <a:lvl2pPr lvl="1" algn="l">
              <a:lnSpc>
                <a:spcPct val="100000"/>
              </a:lnSpc>
              <a:spcBef>
                <a:spcPts val="600"/>
              </a:spcBef>
              <a:spcAft>
                <a:spcPts val="0"/>
              </a:spcAft>
              <a:buSzPts val="1800"/>
              <a:buNone/>
              <a:defRPr/>
            </a:lvl2pPr>
            <a:lvl3pPr lvl="2" algn="l">
              <a:lnSpc>
                <a:spcPct val="100000"/>
              </a:lnSpc>
              <a:spcBef>
                <a:spcPts val="600"/>
              </a:spcBef>
              <a:spcAft>
                <a:spcPts val="0"/>
              </a:spcAft>
              <a:buSzPts val="1800"/>
              <a:buNone/>
              <a:defRPr/>
            </a:lvl3pPr>
            <a:lvl4pPr lvl="3" algn="l">
              <a:spcBef>
                <a:spcPts val="600"/>
              </a:spcBef>
              <a:spcAft>
                <a:spcPts val="0"/>
              </a:spcAft>
              <a:buSzPts val="1800"/>
              <a:buChar char="–"/>
              <a:defRPr/>
            </a:lvl4pPr>
            <a:lvl5pPr lvl="4" algn="l">
              <a:spcBef>
                <a:spcPts val="360"/>
              </a:spcBef>
              <a:spcAft>
                <a:spcPts val="0"/>
              </a:spcAft>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457200" y="374904"/>
            <a:ext cx="8229600" cy="4801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5"/>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u="none" strike="noStrike" cap="none">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ayout 1">
  <p:cSld name="Layout 1">
    <p:spTree>
      <p:nvGrpSpPr>
        <p:cNvPr id="1" name="Shape 61"/>
        <p:cNvGrpSpPr/>
        <p:nvPr/>
      </p:nvGrpSpPr>
      <p:grpSpPr>
        <a:xfrm>
          <a:off x="0" y="0"/>
          <a:ext cx="0" cy="0"/>
          <a:chOff x="0" y="0"/>
          <a:chExt cx="0" cy="0"/>
        </a:xfrm>
      </p:grpSpPr>
      <p:pic>
        <p:nvPicPr>
          <p:cNvPr id="62" name="Google Shape;62;p16"/>
          <p:cNvPicPr preferRelativeResize="0"/>
          <p:nvPr/>
        </p:nvPicPr>
        <p:blipFill rotWithShape="1">
          <a:blip r:embed="rId2">
            <a:alphaModFix/>
          </a:blip>
          <a:srcRect l="4366" r="92366"/>
          <a:stretch/>
        </p:blipFill>
        <p:spPr>
          <a:xfrm>
            <a:off x="0" y="-2286"/>
            <a:ext cx="327412" cy="5148072"/>
          </a:xfrm>
          <a:prstGeom prst="rect">
            <a:avLst/>
          </a:prstGeom>
          <a:noFill/>
          <a:ln>
            <a:noFill/>
          </a:ln>
        </p:spPr>
      </p:pic>
      <p:sp>
        <p:nvSpPr>
          <p:cNvPr id="63" name="Google Shape;63;p16"/>
          <p:cNvSpPr txBox="1">
            <a:spLocks noGrp="1"/>
          </p:cNvSpPr>
          <p:nvPr>
            <p:ph type="ftr" idx="11"/>
          </p:nvPr>
        </p:nvSpPr>
        <p:spPr>
          <a:xfrm>
            <a:off x="32741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p:cSld name="Section Title">
    <p:spTree>
      <p:nvGrpSpPr>
        <p:cNvPr id="1" name="Shape 64"/>
        <p:cNvGrpSpPr/>
        <p:nvPr/>
      </p:nvGrpSpPr>
      <p:grpSpPr>
        <a:xfrm>
          <a:off x="0" y="0"/>
          <a:ext cx="0" cy="0"/>
          <a:chOff x="0" y="0"/>
          <a:chExt cx="0" cy="0"/>
        </a:xfrm>
      </p:grpSpPr>
      <p:pic>
        <p:nvPicPr>
          <p:cNvPr id="65"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66" name="Google Shape;66;p17"/>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ntro_One">
  <p:cSld name="Intro_One">
    <p:spTree>
      <p:nvGrpSpPr>
        <p:cNvPr id="1" name="Shape 67"/>
        <p:cNvGrpSpPr/>
        <p:nvPr/>
      </p:nvGrpSpPr>
      <p:grpSpPr>
        <a:xfrm>
          <a:off x="0" y="0"/>
          <a:ext cx="0" cy="0"/>
          <a:chOff x="0" y="0"/>
          <a:chExt cx="0" cy="0"/>
        </a:xfrm>
      </p:grpSpPr>
      <p:pic>
        <p:nvPicPr>
          <p:cNvPr id="68" name="Google Shape;68;p18"/>
          <p:cNvPicPr preferRelativeResize="0"/>
          <p:nvPr/>
        </p:nvPicPr>
        <p:blipFill rotWithShape="1">
          <a:blip r:embed="rId2">
            <a:alphaModFix/>
          </a:blip>
          <a:srcRect r="18630" b="18082"/>
          <a:stretch/>
        </p:blipFill>
        <p:spPr>
          <a:xfrm>
            <a:off x="-1" y="1"/>
            <a:ext cx="9144001" cy="5143499"/>
          </a:xfrm>
          <a:prstGeom prst="rect">
            <a:avLst/>
          </a:prstGeom>
          <a:noFill/>
          <a:ln>
            <a:noFill/>
          </a:ln>
        </p:spPr>
      </p:pic>
      <p:sp>
        <p:nvSpPr>
          <p:cNvPr id="69" name="Google Shape;69;p18"/>
          <p:cNvSpPr>
            <a:spLocks noGrp="1"/>
          </p:cNvSpPr>
          <p:nvPr>
            <p:ph type="pic" idx="2"/>
          </p:nvPr>
        </p:nvSpPr>
        <p:spPr>
          <a:xfrm>
            <a:off x="2067336" y="1428750"/>
            <a:ext cx="2286000" cy="2286000"/>
          </a:xfrm>
          <a:prstGeom prst="roundRect">
            <a:avLst>
              <a:gd name="adj" fmla="val 1846"/>
            </a:avLst>
          </a:prstGeom>
          <a:solidFill>
            <a:srgbClr val="7D8B99"/>
          </a:solidFill>
          <a:ln w="19050" cap="flat" cmpd="sng">
            <a:solidFill>
              <a:schemeClr val="lt1"/>
            </a:solidFill>
            <a:prstDash val="solid"/>
            <a:round/>
            <a:headEnd type="none" w="sm" len="sm"/>
            <a:tailEnd type="none" w="sm" len="sm"/>
          </a:ln>
        </p:spPr>
      </p:sp>
      <p:sp>
        <p:nvSpPr>
          <p:cNvPr id="70" name="Google Shape;70;p18"/>
          <p:cNvSpPr txBox="1">
            <a:spLocks noGrp="1"/>
          </p:cNvSpPr>
          <p:nvPr>
            <p:ph type="body" idx="1"/>
          </p:nvPr>
        </p:nvSpPr>
        <p:spPr>
          <a:xfrm>
            <a:off x="4589219" y="2102713"/>
            <a:ext cx="3794760" cy="424732"/>
          </a:xfrm>
          <a:prstGeom prst="rect">
            <a:avLst/>
          </a:prstGeom>
          <a:noFill/>
          <a:ln>
            <a:noFill/>
          </a:ln>
        </p:spPr>
        <p:txBody>
          <a:bodyPr spcFirstLastPara="1" wrap="square" lIns="91425" tIns="45700" rIns="91425" bIns="45700" anchor="b" anchorCtr="0">
            <a:spAutoFit/>
          </a:bodyPr>
          <a:lstStyle>
            <a:lvl1pPr marL="457200" lvl="0" indent="-228600" algn="l">
              <a:lnSpc>
                <a:spcPct val="90000"/>
              </a:lnSpc>
              <a:spcBef>
                <a:spcPts val="0"/>
              </a:spcBef>
              <a:spcAft>
                <a:spcPts val="0"/>
              </a:spcAft>
              <a:buSzPts val="2400"/>
              <a:buFont typeface="Archivo"/>
              <a:buNone/>
              <a:defRPr sz="2400" b="1">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8"/>
          <p:cNvSpPr txBox="1">
            <a:spLocks noGrp="1"/>
          </p:cNvSpPr>
          <p:nvPr>
            <p:ph type="body" idx="3"/>
          </p:nvPr>
        </p:nvSpPr>
        <p:spPr>
          <a:xfrm>
            <a:off x="4589219" y="2452176"/>
            <a:ext cx="3794760" cy="3693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0"/>
              </a:spcBef>
              <a:spcAft>
                <a:spcPts val="0"/>
              </a:spcAft>
              <a:buSzPts val="1800"/>
              <a:buFont typeface="Archivo"/>
              <a:buNone/>
              <a:defRPr sz="1800" b="0">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18"/>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3" name="Google Shape;73;p18"/>
          <p:cNvSpPr txBox="1">
            <a:spLocks noGrp="1"/>
          </p:cNvSpPr>
          <p:nvPr>
            <p:ph type="body" idx="4"/>
          </p:nvPr>
        </p:nvSpPr>
        <p:spPr>
          <a:xfrm>
            <a:off x="4589220" y="2834104"/>
            <a:ext cx="3794760" cy="276999"/>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1200"/>
              <a:buFont typeface="Archivo"/>
              <a:buNone/>
              <a:defRPr sz="1200" b="0" i="0">
                <a:solidFill>
                  <a:schemeClr val="dk2"/>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ntro_Two">
  <p:cSld name="Intro_Two">
    <p:spTree>
      <p:nvGrpSpPr>
        <p:cNvPr id="1" name="Shape 74"/>
        <p:cNvGrpSpPr/>
        <p:nvPr/>
      </p:nvGrpSpPr>
      <p:grpSpPr>
        <a:xfrm>
          <a:off x="0" y="0"/>
          <a:ext cx="0" cy="0"/>
          <a:chOff x="0" y="0"/>
          <a:chExt cx="0" cy="0"/>
        </a:xfrm>
      </p:grpSpPr>
      <p:pic>
        <p:nvPicPr>
          <p:cNvPr id="75" name="Google Shape;75;p19"/>
          <p:cNvPicPr preferRelativeResize="0"/>
          <p:nvPr/>
        </p:nvPicPr>
        <p:blipFill rotWithShape="1">
          <a:blip r:embed="rId2">
            <a:alphaModFix/>
          </a:blip>
          <a:srcRect r="18630" b="18082"/>
          <a:stretch/>
        </p:blipFill>
        <p:spPr>
          <a:xfrm>
            <a:off x="-1" y="1"/>
            <a:ext cx="9144001" cy="5143499"/>
          </a:xfrm>
          <a:prstGeom prst="rect">
            <a:avLst/>
          </a:prstGeom>
          <a:noFill/>
          <a:ln>
            <a:noFill/>
          </a:ln>
        </p:spPr>
      </p:pic>
      <p:sp>
        <p:nvSpPr>
          <p:cNvPr id="76" name="Google Shape;76;p19"/>
          <p:cNvSpPr>
            <a:spLocks noGrp="1"/>
          </p:cNvSpPr>
          <p:nvPr>
            <p:ph type="pic" idx="2"/>
          </p:nvPr>
        </p:nvSpPr>
        <p:spPr>
          <a:xfrm>
            <a:off x="5299075" y="1112456"/>
            <a:ext cx="2003425" cy="2003425"/>
          </a:xfrm>
          <a:prstGeom prst="roundRect">
            <a:avLst>
              <a:gd name="adj" fmla="val 1846"/>
            </a:avLst>
          </a:prstGeom>
          <a:solidFill>
            <a:srgbClr val="7D8B99"/>
          </a:solidFill>
          <a:ln w="19050" cap="flat" cmpd="sng">
            <a:solidFill>
              <a:schemeClr val="lt1"/>
            </a:solidFill>
            <a:prstDash val="solid"/>
            <a:round/>
            <a:headEnd type="none" w="sm" len="sm"/>
            <a:tailEnd type="none" w="sm" len="sm"/>
          </a:ln>
        </p:spPr>
      </p:sp>
      <p:sp>
        <p:nvSpPr>
          <p:cNvPr id="77" name="Google Shape;77;p19"/>
          <p:cNvSpPr>
            <a:spLocks noGrp="1"/>
          </p:cNvSpPr>
          <p:nvPr>
            <p:ph type="pic" idx="3"/>
          </p:nvPr>
        </p:nvSpPr>
        <p:spPr>
          <a:xfrm>
            <a:off x="1841501" y="1112456"/>
            <a:ext cx="2003425" cy="2003425"/>
          </a:xfrm>
          <a:prstGeom prst="roundRect">
            <a:avLst>
              <a:gd name="adj" fmla="val 1846"/>
            </a:avLst>
          </a:prstGeom>
          <a:solidFill>
            <a:srgbClr val="7D8B99"/>
          </a:solidFill>
          <a:ln w="19050" cap="flat" cmpd="sng">
            <a:solidFill>
              <a:schemeClr val="lt1"/>
            </a:solidFill>
            <a:prstDash val="solid"/>
            <a:round/>
            <a:headEnd type="none" w="sm" len="sm"/>
            <a:tailEnd type="none" w="sm" len="sm"/>
          </a:ln>
        </p:spPr>
      </p:sp>
      <p:sp>
        <p:nvSpPr>
          <p:cNvPr id="78" name="Google Shape;78;p19"/>
          <p:cNvSpPr txBox="1">
            <a:spLocks noGrp="1"/>
          </p:cNvSpPr>
          <p:nvPr>
            <p:ph type="body" idx="1"/>
          </p:nvPr>
        </p:nvSpPr>
        <p:spPr>
          <a:xfrm>
            <a:off x="1651026" y="3243238"/>
            <a:ext cx="2386584" cy="369332"/>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800"/>
              <a:buFont typeface="Archivo"/>
              <a:buNone/>
              <a:defRPr sz="1800" b="1">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19"/>
          <p:cNvSpPr txBox="1">
            <a:spLocks noGrp="1"/>
          </p:cNvSpPr>
          <p:nvPr>
            <p:ph type="body" idx="4"/>
          </p:nvPr>
        </p:nvSpPr>
        <p:spPr>
          <a:xfrm>
            <a:off x="1651026" y="3556117"/>
            <a:ext cx="2386584" cy="307777"/>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400"/>
              <a:buFont typeface="Archivo"/>
              <a:buNone/>
              <a:defRPr sz="1400" b="0">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 name="Google Shape;80;p19"/>
          <p:cNvSpPr txBox="1">
            <a:spLocks noGrp="1"/>
          </p:cNvSpPr>
          <p:nvPr>
            <p:ph type="body" idx="5"/>
          </p:nvPr>
        </p:nvSpPr>
        <p:spPr>
          <a:xfrm>
            <a:off x="5107691" y="3243238"/>
            <a:ext cx="2386584" cy="369332"/>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800"/>
              <a:buFont typeface="Archivo"/>
              <a:buNone/>
              <a:defRPr sz="1800" b="1">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9"/>
          <p:cNvSpPr txBox="1">
            <a:spLocks noGrp="1"/>
          </p:cNvSpPr>
          <p:nvPr>
            <p:ph type="body" idx="6"/>
          </p:nvPr>
        </p:nvSpPr>
        <p:spPr>
          <a:xfrm>
            <a:off x="5107691" y="3556117"/>
            <a:ext cx="2386584" cy="307777"/>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400"/>
              <a:buFont typeface="Archivo"/>
              <a:buNone/>
              <a:defRPr sz="1400" b="0">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19"/>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3" name="Google Shape;83;p19"/>
          <p:cNvSpPr txBox="1">
            <a:spLocks noGrp="1"/>
          </p:cNvSpPr>
          <p:nvPr>
            <p:ph type="body" idx="7"/>
          </p:nvPr>
        </p:nvSpPr>
        <p:spPr>
          <a:xfrm>
            <a:off x="1651026" y="3924139"/>
            <a:ext cx="2386584" cy="261610"/>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600"/>
              </a:spcBef>
              <a:spcAft>
                <a:spcPts val="0"/>
              </a:spcAft>
              <a:buSzPts val="1100"/>
              <a:buNone/>
              <a:defRPr sz="1100">
                <a:solidFill>
                  <a:schemeClr val="dk2"/>
                </a:solidFill>
              </a:defRPr>
            </a:lvl1pPr>
            <a:lvl2pPr marL="914400" lvl="1" indent="-228600" algn="l">
              <a:lnSpc>
                <a:spcPct val="100000"/>
              </a:lnSpc>
              <a:spcBef>
                <a:spcPts val="600"/>
              </a:spcBef>
              <a:spcAft>
                <a:spcPts val="0"/>
              </a:spcAft>
              <a:buSzPts val="1800"/>
              <a:buNone/>
              <a:defRPr/>
            </a:lvl2pPr>
            <a:lvl3pPr marL="1371600" lvl="2" indent="-228600" algn="l">
              <a:lnSpc>
                <a:spcPct val="100000"/>
              </a:lnSpc>
              <a:spcBef>
                <a:spcPts val="600"/>
              </a:spcBef>
              <a:spcAft>
                <a:spcPts val="0"/>
              </a:spcAft>
              <a:buSzPts val="1800"/>
              <a:buNone/>
              <a:defRPr/>
            </a:lvl3pPr>
            <a:lvl4pPr marL="1828800" lvl="3" indent="-342900" algn="l">
              <a:spcBef>
                <a:spcPts val="60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4" name="Google Shape;84;p19"/>
          <p:cNvSpPr txBox="1">
            <a:spLocks noGrp="1"/>
          </p:cNvSpPr>
          <p:nvPr>
            <p:ph type="body" idx="8"/>
          </p:nvPr>
        </p:nvSpPr>
        <p:spPr>
          <a:xfrm>
            <a:off x="5107691" y="3924139"/>
            <a:ext cx="2386584" cy="261610"/>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600"/>
              </a:spcBef>
              <a:spcAft>
                <a:spcPts val="0"/>
              </a:spcAft>
              <a:buSzPts val="1100"/>
              <a:buNone/>
              <a:defRPr sz="1100">
                <a:solidFill>
                  <a:schemeClr val="dk2"/>
                </a:solidFill>
              </a:defRPr>
            </a:lvl1pPr>
            <a:lvl2pPr marL="914400" lvl="1" indent="-228600" algn="l">
              <a:lnSpc>
                <a:spcPct val="100000"/>
              </a:lnSpc>
              <a:spcBef>
                <a:spcPts val="600"/>
              </a:spcBef>
              <a:spcAft>
                <a:spcPts val="0"/>
              </a:spcAft>
              <a:buSzPts val="1800"/>
              <a:buNone/>
              <a:defRPr/>
            </a:lvl2pPr>
            <a:lvl3pPr marL="1371600" lvl="2" indent="-228600" algn="l">
              <a:lnSpc>
                <a:spcPct val="100000"/>
              </a:lnSpc>
              <a:spcBef>
                <a:spcPts val="600"/>
              </a:spcBef>
              <a:spcAft>
                <a:spcPts val="0"/>
              </a:spcAft>
              <a:buSzPts val="1800"/>
              <a:buNone/>
              <a:defRPr/>
            </a:lvl3pPr>
            <a:lvl4pPr marL="1828800" lvl="3" indent="-342900" algn="l">
              <a:spcBef>
                <a:spcPts val="60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Intro_Three">
  <p:cSld name="Intro_Three">
    <p:spTree>
      <p:nvGrpSpPr>
        <p:cNvPr id="1" name="Shape 85"/>
        <p:cNvGrpSpPr/>
        <p:nvPr/>
      </p:nvGrpSpPr>
      <p:grpSpPr>
        <a:xfrm>
          <a:off x="0" y="0"/>
          <a:ext cx="0" cy="0"/>
          <a:chOff x="0" y="0"/>
          <a:chExt cx="0" cy="0"/>
        </a:xfrm>
      </p:grpSpPr>
      <p:pic>
        <p:nvPicPr>
          <p:cNvPr id="86" name="Google Shape;86;p20"/>
          <p:cNvPicPr preferRelativeResize="0"/>
          <p:nvPr/>
        </p:nvPicPr>
        <p:blipFill rotWithShape="1">
          <a:blip r:embed="rId2">
            <a:alphaModFix/>
          </a:blip>
          <a:srcRect r="18630" b="18082"/>
          <a:stretch/>
        </p:blipFill>
        <p:spPr>
          <a:xfrm>
            <a:off x="0" y="0"/>
            <a:ext cx="9144000" cy="5143500"/>
          </a:xfrm>
          <a:prstGeom prst="rect">
            <a:avLst/>
          </a:prstGeom>
          <a:noFill/>
          <a:ln>
            <a:noFill/>
          </a:ln>
        </p:spPr>
      </p:pic>
      <p:sp>
        <p:nvSpPr>
          <p:cNvPr id="87" name="Google Shape;87;p20"/>
          <p:cNvSpPr>
            <a:spLocks noGrp="1"/>
          </p:cNvSpPr>
          <p:nvPr>
            <p:ph type="pic" idx="2"/>
          </p:nvPr>
        </p:nvSpPr>
        <p:spPr>
          <a:xfrm>
            <a:off x="925128" y="1260376"/>
            <a:ext cx="1830123" cy="1828800"/>
          </a:xfrm>
          <a:prstGeom prst="roundRect">
            <a:avLst>
              <a:gd name="adj" fmla="val 2520"/>
            </a:avLst>
          </a:prstGeom>
          <a:solidFill>
            <a:srgbClr val="7D8B99"/>
          </a:solidFill>
          <a:ln w="19050" cap="flat" cmpd="sng">
            <a:solidFill>
              <a:schemeClr val="lt1"/>
            </a:solidFill>
            <a:prstDash val="solid"/>
            <a:round/>
            <a:headEnd type="none" w="sm" len="sm"/>
            <a:tailEnd type="none" w="sm" len="sm"/>
          </a:ln>
        </p:spPr>
      </p:sp>
      <p:sp>
        <p:nvSpPr>
          <p:cNvPr id="88" name="Google Shape;88;p20"/>
          <p:cNvSpPr>
            <a:spLocks noGrp="1"/>
          </p:cNvSpPr>
          <p:nvPr>
            <p:ph type="pic" idx="3"/>
          </p:nvPr>
        </p:nvSpPr>
        <p:spPr>
          <a:xfrm>
            <a:off x="6463571" y="1260376"/>
            <a:ext cx="1830123" cy="1828800"/>
          </a:xfrm>
          <a:prstGeom prst="roundRect">
            <a:avLst>
              <a:gd name="adj" fmla="val 2520"/>
            </a:avLst>
          </a:prstGeom>
          <a:solidFill>
            <a:srgbClr val="7D8B99"/>
          </a:solidFill>
          <a:ln w="19050" cap="flat" cmpd="sng">
            <a:solidFill>
              <a:schemeClr val="lt1"/>
            </a:solidFill>
            <a:prstDash val="solid"/>
            <a:round/>
            <a:headEnd type="none" w="sm" len="sm"/>
            <a:tailEnd type="none" w="sm" len="sm"/>
          </a:ln>
        </p:spPr>
      </p:sp>
      <p:sp>
        <p:nvSpPr>
          <p:cNvPr id="89" name="Google Shape;89;p20"/>
          <p:cNvSpPr>
            <a:spLocks noGrp="1"/>
          </p:cNvSpPr>
          <p:nvPr>
            <p:ph type="pic" idx="4"/>
          </p:nvPr>
        </p:nvSpPr>
        <p:spPr>
          <a:xfrm>
            <a:off x="3651457" y="1260376"/>
            <a:ext cx="1830123" cy="1828800"/>
          </a:xfrm>
          <a:prstGeom prst="roundRect">
            <a:avLst>
              <a:gd name="adj" fmla="val 2520"/>
            </a:avLst>
          </a:prstGeom>
          <a:solidFill>
            <a:srgbClr val="7D8B99"/>
          </a:solidFill>
          <a:ln w="19050" cap="flat" cmpd="sng">
            <a:solidFill>
              <a:schemeClr val="lt1"/>
            </a:solidFill>
            <a:prstDash val="solid"/>
            <a:round/>
            <a:headEnd type="none" w="sm" len="sm"/>
            <a:tailEnd type="none" w="sm" len="sm"/>
          </a:ln>
        </p:spPr>
      </p:sp>
      <p:sp>
        <p:nvSpPr>
          <p:cNvPr id="90" name="Google Shape;90;p20"/>
          <p:cNvSpPr txBox="1">
            <a:spLocks noGrp="1"/>
          </p:cNvSpPr>
          <p:nvPr>
            <p:ph type="ftr" idx="11"/>
          </p:nvPr>
        </p:nvSpPr>
        <p:spPr>
          <a:xfrm>
            <a:off x="27432" y="4818888"/>
            <a:ext cx="2205318"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888C9E"/>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1" name="Google Shape;91;p20"/>
          <p:cNvSpPr txBox="1">
            <a:spLocks noGrp="1"/>
          </p:cNvSpPr>
          <p:nvPr>
            <p:ph type="body" idx="1"/>
          </p:nvPr>
        </p:nvSpPr>
        <p:spPr>
          <a:xfrm>
            <a:off x="469447" y="3218207"/>
            <a:ext cx="2743200" cy="338554"/>
          </a:xfrm>
          <a:prstGeom prst="rect">
            <a:avLst/>
          </a:prstGeom>
          <a:noFill/>
          <a:ln>
            <a:noFill/>
          </a:ln>
        </p:spPr>
        <p:txBody>
          <a:bodyPr spcFirstLastPara="1" wrap="square" lIns="91425" tIns="45700" rIns="91425" bIns="45700" anchor="b" anchorCtr="0">
            <a:spAutoFit/>
          </a:bodyPr>
          <a:lstStyle>
            <a:lvl1pPr marL="457200" lvl="0" indent="-228600" algn="ctr">
              <a:lnSpc>
                <a:spcPct val="100000"/>
              </a:lnSpc>
              <a:spcBef>
                <a:spcPts val="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2" name="Google Shape;92;p20"/>
          <p:cNvSpPr txBox="1">
            <a:spLocks noGrp="1"/>
          </p:cNvSpPr>
          <p:nvPr>
            <p:ph type="body" idx="5"/>
          </p:nvPr>
        </p:nvSpPr>
        <p:spPr>
          <a:xfrm>
            <a:off x="469447" y="3506871"/>
            <a:ext cx="2743200" cy="276999"/>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200"/>
              <a:buFont typeface="Archivo"/>
              <a:buNone/>
              <a:defRPr sz="1200">
                <a:solidFill>
                  <a:schemeClr val="dk1"/>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3" name="Google Shape;93;p20"/>
          <p:cNvSpPr txBox="1">
            <a:spLocks noGrp="1"/>
          </p:cNvSpPr>
          <p:nvPr>
            <p:ph type="body" idx="6"/>
          </p:nvPr>
        </p:nvSpPr>
        <p:spPr>
          <a:xfrm>
            <a:off x="469447" y="3812884"/>
            <a:ext cx="2743200" cy="261610"/>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100"/>
              <a:buFont typeface="Archivo"/>
              <a:buNone/>
              <a:defRPr sz="1100">
                <a:solidFill>
                  <a:schemeClr val="dk2"/>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4" name="Google Shape;94;p20"/>
          <p:cNvSpPr txBox="1">
            <a:spLocks noGrp="1"/>
          </p:cNvSpPr>
          <p:nvPr>
            <p:ph type="body" idx="7"/>
          </p:nvPr>
        </p:nvSpPr>
        <p:spPr>
          <a:xfrm>
            <a:off x="3194919" y="3218207"/>
            <a:ext cx="2743200" cy="338554"/>
          </a:xfrm>
          <a:prstGeom prst="rect">
            <a:avLst/>
          </a:prstGeom>
          <a:noFill/>
          <a:ln>
            <a:noFill/>
          </a:ln>
        </p:spPr>
        <p:txBody>
          <a:bodyPr spcFirstLastPara="1" wrap="square" lIns="91425" tIns="45700" rIns="91425" bIns="45700" anchor="b" anchorCtr="0">
            <a:spAutoFit/>
          </a:bodyPr>
          <a:lstStyle>
            <a:lvl1pPr marL="457200" lvl="0" indent="-228600" algn="ctr">
              <a:lnSpc>
                <a:spcPct val="100000"/>
              </a:lnSpc>
              <a:spcBef>
                <a:spcPts val="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5" name="Google Shape;95;p20"/>
          <p:cNvSpPr txBox="1">
            <a:spLocks noGrp="1"/>
          </p:cNvSpPr>
          <p:nvPr>
            <p:ph type="body" idx="8"/>
          </p:nvPr>
        </p:nvSpPr>
        <p:spPr>
          <a:xfrm>
            <a:off x="3194919" y="3506871"/>
            <a:ext cx="2743200" cy="276999"/>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200"/>
              <a:buFont typeface="Archivo"/>
              <a:buNone/>
              <a:defRPr sz="1200">
                <a:solidFill>
                  <a:schemeClr val="dk1"/>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6" name="Google Shape;96;p20"/>
          <p:cNvSpPr txBox="1">
            <a:spLocks noGrp="1"/>
          </p:cNvSpPr>
          <p:nvPr>
            <p:ph type="body" idx="9"/>
          </p:nvPr>
        </p:nvSpPr>
        <p:spPr>
          <a:xfrm>
            <a:off x="3194919" y="3812884"/>
            <a:ext cx="2743200" cy="261610"/>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100"/>
              <a:buFont typeface="Archivo"/>
              <a:buNone/>
              <a:defRPr sz="1100">
                <a:solidFill>
                  <a:schemeClr val="dk2"/>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7" name="Google Shape;97;p20"/>
          <p:cNvSpPr txBox="1">
            <a:spLocks noGrp="1"/>
          </p:cNvSpPr>
          <p:nvPr>
            <p:ph type="body" idx="13"/>
          </p:nvPr>
        </p:nvSpPr>
        <p:spPr>
          <a:xfrm>
            <a:off x="6007033" y="3218207"/>
            <a:ext cx="2743200" cy="338554"/>
          </a:xfrm>
          <a:prstGeom prst="rect">
            <a:avLst/>
          </a:prstGeom>
          <a:noFill/>
          <a:ln>
            <a:noFill/>
          </a:ln>
        </p:spPr>
        <p:txBody>
          <a:bodyPr spcFirstLastPara="1" wrap="square" lIns="91425" tIns="45700" rIns="91425" bIns="45700" anchor="b" anchorCtr="0">
            <a:spAutoFit/>
          </a:bodyPr>
          <a:lstStyle>
            <a:lvl1pPr marL="457200" lvl="0" indent="-228600" algn="ctr">
              <a:lnSpc>
                <a:spcPct val="100000"/>
              </a:lnSpc>
              <a:spcBef>
                <a:spcPts val="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8" name="Google Shape;98;p20"/>
          <p:cNvSpPr txBox="1">
            <a:spLocks noGrp="1"/>
          </p:cNvSpPr>
          <p:nvPr>
            <p:ph type="body" idx="14"/>
          </p:nvPr>
        </p:nvSpPr>
        <p:spPr>
          <a:xfrm>
            <a:off x="6007033" y="3506871"/>
            <a:ext cx="2743200" cy="276999"/>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200"/>
              <a:buFont typeface="Archivo"/>
              <a:buNone/>
              <a:defRPr sz="1200">
                <a:solidFill>
                  <a:schemeClr val="dk1"/>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p20"/>
          <p:cNvSpPr txBox="1">
            <a:spLocks noGrp="1"/>
          </p:cNvSpPr>
          <p:nvPr>
            <p:ph type="body" idx="15"/>
          </p:nvPr>
        </p:nvSpPr>
        <p:spPr>
          <a:xfrm>
            <a:off x="6007033" y="3812884"/>
            <a:ext cx="2743200" cy="261610"/>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100"/>
              <a:buFont typeface="Archivo"/>
              <a:buNone/>
              <a:defRPr sz="1100">
                <a:solidFill>
                  <a:schemeClr val="dk2"/>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ntro_Four">
  <p:cSld name="Intro_Four">
    <p:spTree>
      <p:nvGrpSpPr>
        <p:cNvPr id="1" name="Shape 100"/>
        <p:cNvGrpSpPr/>
        <p:nvPr/>
      </p:nvGrpSpPr>
      <p:grpSpPr>
        <a:xfrm>
          <a:off x="0" y="0"/>
          <a:ext cx="0" cy="0"/>
          <a:chOff x="0" y="0"/>
          <a:chExt cx="0" cy="0"/>
        </a:xfrm>
      </p:grpSpPr>
      <p:pic>
        <p:nvPicPr>
          <p:cNvPr id="101" name="Google Shape;101;p21"/>
          <p:cNvPicPr preferRelativeResize="0"/>
          <p:nvPr/>
        </p:nvPicPr>
        <p:blipFill rotWithShape="1">
          <a:blip r:embed="rId2">
            <a:alphaModFix/>
          </a:blip>
          <a:srcRect r="18630" b="18082"/>
          <a:stretch/>
        </p:blipFill>
        <p:spPr>
          <a:xfrm>
            <a:off x="-1" y="0"/>
            <a:ext cx="9144001" cy="5143500"/>
          </a:xfrm>
          <a:prstGeom prst="rect">
            <a:avLst/>
          </a:prstGeom>
          <a:noFill/>
          <a:ln>
            <a:noFill/>
          </a:ln>
        </p:spPr>
      </p:pic>
      <p:sp>
        <p:nvSpPr>
          <p:cNvPr id="102" name="Google Shape;102;p21"/>
          <p:cNvSpPr>
            <a:spLocks noGrp="1"/>
          </p:cNvSpPr>
          <p:nvPr>
            <p:ph type="pic" idx="2"/>
          </p:nvPr>
        </p:nvSpPr>
        <p:spPr>
          <a:xfrm>
            <a:off x="659684" y="788803"/>
            <a:ext cx="1509854" cy="1508760"/>
          </a:xfrm>
          <a:prstGeom prst="roundRect">
            <a:avLst>
              <a:gd name="adj" fmla="val 2878"/>
            </a:avLst>
          </a:prstGeom>
          <a:solidFill>
            <a:srgbClr val="7D8B99"/>
          </a:solidFill>
          <a:ln w="19050" cap="flat" cmpd="sng">
            <a:solidFill>
              <a:schemeClr val="lt1"/>
            </a:solidFill>
            <a:prstDash val="solid"/>
            <a:round/>
            <a:headEnd type="none" w="sm" len="sm"/>
            <a:tailEnd type="none" w="sm" len="sm"/>
          </a:ln>
        </p:spPr>
      </p:sp>
      <p:sp>
        <p:nvSpPr>
          <p:cNvPr id="103" name="Google Shape;103;p21"/>
          <p:cNvSpPr>
            <a:spLocks noGrp="1"/>
          </p:cNvSpPr>
          <p:nvPr>
            <p:ph type="pic" idx="3"/>
          </p:nvPr>
        </p:nvSpPr>
        <p:spPr>
          <a:xfrm>
            <a:off x="659395" y="2880110"/>
            <a:ext cx="1509854" cy="1508760"/>
          </a:xfrm>
          <a:prstGeom prst="roundRect">
            <a:avLst>
              <a:gd name="adj" fmla="val 2878"/>
            </a:avLst>
          </a:prstGeom>
          <a:solidFill>
            <a:srgbClr val="7D8B99"/>
          </a:solidFill>
          <a:ln w="19050" cap="flat" cmpd="sng">
            <a:solidFill>
              <a:schemeClr val="lt1"/>
            </a:solidFill>
            <a:prstDash val="solid"/>
            <a:round/>
            <a:headEnd type="none" w="sm" len="sm"/>
            <a:tailEnd type="none" w="sm" len="sm"/>
          </a:ln>
        </p:spPr>
      </p:sp>
      <p:sp>
        <p:nvSpPr>
          <p:cNvPr id="104" name="Google Shape;104;p21"/>
          <p:cNvSpPr>
            <a:spLocks noGrp="1"/>
          </p:cNvSpPr>
          <p:nvPr>
            <p:ph type="pic" idx="4"/>
          </p:nvPr>
        </p:nvSpPr>
        <p:spPr>
          <a:xfrm>
            <a:off x="4609129" y="788803"/>
            <a:ext cx="1509854" cy="1508760"/>
          </a:xfrm>
          <a:prstGeom prst="roundRect">
            <a:avLst>
              <a:gd name="adj" fmla="val 2878"/>
            </a:avLst>
          </a:prstGeom>
          <a:solidFill>
            <a:srgbClr val="7D8B99"/>
          </a:solidFill>
          <a:ln w="19050" cap="flat" cmpd="sng">
            <a:solidFill>
              <a:schemeClr val="lt1"/>
            </a:solidFill>
            <a:prstDash val="solid"/>
            <a:round/>
            <a:headEnd type="none" w="sm" len="sm"/>
            <a:tailEnd type="none" w="sm" len="sm"/>
          </a:ln>
        </p:spPr>
      </p:sp>
      <p:sp>
        <p:nvSpPr>
          <p:cNvPr id="105" name="Google Shape;105;p21"/>
          <p:cNvSpPr txBox="1">
            <a:spLocks noGrp="1"/>
          </p:cNvSpPr>
          <p:nvPr>
            <p:ph type="ftr" idx="11"/>
          </p:nvPr>
        </p:nvSpPr>
        <p:spPr>
          <a:xfrm>
            <a:off x="27432" y="4818888"/>
            <a:ext cx="2205318"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888C9E"/>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6" name="Google Shape;106;p21"/>
          <p:cNvSpPr txBox="1">
            <a:spLocks noGrp="1"/>
          </p:cNvSpPr>
          <p:nvPr>
            <p:ph type="body" idx="1"/>
          </p:nvPr>
        </p:nvSpPr>
        <p:spPr>
          <a:xfrm>
            <a:off x="2249424" y="1106424"/>
            <a:ext cx="2048256" cy="338554"/>
          </a:xfrm>
          <a:prstGeom prst="rect">
            <a:avLst/>
          </a:prstGeom>
          <a:noFill/>
          <a:ln>
            <a:noFill/>
          </a:ln>
        </p:spPr>
        <p:txBody>
          <a:bodyPr spcFirstLastPara="1" wrap="square" lIns="91425" tIns="45700" rIns="91425" bIns="45700" anchor="b" anchorCtr="0">
            <a:spAutoFit/>
          </a:bodyPr>
          <a:lstStyle>
            <a:lvl1pPr marL="457200" lvl="0" indent="-228600" algn="l">
              <a:lnSpc>
                <a:spcPct val="100000"/>
              </a:lnSpc>
              <a:spcBef>
                <a:spcPts val="60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7" name="Google Shape;107;p21"/>
          <p:cNvSpPr txBox="1">
            <a:spLocks noGrp="1"/>
          </p:cNvSpPr>
          <p:nvPr>
            <p:ph type="body" idx="5"/>
          </p:nvPr>
        </p:nvSpPr>
        <p:spPr>
          <a:xfrm>
            <a:off x="2249424" y="1371600"/>
            <a:ext cx="2048256" cy="276999"/>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1200"/>
              <a:buFont typeface="Archivo"/>
              <a:buNone/>
              <a:defRPr sz="1200">
                <a:solidFill>
                  <a:schemeClr val="dk1"/>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8" name="Google Shape;108;p21"/>
          <p:cNvSpPr txBox="1">
            <a:spLocks noGrp="1"/>
          </p:cNvSpPr>
          <p:nvPr>
            <p:ph type="body" idx="6"/>
          </p:nvPr>
        </p:nvSpPr>
        <p:spPr>
          <a:xfrm>
            <a:off x="2249424" y="1661962"/>
            <a:ext cx="2048256" cy="2308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900"/>
              <a:buFont typeface="Archivo"/>
              <a:buNone/>
              <a:defRPr sz="900">
                <a:solidFill>
                  <a:schemeClr val="dk2"/>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9" name="Google Shape;109;p21"/>
          <p:cNvSpPr txBox="1">
            <a:spLocks noGrp="1"/>
          </p:cNvSpPr>
          <p:nvPr>
            <p:ph type="body" idx="7"/>
          </p:nvPr>
        </p:nvSpPr>
        <p:spPr>
          <a:xfrm>
            <a:off x="2249424" y="3200400"/>
            <a:ext cx="2048256" cy="338554"/>
          </a:xfrm>
          <a:prstGeom prst="rect">
            <a:avLst/>
          </a:prstGeom>
          <a:noFill/>
          <a:ln>
            <a:noFill/>
          </a:ln>
        </p:spPr>
        <p:txBody>
          <a:bodyPr spcFirstLastPara="1" wrap="square" lIns="91425" tIns="45700" rIns="91425" bIns="45700" anchor="b" anchorCtr="0">
            <a:spAutoFit/>
          </a:bodyPr>
          <a:lstStyle>
            <a:lvl1pPr marL="457200" lvl="0" indent="-228600" algn="l">
              <a:lnSpc>
                <a:spcPct val="100000"/>
              </a:lnSpc>
              <a:spcBef>
                <a:spcPts val="60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0" name="Google Shape;110;p21"/>
          <p:cNvSpPr txBox="1">
            <a:spLocks noGrp="1"/>
          </p:cNvSpPr>
          <p:nvPr>
            <p:ph type="body" idx="8"/>
          </p:nvPr>
        </p:nvSpPr>
        <p:spPr>
          <a:xfrm>
            <a:off x="2249424" y="3456432"/>
            <a:ext cx="2048256" cy="276999"/>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1200"/>
              <a:buFont typeface="Archivo"/>
              <a:buNone/>
              <a:defRPr sz="1200">
                <a:solidFill>
                  <a:schemeClr val="dk1"/>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1" name="Google Shape;111;p21"/>
          <p:cNvSpPr txBox="1">
            <a:spLocks noGrp="1"/>
          </p:cNvSpPr>
          <p:nvPr>
            <p:ph type="body" idx="9"/>
          </p:nvPr>
        </p:nvSpPr>
        <p:spPr>
          <a:xfrm>
            <a:off x="2249424" y="3755938"/>
            <a:ext cx="2048256" cy="2308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900"/>
              <a:buFont typeface="Archivo"/>
              <a:buNone/>
              <a:defRPr sz="900">
                <a:solidFill>
                  <a:schemeClr val="dk2"/>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2" name="Google Shape;112;p21"/>
          <p:cNvSpPr txBox="1">
            <a:spLocks noGrp="1"/>
          </p:cNvSpPr>
          <p:nvPr>
            <p:ph type="body" idx="13"/>
          </p:nvPr>
        </p:nvSpPr>
        <p:spPr>
          <a:xfrm>
            <a:off x="6202124" y="1106424"/>
            <a:ext cx="2048256" cy="338554"/>
          </a:xfrm>
          <a:prstGeom prst="rect">
            <a:avLst/>
          </a:prstGeom>
          <a:noFill/>
          <a:ln>
            <a:noFill/>
          </a:ln>
        </p:spPr>
        <p:txBody>
          <a:bodyPr spcFirstLastPara="1" wrap="square" lIns="91425" tIns="45700" rIns="91425" bIns="45700" anchor="b" anchorCtr="0">
            <a:spAutoFit/>
          </a:bodyPr>
          <a:lstStyle>
            <a:lvl1pPr marL="457200" lvl="0" indent="-228600" algn="l">
              <a:lnSpc>
                <a:spcPct val="100000"/>
              </a:lnSpc>
              <a:spcBef>
                <a:spcPts val="60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3" name="Google Shape;113;p21"/>
          <p:cNvSpPr txBox="1">
            <a:spLocks noGrp="1"/>
          </p:cNvSpPr>
          <p:nvPr>
            <p:ph type="body" idx="14"/>
          </p:nvPr>
        </p:nvSpPr>
        <p:spPr>
          <a:xfrm>
            <a:off x="6202124" y="1371600"/>
            <a:ext cx="2048256" cy="276999"/>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1200"/>
              <a:buFont typeface="Archivo"/>
              <a:buNone/>
              <a:defRPr sz="1200">
                <a:solidFill>
                  <a:schemeClr val="dk1"/>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4" name="Google Shape;114;p21"/>
          <p:cNvSpPr txBox="1">
            <a:spLocks noGrp="1"/>
          </p:cNvSpPr>
          <p:nvPr>
            <p:ph type="body" idx="15"/>
          </p:nvPr>
        </p:nvSpPr>
        <p:spPr>
          <a:xfrm>
            <a:off x="6202124" y="1661962"/>
            <a:ext cx="2048256" cy="2308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900"/>
              <a:buFont typeface="Archivo"/>
              <a:buNone/>
              <a:defRPr sz="900">
                <a:solidFill>
                  <a:schemeClr val="dk2"/>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5" name="Google Shape;115;p21"/>
          <p:cNvSpPr>
            <a:spLocks noGrp="1"/>
          </p:cNvSpPr>
          <p:nvPr>
            <p:ph type="pic" idx="16"/>
          </p:nvPr>
        </p:nvSpPr>
        <p:spPr>
          <a:xfrm>
            <a:off x="4609129" y="2880399"/>
            <a:ext cx="1509854" cy="1508760"/>
          </a:xfrm>
          <a:prstGeom prst="roundRect">
            <a:avLst>
              <a:gd name="adj" fmla="val 2878"/>
            </a:avLst>
          </a:prstGeom>
          <a:solidFill>
            <a:srgbClr val="7D8B99"/>
          </a:solidFill>
          <a:ln w="19050" cap="flat" cmpd="sng">
            <a:solidFill>
              <a:schemeClr val="lt1"/>
            </a:solidFill>
            <a:prstDash val="solid"/>
            <a:round/>
            <a:headEnd type="none" w="sm" len="sm"/>
            <a:tailEnd type="none" w="sm" len="sm"/>
          </a:ln>
        </p:spPr>
      </p:sp>
      <p:sp>
        <p:nvSpPr>
          <p:cNvPr id="116" name="Google Shape;116;p21"/>
          <p:cNvSpPr txBox="1">
            <a:spLocks noGrp="1"/>
          </p:cNvSpPr>
          <p:nvPr>
            <p:ph type="body" idx="17"/>
          </p:nvPr>
        </p:nvSpPr>
        <p:spPr>
          <a:xfrm>
            <a:off x="6202124" y="3200400"/>
            <a:ext cx="2048256" cy="338554"/>
          </a:xfrm>
          <a:prstGeom prst="rect">
            <a:avLst/>
          </a:prstGeom>
          <a:noFill/>
          <a:ln>
            <a:noFill/>
          </a:ln>
        </p:spPr>
        <p:txBody>
          <a:bodyPr spcFirstLastPara="1" wrap="square" lIns="91425" tIns="45700" rIns="91425" bIns="45700" anchor="b" anchorCtr="0">
            <a:spAutoFit/>
          </a:bodyPr>
          <a:lstStyle>
            <a:lvl1pPr marL="457200" lvl="0" indent="-228600" algn="l">
              <a:lnSpc>
                <a:spcPct val="100000"/>
              </a:lnSpc>
              <a:spcBef>
                <a:spcPts val="60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7" name="Google Shape;117;p21"/>
          <p:cNvSpPr txBox="1">
            <a:spLocks noGrp="1"/>
          </p:cNvSpPr>
          <p:nvPr>
            <p:ph type="body" idx="18"/>
          </p:nvPr>
        </p:nvSpPr>
        <p:spPr>
          <a:xfrm>
            <a:off x="6202124" y="3456432"/>
            <a:ext cx="2048256" cy="276999"/>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1200"/>
              <a:buFont typeface="Archivo"/>
              <a:buNone/>
              <a:defRPr sz="1200">
                <a:solidFill>
                  <a:schemeClr val="dk1"/>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8" name="Google Shape;118;p21"/>
          <p:cNvSpPr txBox="1">
            <a:spLocks noGrp="1"/>
          </p:cNvSpPr>
          <p:nvPr>
            <p:ph type="body" idx="19"/>
          </p:nvPr>
        </p:nvSpPr>
        <p:spPr>
          <a:xfrm>
            <a:off x="6202124" y="3755938"/>
            <a:ext cx="2048256" cy="2308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900"/>
              <a:buFont typeface="Archivo"/>
              <a:buNone/>
              <a:defRPr sz="900">
                <a:solidFill>
                  <a:schemeClr val="dk2"/>
                </a:solidFill>
              </a:defRPr>
            </a:lvl1pPr>
            <a:lvl2pPr marL="914400" lvl="1" indent="-228600" algn="l">
              <a:lnSpc>
                <a:spcPct val="100000"/>
              </a:lnSpc>
              <a:spcBef>
                <a:spcPts val="600"/>
              </a:spcBef>
              <a:spcAft>
                <a:spcPts val="0"/>
              </a:spcAft>
              <a:buSzPts val="1100"/>
              <a:buFont typeface="Archivo"/>
              <a:buNone/>
              <a:defRPr sz="1100"/>
            </a:lvl2pPr>
            <a:lvl3pPr marL="1371600" lvl="2" indent="-228600" algn="l">
              <a:lnSpc>
                <a:spcPct val="100000"/>
              </a:lnSpc>
              <a:spcBef>
                <a:spcPts val="600"/>
              </a:spcBef>
              <a:spcAft>
                <a:spcPts val="0"/>
              </a:spcAft>
              <a:buSzPts val="1100"/>
              <a:buFont typeface="Archivo"/>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_Alt">
  <p:cSld name="Title Only_Alt">
    <p:spTree>
      <p:nvGrpSpPr>
        <p:cNvPr id="1" name="Shape 119"/>
        <p:cNvGrpSpPr/>
        <p:nvPr/>
      </p:nvGrpSpPr>
      <p:grpSpPr>
        <a:xfrm>
          <a:off x="0" y="0"/>
          <a:ext cx="0" cy="0"/>
          <a:chOff x="0" y="0"/>
          <a:chExt cx="0" cy="0"/>
        </a:xfrm>
      </p:grpSpPr>
      <p:pic>
        <p:nvPicPr>
          <p:cNvPr id="120" name="Google Shape;120;p22"/>
          <p:cNvPicPr preferRelativeResize="0"/>
          <p:nvPr/>
        </p:nvPicPr>
        <p:blipFill rotWithShape="1">
          <a:blip r:embed="rId2">
            <a:alphaModFix/>
          </a:blip>
          <a:srcRect b="38102"/>
          <a:stretch/>
        </p:blipFill>
        <p:spPr>
          <a:xfrm>
            <a:off x="0" y="1"/>
            <a:ext cx="9144000" cy="5143500"/>
          </a:xfrm>
          <a:prstGeom prst="rect">
            <a:avLst/>
          </a:prstGeom>
          <a:noFill/>
          <a:ln>
            <a:noFill/>
          </a:ln>
        </p:spPr>
      </p:pic>
      <p:sp>
        <p:nvSpPr>
          <p:cNvPr id="121" name="Google Shape;121;p22"/>
          <p:cNvSpPr txBox="1">
            <a:spLocks noGrp="1"/>
          </p:cNvSpPr>
          <p:nvPr>
            <p:ph type="title"/>
          </p:nvPr>
        </p:nvSpPr>
        <p:spPr>
          <a:xfrm>
            <a:off x="457200" y="374904"/>
            <a:ext cx="8229600" cy="4801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22"/>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2 Headline_Alt">
  <p:cSld name="1/2 Headline_Alt">
    <p:spTree>
      <p:nvGrpSpPr>
        <p:cNvPr id="1" name="Shape 123"/>
        <p:cNvGrpSpPr/>
        <p:nvPr/>
      </p:nvGrpSpPr>
      <p:grpSpPr>
        <a:xfrm>
          <a:off x="0" y="0"/>
          <a:ext cx="0" cy="0"/>
          <a:chOff x="0" y="0"/>
          <a:chExt cx="0" cy="0"/>
        </a:xfrm>
      </p:grpSpPr>
      <p:pic>
        <p:nvPicPr>
          <p:cNvPr id="124" name="Google Shape;124;p23"/>
          <p:cNvPicPr preferRelativeResize="0"/>
          <p:nvPr/>
        </p:nvPicPr>
        <p:blipFill rotWithShape="1">
          <a:blip r:embed="rId2">
            <a:alphaModFix/>
          </a:blip>
          <a:srcRect b="38102"/>
          <a:stretch/>
        </p:blipFill>
        <p:spPr>
          <a:xfrm>
            <a:off x="0" y="1"/>
            <a:ext cx="9144000" cy="5143500"/>
          </a:xfrm>
          <a:prstGeom prst="rect">
            <a:avLst/>
          </a:prstGeom>
          <a:noFill/>
          <a:ln>
            <a:noFill/>
          </a:ln>
        </p:spPr>
      </p:pic>
      <p:sp>
        <p:nvSpPr>
          <p:cNvPr id="125" name="Google Shape;125;p23"/>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6" name="Google Shape;126;p23"/>
          <p:cNvSpPr txBox="1">
            <a:spLocks noGrp="1"/>
          </p:cNvSpPr>
          <p:nvPr>
            <p:ph type="title"/>
          </p:nvPr>
        </p:nvSpPr>
        <p:spPr>
          <a:xfrm>
            <a:off x="457200" y="374904"/>
            <a:ext cx="3383280" cy="867930"/>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Photos">
  <p:cSld name="3-Photos">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457200" y="372745"/>
            <a:ext cx="8229600" cy="4801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24"/>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0" name="Google Shape;130;p24"/>
          <p:cNvSpPr>
            <a:spLocks noGrp="1"/>
          </p:cNvSpPr>
          <p:nvPr>
            <p:ph type="pic" idx="2"/>
          </p:nvPr>
        </p:nvSpPr>
        <p:spPr>
          <a:xfrm>
            <a:off x="3311087" y="1751834"/>
            <a:ext cx="2528798" cy="1785784"/>
          </a:xfrm>
          <a:prstGeom prst="roundRect">
            <a:avLst>
              <a:gd name="adj" fmla="val 1907"/>
            </a:avLst>
          </a:prstGeom>
          <a:solidFill>
            <a:srgbClr val="7D8B99"/>
          </a:solidFill>
          <a:ln>
            <a:noFill/>
          </a:ln>
        </p:spPr>
      </p:sp>
      <p:sp>
        <p:nvSpPr>
          <p:cNvPr id="131" name="Google Shape;131;p24"/>
          <p:cNvSpPr>
            <a:spLocks noGrp="1"/>
          </p:cNvSpPr>
          <p:nvPr>
            <p:ph type="pic" idx="3"/>
          </p:nvPr>
        </p:nvSpPr>
        <p:spPr>
          <a:xfrm>
            <a:off x="6063812" y="1751834"/>
            <a:ext cx="2528798" cy="1785784"/>
          </a:xfrm>
          <a:prstGeom prst="roundRect">
            <a:avLst>
              <a:gd name="adj" fmla="val 1907"/>
            </a:avLst>
          </a:prstGeom>
          <a:solidFill>
            <a:srgbClr val="7D8B99"/>
          </a:solidFill>
          <a:ln>
            <a:noFill/>
          </a:ln>
        </p:spPr>
      </p:sp>
      <p:sp>
        <p:nvSpPr>
          <p:cNvPr id="132" name="Google Shape;132;p24"/>
          <p:cNvSpPr>
            <a:spLocks noGrp="1"/>
          </p:cNvSpPr>
          <p:nvPr>
            <p:ph type="pic" idx="4"/>
          </p:nvPr>
        </p:nvSpPr>
        <p:spPr>
          <a:xfrm>
            <a:off x="548837" y="1751834"/>
            <a:ext cx="2528798" cy="1785784"/>
          </a:xfrm>
          <a:prstGeom prst="roundRect">
            <a:avLst>
              <a:gd name="adj" fmla="val 1907"/>
            </a:avLst>
          </a:prstGeom>
          <a:solidFill>
            <a:srgbClr val="7D8B99"/>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hoto-Left">
  <p:cSld name="Photo-Left">
    <p:spTree>
      <p:nvGrpSpPr>
        <p:cNvPr id="1" name="Shape 133"/>
        <p:cNvGrpSpPr/>
        <p:nvPr/>
      </p:nvGrpSpPr>
      <p:grpSpPr>
        <a:xfrm>
          <a:off x="0" y="0"/>
          <a:ext cx="0" cy="0"/>
          <a:chOff x="0" y="0"/>
          <a:chExt cx="0" cy="0"/>
        </a:xfrm>
      </p:grpSpPr>
      <p:sp>
        <p:nvSpPr>
          <p:cNvPr id="134" name="Google Shape;134;p25"/>
          <p:cNvSpPr>
            <a:spLocks noGrp="1"/>
          </p:cNvSpPr>
          <p:nvPr>
            <p:ph type="pic" idx="2"/>
          </p:nvPr>
        </p:nvSpPr>
        <p:spPr>
          <a:xfrm>
            <a:off x="0" y="0"/>
            <a:ext cx="3834758" cy="5143500"/>
          </a:xfrm>
          <a:prstGeom prst="rect">
            <a:avLst/>
          </a:prstGeom>
          <a:solidFill>
            <a:srgbClr val="7D8B99"/>
          </a:solidFill>
          <a:ln>
            <a:noFill/>
          </a:ln>
        </p:spPr>
      </p:sp>
      <p:sp>
        <p:nvSpPr>
          <p:cNvPr id="135" name="Google Shape;135;p25"/>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6" name="Google Shape;136;p25"/>
          <p:cNvSpPr txBox="1">
            <a:spLocks noGrp="1"/>
          </p:cNvSpPr>
          <p:nvPr>
            <p:ph type="title"/>
          </p:nvPr>
        </p:nvSpPr>
        <p:spPr>
          <a:xfrm>
            <a:off x="4280174" y="376428"/>
            <a:ext cx="4195572" cy="867930"/>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hoto-Right">
  <p:cSld name="Photo-Right">
    <p:spTree>
      <p:nvGrpSpPr>
        <p:cNvPr id="1" name="Shape 137"/>
        <p:cNvGrpSpPr/>
        <p:nvPr/>
      </p:nvGrpSpPr>
      <p:grpSpPr>
        <a:xfrm>
          <a:off x="0" y="0"/>
          <a:ext cx="0" cy="0"/>
          <a:chOff x="0" y="0"/>
          <a:chExt cx="0" cy="0"/>
        </a:xfrm>
      </p:grpSpPr>
      <p:sp>
        <p:nvSpPr>
          <p:cNvPr id="138" name="Google Shape;138;p26"/>
          <p:cNvSpPr>
            <a:spLocks noGrp="1"/>
          </p:cNvSpPr>
          <p:nvPr>
            <p:ph type="pic" idx="2"/>
          </p:nvPr>
        </p:nvSpPr>
        <p:spPr>
          <a:xfrm>
            <a:off x="5309242" y="0"/>
            <a:ext cx="3834758" cy="5143500"/>
          </a:xfrm>
          <a:prstGeom prst="rect">
            <a:avLst/>
          </a:prstGeom>
          <a:solidFill>
            <a:srgbClr val="7D8B99"/>
          </a:solidFill>
          <a:ln>
            <a:noFill/>
          </a:ln>
        </p:spPr>
      </p:sp>
      <p:sp>
        <p:nvSpPr>
          <p:cNvPr id="139" name="Google Shape;139;p26"/>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0" name="Google Shape;140;p26"/>
          <p:cNvSpPr txBox="1">
            <a:spLocks noGrp="1"/>
          </p:cNvSpPr>
          <p:nvPr>
            <p:ph type="title"/>
          </p:nvPr>
        </p:nvSpPr>
        <p:spPr>
          <a:xfrm>
            <a:off x="457200" y="374904"/>
            <a:ext cx="4187952" cy="867930"/>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umper Slide">
  <p:cSld name="Bumper Slide">
    <p:bg>
      <p:bgPr>
        <a:solidFill>
          <a:schemeClr val="dk1"/>
        </a:solidFill>
        <a:effectLst/>
      </p:bgPr>
    </p:bg>
    <p:spTree>
      <p:nvGrpSpPr>
        <p:cNvPr id="1" name="Shape 141"/>
        <p:cNvGrpSpPr/>
        <p:nvPr/>
      </p:nvGrpSpPr>
      <p:grpSpPr>
        <a:xfrm>
          <a:off x="0" y="0"/>
          <a:ext cx="0" cy="0"/>
          <a:chOff x="0" y="0"/>
          <a:chExt cx="0" cy="0"/>
        </a:xfrm>
      </p:grpSpPr>
      <p:pic>
        <p:nvPicPr>
          <p:cNvPr id="142" name="Google Shape;142;p27"/>
          <p:cNvPicPr preferRelativeResize="0"/>
          <p:nvPr/>
        </p:nvPicPr>
        <p:blipFill rotWithShape="1">
          <a:blip r:embed="rId2">
            <a:alphaModFix/>
          </a:blip>
          <a:srcRect/>
          <a:stretch/>
        </p:blipFill>
        <p:spPr>
          <a:xfrm>
            <a:off x="3101498" y="1639177"/>
            <a:ext cx="2941004" cy="139054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Icons_30">
  <p:cSld name="Icons_30">
    <p:spTree>
      <p:nvGrpSpPr>
        <p:cNvPr id="1" name="Shape 143"/>
        <p:cNvGrpSpPr/>
        <p:nvPr/>
      </p:nvGrpSpPr>
      <p:grpSpPr>
        <a:xfrm>
          <a:off x="0" y="0"/>
          <a:ext cx="0" cy="0"/>
          <a:chOff x="0" y="0"/>
          <a:chExt cx="0" cy="0"/>
        </a:xfrm>
      </p:grpSpPr>
      <p:sp>
        <p:nvSpPr>
          <p:cNvPr id="144" name="Google Shape;144;p28"/>
          <p:cNvSpPr txBox="1">
            <a:spLocks noGrp="1"/>
          </p:cNvSpPr>
          <p:nvPr>
            <p:ph type="title"/>
          </p:nvPr>
        </p:nvSpPr>
        <p:spPr>
          <a:xfrm>
            <a:off x="457200" y="372745"/>
            <a:ext cx="8229600" cy="480131"/>
          </a:xfrm>
          <a:prstGeom prst="rect">
            <a:avLst/>
          </a:prstGeom>
          <a:noFill/>
          <a:ln>
            <a:noFill/>
          </a:ln>
        </p:spPr>
        <p:txBody>
          <a:bodyPr spcFirstLastPara="1" wrap="square" lIns="91425" tIns="45700" rIns="91425" bIns="45700" anchor="t" anchorCtr="0">
            <a:spAutoFit/>
          </a:bodyPr>
          <a:lstStyle>
            <a:lvl1pPr lvl="0" algn="ctr">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28"/>
          <p:cNvSpPr/>
          <p:nvPr/>
        </p:nvSpPr>
        <p:spPr>
          <a:xfrm>
            <a:off x="1157709"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46" name="Google Shape;146;p28"/>
          <p:cNvSpPr/>
          <p:nvPr/>
        </p:nvSpPr>
        <p:spPr>
          <a:xfrm>
            <a:off x="2036206"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47" name="Google Shape;147;p28"/>
          <p:cNvSpPr/>
          <p:nvPr/>
        </p:nvSpPr>
        <p:spPr>
          <a:xfrm>
            <a:off x="2914703"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48" name="Google Shape;148;p28"/>
          <p:cNvSpPr/>
          <p:nvPr/>
        </p:nvSpPr>
        <p:spPr>
          <a:xfrm>
            <a:off x="3793200"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49" name="Google Shape;149;p28"/>
          <p:cNvSpPr/>
          <p:nvPr/>
        </p:nvSpPr>
        <p:spPr>
          <a:xfrm>
            <a:off x="4671697"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50" name="Google Shape;150;p28"/>
          <p:cNvSpPr/>
          <p:nvPr/>
        </p:nvSpPr>
        <p:spPr>
          <a:xfrm>
            <a:off x="5550194"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51" name="Google Shape;151;p28"/>
          <p:cNvSpPr/>
          <p:nvPr/>
        </p:nvSpPr>
        <p:spPr>
          <a:xfrm>
            <a:off x="6428691"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52" name="Google Shape;152;p28"/>
          <p:cNvSpPr/>
          <p:nvPr/>
        </p:nvSpPr>
        <p:spPr>
          <a:xfrm>
            <a:off x="7307188"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53" name="Google Shape;153;p28"/>
          <p:cNvSpPr/>
          <p:nvPr/>
        </p:nvSpPr>
        <p:spPr>
          <a:xfrm>
            <a:off x="8185681"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54" name="Google Shape;154;p28"/>
          <p:cNvSpPr/>
          <p:nvPr/>
        </p:nvSpPr>
        <p:spPr>
          <a:xfrm>
            <a:off x="279212"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55" name="Google Shape;155;p28"/>
          <p:cNvSpPr/>
          <p:nvPr/>
        </p:nvSpPr>
        <p:spPr>
          <a:xfrm>
            <a:off x="1157709"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56" name="Google Shape;156;p28"/>
          <p:cNvSpPr/>
          <p:nvPr/>
        </p:nvSpPr>
        <p:spPr>
          <a:xfrm>
            <a:off x="2036206"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57" name="Google Shape;157;p28"/>
          <p:cNvSpPr/>
          <p:nvPr/>
        </p:nvSpPr>
        <p:spPr>
          <a:xfrm>
            <a:off x="2914703"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58" name="Google Shape;158;p28"/>
          <p:cNvSpPr/>
          <p:nvPr/>
        </p:nvSpPr>
        <p:spPr>
          <a:xfrm>
            <a:off x="3793200"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59" name="Google Shape;159;p28"/>
          <p:cNvSpPr/>
          <p:nvPr/>
        </p:nvSpPr>
        <p:spPr>
          <a:xfrm>
            <a:off x="4671697"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60" name="Google Shape;160;p28"/>
          <p:cNvSpPr/>
          <p:nvPr/>
        </p:nvSpPr>
        <p:spPr>
          <a:xfrm>
            <a:off x="5550194"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61" name="Google Shape;161;p28"/>
          <p:cNvSpPr/>
          <p:nvPr/>
        </p:nvSpPr>
        <p:spPr>
          <a:xfrm>
            <a:off x="6428691"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62" name="Google Shape;162;p28"/>
          <p:cNvSpPr/>
          <p:nvPr/>
        </p:nvSpPr>
        <p:spPr>
          <a:xfrm>
            <a:off x="7307188"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63" name="Google Shape;163;p28"/>
          <p:cNvSpPr/>
          <p:nvPr/>
        </p:nvSpPr>
        <p:spPr>
          <a:xfrm>
            <a:off x="8185681"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64" name="Google Shape;164;p28"/>
          <p:cNvSpPr/>
          <p:nvPr/>
        </p:nvSpPr>
        <p:spPr>
          <a:xfrm>
            <a:off x="279212"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65" name="Google Shape;165;p28"/>
          <p:cNvSpPr/>
          <p:nvPr/>
        </p:nvSpPr>
        <p:spPr>
          <a:xfrm>
            <a:off x="1157709"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66" name="Google Shape;166;p28"/>
          <p:cNvSpPr/>
          <p:nvPr/>
        </p:nvSpPr>
        <p:spPr>
          <a:xfrm>
            <a:off x="2036206"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67" name="Google Shape;167;p28"/>
          <p:cNvSpPr/>
          <p:nvPr/>
        </p:nvSpPr>
        <p:spPr>
          <a:xfrm>
            <a:off x="2914703"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68" name="Google Shape;168;p28"/>
          <p:cNvSpPr/>
          <p:nvPr/>
        </p:nvSpPr>
        <p:spPr>
          <a:xfrm>
            <a:off x="3793200"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69" name="Google Shape;169;p28"/>
          <p:cNvSpPr/>
          <p:nvPr/>
        </p:nvSpPr>
        <p:spPr>
          <a:xfrm>
            <a:off x="4671697"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70" name="Google Shape;170;p28"/>
          <p:cNvSpPr/>
          <p:nvPr/>
        </p:nvSpPr>
        <p:spPr>
          <a:xfrm>
            <a:off x="5550194"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71" name="Google Shape;171;p28"/>
          <p:cNvSpPr/>
          <p:nvPr/>
        </p:nvSpPr>
        <p:spPr>
          <a:xfrm>
            <a:off x="6428691"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72" name="Google Shape;172;p28"/>
          <p:cNvSpPr/>
          <p:nvPr/>
        </p:nvSpPr>
        <p:spPr>
          <a:xfrm>
            <a:off x="7307188"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73" name="Google Shape;173;p28"/>
          <p:cNvSpPr/>
          <p:nvPr/>
        </p:nvSpPr>
        <p:spPr>
          <a:xfrm>
            <a:off x="8185681"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174" name="Google Shape;174;p28"/>
          <p:cNvSpPr/>
          <p:nvPr/>
        </p:nvSpPr>
        <p:spPr>
          <a:xfrm>
            <a:off x="279212"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2_Headline">
  <p:cSld name="1/2_Headline">
    <p:spTree>
      <p:nvGrpSpPr>
        <p:cNvPr id="1" name="Shape 175"/>
        <p:cNvGrpSpPr/>
        <p:nvPr/>
      </p:nvGrpSpPr>
      <p:grpSpPr>
        <a:xfrm>
          <a:off x="0" y="0"/>
          <a:ext cx="0" cy="0"/>
          <a:chOff x="0" y="0"/>
          <a:chExt cx="0" cy="0"/>
        </a:xfrm>
      </p:grpSpPr>
      <p:sp>
        <p:nvSpPr>
          <p:cNvPr id="176" name="Google Shape;176;p29"/>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77" name="Google Shape;177;p29"/>
          <p:cNvSpPr txBox="1">
            <a:spLocks noGrp="1"/>
          </p:cNvSpPr>
          <p:nvPr>
            <p:ph type="title"/>
          </p:nvPr>
        </p:nvSpPr>
        <p:spPr>
          <a:xfrm>
            <a:off x="457200" y="374904"/>
            <a:ext cx="3383280" cy="867930"/>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White Background">
  <p:cSld name="Blank White Background">
    <p:spTree>
      <p:nvGrpSpPr>
        <p:cNvPr id="1" name="Shape 178"/>
        <p:cNvGrpSpPr/>
        <p:nvPr/>
      </p:nvGrpSpPr>
      <p:grpSpPr>
        <a:xfrm>
          <a:off x="0" y="0"/>
          <a:ext cx="0" cy="0"/>
          <a:chOff x="0" y="0"/>
          <a:chExt cx="0" cy="0"/>
        </a:xfrm>
      </p:grpSpPr>
      <p:sp>
        <p:nvSpPr>
          <p:cNvPr id="179" name="Google Shape;179;p30"/>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183"/>
        <p:cNvGrpSpPr/>
        <p:nvPr/>
      </p:nvGrpSpPr>
      <p:grpSpPr>
        <a:xfrm>
          <a:off x="0" y="0"/>
          <a:ext cx="0" cy="0"/>
          <a:chOff x="0" y="0"/>
          <a:chExt cx="0" cy="0"/>
        </a:xfrm>
      </p:grpSpPr>
      <p:pic>
        <p:nvPicPr>
          <p:cNvPr id="184" name="Google Shape;184;p32"/>
          <p:cNvPicPr preferRelativeResize="0"/>
          <p:nvPr/>
        </p:nvPicPr>
        <p:blipFill rotWithShape="1">
          <a:blip r:embed="rId2">
            <a:alphaModFix/>
          </a:blip>
          <a:srcRect l="2703" r="2703"/>
          <a:stretch/>
        </p:blipFill>
        <p:spPr>
          <a:xfrm>
            <a:off x="0" y="0"/>
            <a:ext cx="9144000" cy="5148072"/>
          </a:xfrm>
          <a:prstGeom prst="rect">
            <a:avLst/>
          </a:prstGeom>
          <a:noFill/>
          <a:ln>
            <a:noFill/>
          </a:ln>
        </p:spPr>
      </p:pic>
      <p:pic>
        <p:nvPicPr>
          <p:cNvPr id="185" name="Google Shape;185;p32"/>
          <p:cNvPicPr preferRelativeResize="0"/>
          <p:nvPr/>
        </p:nvPicPr>
        <p:blipFill rotWithShape="1">
          <a:blip r:embed="rId3">
            <a:alphaModFix/>
          </a:blip>
          <a:srcRect/>
          <a:stretch/>
        </p:blipFill>
        <p:spPr>
          <a:xfrm>
            <a:off x="611868" y="471062"/>
            <a:ext cx="1227751" cy="580497"/>
          </a:xfrm>
          <a:prstGeom prst="rect">
            <a:avLst/>
          </a:prstGeom>
          <a:noFill/>
          <a:ln>
            <a:noFill/>
          </a:ln>
        </p:spPr>
      </p:pic>
      <p:sp>
        <p:nvSpPr>
          <p:cNvPr id="186" name="Google Shape;186;p32"/>
          <p:cNvSpPr txBox="1">
            <a:spLocks noGrp="1"/>
          </p:cNvSpPr>
          <p:nvPr>
            <p:ph type="ctrTitle"/>
          </p:nvPr>
        </p:nvSpPr>
        <p:spPr>
          <a:xfrm>
            <a:off x="466344" y="3228368"/>
            <a:ext cx="7886699" cy="590931"/>
          </a:xfrm>
          <a:prstGeom prst="rect">
            <a:avLst/>
          </a:prstGeom>
          <a:noFill/>
          <a:ln>
            <a:noFill/>
          </a:ln>
        </p:spPr>
        <p:txBody>
          <a:bodyPr spcFirstLastPara="1" wrap="square" lIns="91425" tIns="45700" rIns="0" bIns="45700" anchor="b" anchorCtr="0">
            <a:spAutoFit/>
          </a:bodyPr>
          <a:lstStyle>
            <a:lvl1pPr lvl="0" algn="l">
              <a:lnSpc>
                <a:spcPct val="90000"/>
              </a:lnSpc>
              <a:spcBef>
                <a:spcPts val="0"/>
              </a:spcBef>
              <a:spcAft>
                <a:spcPts val="0"/>
              </a:spcAft>
              <a:buClr>
                <a:schemeClr val="dk1"/>
              </a:buClr>
              <a:buSzPts val="3600"/>
              <a:buFont typeface="Archivo"/>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7" name="Google Shape;187;p32"/>
          <p:cNvSpPr txBox="1">
            <a:spLocks noGrp="1"/>
          </p:cNvSpPr>
          <p:nvPr>
            <p:ph type="subTitle" idx="1"/>
          </p:nvPr>
        </p:nvSpPr>
        <p:spPr>
          <a:xfrm>
            <a:off x="466344" y="3813048"/>
            <a:ext cx="7886699" cy="338554"/>
          </a:xfrm>
          <a:prstGeom prst="rect">
            <a:avLst/>
          </a:prstGeom>
          <a:noFill/>
          <a:ln>
            <a:noFill/>
          </a:ln>
        </p:spPr>
        <p:txBody>
          <a:bodyPr spcFirstLastPara="1" wrap="square" lIns="91425" tIns="45700" rIns="0" bIns="45700" anchor="t" anchorCtr="0">
            <a:spAutoFit/>
          </a:bodyPr>
          <a:lstStyle>
            <a:lvl1pPr lvl="0" algn="l">
              <a:lnSpc>
                <a:spcPct val="100000"/>
              </a:lnSpc>
              <a:spcBef>
                <a:spcPts val="0"/>
              </a:spcBef>
              <a:spcAft>
                <a:spcPts val="0"/>
              </a:spcAft>
              <a:buSzPts val="1600"/>
              <a:buNone/>
              <a:defRPr sz="1600" b="0" i="0">
                <a:solidFill>
                  <a:schemeClr val="dk1"/>
                </a:solidFill>
                <a:latin typeface="Archivo"/>
                <a:ea typeface="Archivo"/>
                <a:cs typeface="Archivo"/>
                <a:sym typeface="Archivo"/>
              </a:defRPr>
            </a:lvl1pPr>
            <a:lvl2pPr lvl="1" algn="l">
              <a:lnSpc>
                <a:spcPct val="100000"/>
              </a:lnSpc>
              <a:spcBef>
                <a:spcPts val="600"/>
              </a:spcBef>
              <a:spcAft>
                <a:spcPts val="0"/>
              </a:spcAft>
              <a:buSzPts val="1800"/>
              <a:buNone/>
              <a:defRPr/>
            </a:lvl2pPr>
            <a:lvl3pPr lvl="2" algn="l">
              <a:lnSpc>
                <a:spcPct val="100000"/>
              </a:lnSpc>
              <a:spcBef>
                <a:spcPts val="600"/>
              </a:spcBef>
              <a:spcAft>
                <a:spcPts val="0"/>
              </a:spcAft>
              <a:buSzPts val="1800"/>
              <a:buNone/>
              <a:defRPr/>
            </a:lvl3pPr>
            <a:lvl4pPr lvl="3" algn="l">
              <a:spcBef>
                <a:spcPts val="600"/>
              </a:spcBef>
              <a:spcAft>
                <a:spcPts val="0"/>
              </a:spcAft>
              <a:buSzPts val="1800"/>
              <a:buChar char="–"/>
              <a:defRPr/>
            </a:lvl4pPr>
            <a:lvl5pPr lvl="4" algn="l">
              <a:spcBef>
                <a:spcPts val="360"/>
              </a:spcBef>
              <a:spcAft>
                <a:spcPts val="0"/>
              </a:spcAft>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88"/>
        <p:cNvGrpSpPr/>
        <p:nvPr/>
      </p:nvGrpSpPr>
      <p:grpSpPr>
        <a:xfrm>
          <a:off x="0" y="0"/>
          <a:ext cx="0" cy="0"/>
          <a:chOff x="0" y="0"/>
          <a:chExt cx="0" cy="0"/>
        </a:xfrm>
      </p:grpSpPr>
      <p:sp>
        <p:nvSpPr>
          <p:cNvPr id="189" name="Google Shape;189;p33"/>
          <p:cNvSpPr txBox="1">
            <a:spLocks noGrp="1"/>
          </p:cNvSpPr>
          <p:nvPr>
            <p:ph type="title"/>
          </p:nvPr>
        </p:nvSpPr>
        <p:spPr>
          <a:xfrm>
            <a:off x="457200" y="374904"/>
            <a:ext cx="8229600" cy="4801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0" name="Google Shape;190;p33"/>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u="none" strike="noStrike" cap="none">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Layout 1">
  <p:cSld name="Layout 1">
    <p:spTree>
      <p:nvGrpSpPr>
        <p:cNvPr id="1" name="Shape 191"/>
        <p:cNvGrpSpPr/>
        <p:nvPr/>
      </p:nvGrpSpPr>
      <p:grpSpPr>
        <a:xfrm>
          <a:off x="0" y="0"/>
          <a:ext cx="0" cy="0"/>
          <a:chOff x="0" y="0"/>
          <a:chExt cx="0" cy="0"/>
        </a:xfrm>
      </p:grpSpPr>
      <p:pic>
        <p:nvPicPr>
          <p:cNvPr id="192" name="Google Shape;192;p34"/>
          <p:cNvPicPr preferRelativeResize="0"/>
          <p:nvPr/>
        </p:nvPicPr>
        <p:blipFill rotWithShape="1">
          <a:blip r:embed="rId2">
            <a:alphaModFix/>
          </a:blip>
          <a:srcRect l="4366" r="92366"/>
          <a:stretch/>
        </p:blipFill>
        <p:spPr>
          <a:xfrm>
            <a:off x="0" y="-2286"/>
            <a:ext cx="327412" cy="5148072"/>
          </a:xfrm>
          <a:prstGeom prst="rect">
            <a:avLst/>
          </a:prstGeom>
          <a:noFill/>
          <a:ln>
            <a:noFill/>
          </a:ln>
        </p:spPr>
      </p:pic>
      <p:sp>
        <p:nvSpPr>
          <p:cNvPr id="193" name="Google Shape;193;p34"/>
          <p:cNvSpPr txBox="1">
            <a:spLocks noGrp="1"/>
          </p:cNvSpPr>
          <p:nvPr>
            <p:ph type="ftr" idx="11"/>
          </p:nvPr>
        </p:nvSpPr>
        <p:spPr>
          <a:xfrm>
            <a:off x="32741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p:cSld name="Section Title">
    <p:spTree>
      <p:nvGrpSpPr>
        <p:cNvPr id="1" name="Shape 194"/>
        <p:cNvGrpSpPr/>
        <p:nvPr/>
      </p:nvGrpSpPr>
      <p:grpSpPr>
        <a:xfrm>
          <a:off x="0" y="0"/>
          <a:ext cx="0" cy="0"/>
          <a:chOff x="0" y="0"/>
          <a:chExt cx="0" cy="0"/>
        </a:xfrm>
      </p:grpSpPr>
      <p:pic>
        <p:nvPicPr>
          <p:cNvPr id="195" name="Google Shape;195;p35"/>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196" name="Google Shape;196;p35"/>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ntro_One">
  <p:cSld name="Intro_One">
    <p:spTree>
      <p:nvGrpSpPr>
        <p:cNvPr id="1" name="Shape 197"/>
        <p:cNvGrpSpPr/>
        <p:nvPr/>
      </p:nvGrpSpPr>
      <p:grpSpPr>
        <a:xfrm>
          <a:off x="0" y="0"/>
          <a:ext cx="0" cy="0"/>
          <a:chOff x="0" y="0"/>
          <a:chExt cx="0" cy="0"/>
        </a:xfrm>
      </p:grpSpPr>
      <p:pic>
        <p:nvPicPr>
          <p:cNvPr id="198" name="Google Shape;198;p36"/>
          <p:cNvPicPr preferRelativeResize="0"/>
          <p:nvPr/>
        </p:nvPicPr>
        <p:blipFill rotWithShape="1">
          <a:blip r:embed="rId2">
            <a:alphaModFix/>
          </a:blip>
          <a:srcRect r="18630" b="18082"/>
          <a:stretch/>
        </p:blipFill>
        <p:spPr>
          <a:xfrm>
            <a:off x="-1" y="1"/>
            <a:ext cx="9144001" cy="5143499"/>
          </a:xfrm>
          <a:prstGeom prst="rect">
            <a:avLst/>
          </a:prstGeom>
          <a:noFill/>
          <a:ln>
            <a:noFill/>
          </a:ln>
        </p:spPr>
      </p:pic>
      <p:sp>
        <p:nvSpPr>
          <p:cNvPr id="199" name="Google Shape;199;p36"/>
          <p:cNvSpPr>
            <a:spLocks noGrp="1"/>
          </p:cNvSpPr>
          <p:nvPr>
            <p:ph type="pic" idx="2"/>
          </p:nvPr>
        </p:nvSpPr>
        <p:spPr>
          <a:xfrm>
            <a:off x="2067336" y="1428750"/>
            <a:ext cx="2286000" cy="2286000"/>
          </a:xfrm>
          <a:prstGeom prst="roundRect">
            <a:avLst>
              <a:gd name="adj" fmla="val 1846"/>
            </a:avLst>
          </a:prstGeom>
          <a:solidFill>
            <a:srgbClr val="7D8B99"/>
          </a:solidFill>
          <a:ln w="19050" cap="flat" cmpd="sng">
            <a:solidFill>
              <a:schemeClr val="lt1"/>
            </a:solidFill>
            <a:prstDash val="solid"/>
            <a:round/>
            <a:headEnd type="none" w="sm" len="sm"/>
            <a:tailEnd type="none" w="sm" len="sm"/>
          </a:ln>
        </p:spPr>
      </p:sp>
      <p:sp>
        <p:nvSpPr>
          <p:cNvPr id="200" name="Google Shape;200;p36"/>
          <p:cNvSpPr txBox="1">
            <a:spLocks noGrp="1"/>
          </p:cNvSpPr>
          <p:nvPr>
            <p:ph type="body" idx="1"/>
          </p:nvPr>
        </p:nvSpPr>
        <p:spPr>
          <a:xfrm>
            <a:off x="4589219" y="2102713"/>
            <a:ext cx="3794760" cy="424732"/>
          </a:xfrm>
          <a:prstGeom prst="rect">
            <a:avLst/>
          </a:prstGeom>
          <a:noFill/>
          <a:ln>
            <a:noFill/>
          </a:ln>
        </p:spPr>
        <p:txBody>
          <a:bodyPr spcFirstLastPara="1" wrap="square" lIns="91425" tIns="45700" rIns="91425" bIns="45700" anchor="b" anchorCtr="0">
            <a:spAutoFit/>
          </a:bodyPr>
          <a:lstStyle>
            <a:lvl1pPr marL="457200" lvl="0" indent="-228600" algn="l">
              <a:lnSpc>
                <a:spcPct val="90000"/>
              </a:lnSpc>
              <a:spcBef>
                <a:spcPts val="0"/>
              </a:spcBef>
              <a:spcAft>
                <a:spcPts val="0"/>
              </a:spcAft>
              <a:buSzPts val="2400"/>
              <a:buFont typeface="Archivo"/>
              <a:buNone/>
              <a:defRPr sz="2400" b="1">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1" name="Google Shape;201;p36"/>
          <p:cNvSpPr txBox="1">
            <a:spLocks noGrp="1"/>
          </p:cNvSpPr>
          <p:nvPr>
            <p:ph type="body" idx="3"/>
          </p:nvPr>
        </p:nvSpPr>
        <p:spPr>
          <a:xfrm>
            <a:off x="4589219" y="2452176"/>
            <a:ext cx="3794760" cy="3693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0"/>
              </a:spcBef>
              <a:spcAft>
                <a:spcPts val="0"/>
              </a:spcAft>
              <a:buSzPts val="1800"/>
              <a:buFont typeface="Archivo"/>
              <a:buNone/>
              <a:defRPr sz="1800" b="0">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2" name="Google Shape;202;p36"/>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3" name="Google Shape;203;p36"/>
          <p:cNvSpPr txBox="1">
            <a:spLocks noGrp="1"/>
          </p:cNvSpPr>
          <p:nvPr>
            <p:ph type="body" idx="4"/>
          </p:nvPr>
        </p:nvSpPr>
        <p:spPr>
          <a:xfrm>
            <a:off x="4589220" y="2834104"/>
            <a:ext cx="3794760" cy="276999"/>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1200"/>
              <a:buFont typeface="Archivo"/>
              <a:buNone/>
              <a:defRPr sz="1200" b="0" i="0">
                <a:solidFill>
                  <a:schemeClr val="dk2"/>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Intro_Two">
  <p:cSld name="Intro_Two">
    <p:spTree>
      <p:nvGrpSpPr>
        <p:cNvPr id="1" name="Shape 204"/>
        <p:cNvGrpSpPr/>
        <p:nvPr/>
      </p:nvGrpSpPr>
      <p:grpSpPr>
        <a:xfrm>
          <a:off x="0" y="0"/>
          <a:ext cx="0" cy="0"/>
          <a:chOff x="0" y="0"/>
          <a:chExt cx="0" cy="0"/>
        </a:xfrm>
      </p:grpSpPr>
      <p:pic>
        <p:nvPicPr>
          <p:cNvPr id="205" name="Google Shape;205;p37"/>
          <p:cNvPicPr preferRelativeResize="0"/>
          <p:nvPr/>
        </p:nvPicPr>
        <p:blipFill rotWithShape="1">
          <a:blip r:embed="rId2">
            <a:alphaModFix/>
          </a:blip>
          <a:srcRect r="18630" b="18082"/>
          <a:stretch/>
        </p:blipFill>
        <p:spPr>
          <a:xfrm>
            <a:off x="-1" y="1"/>
            <a:ext cx="9144001" cy="5143499"/>
          </a:xfrm>
          <a:prstGeom prst="rect">
            <a:avLst/>
          </a:prstGeom>
          <a:noFill/>
          <a:ln>
            <a:noFill/>
          </a:ln>
        </p:spPr>
      </p:pic>
      <p:sp>
        <p:nvSpPr>
          <p:cNvPr id="206" name="Google Shape;206;p37"/>
          <p:cNvSpPr>
            <a:spLocks noGrp="1"/>
          </p:cNvSpPr>
          <p:nvPr>
            <p:ph type="pic" idx="2"/>
          </p:nvPr>
        </p:nvSpPr>
        <p:spPr>
          <a:xfrm>
            <a:off x="5299075" y="1112456"/>
            <a:ext cx="2003425" cy="2003425"/>
          </a:xfrm>
          <a:prstGeom prst="roundRect">
            <a:avLst>
              <a:gd name="adj" fmla="val 1846"/>
            </a:avLst>
          </a:prstGeom>
          <a:solidFill>
            <a:srgbClr val="7D8B99"/>
          </a:solidFill>
          <a:ln w="19050" cap="flat" cmpd="sng">
            <a:solidFill>
              <a:schemeClr val="lt1"/>
            </a:solidFill>
            <a:prstDash val="solid"/>
            <a:round/>
            <a:headEnd type="none" w="sm" len="sm"/>
            <a:tailEnd type="none" w="sm" len="sm"/>
          </a:ln>
        </p:spPr>
      </p:sp>
      <p:sp>
        <p:nvSpPr>
          <p:cNvPr id="207" name="Google Shape;207;p37"/>
          <p:cNvSpPr>
            <a:spLocks noGrp="1"/>
          </p:cNvSpPr>
          <p:nvPr>
            <p:ph type="pic" idx="3"/>
          </p:nvPr>
        </p:nvSpPr>
        <p:spPr>
          <a:xfrm>
            <a:off x="1841501" y="1112456"/>
            <a:ext cx="2003425" cy="2003425"/>
          </a:xfrm>
          <a:prstGeom prst="roundRect">
            <a:avLst>
              <a:gd name="adj" fmla="val 1846"/>
            </a:avLst>
          </a:prstGeom>
          <a:solidFill>
            <a:srgbClr val="7D8B99"/>
          </a:solidFill>
          <a:ln w="19050" cap="flat" cmpd="sng">
            <a:solidFill>
              <a:schemeClr val="lt1"/>
            </a:solidFill>
            <a:prstDash val="solid"/>
            <a:round/>
            <a:headEnd type="none" w="sm" len="sm"/>
            <a:tailEnd type="none" w="sm" len="sm"/>
          </a:ln>
        </p:spPr>
      </p:sp>
      <p:sp>
        <p:nvSpPr>
          <p:cNvPr id="208" name="Google Shape;208;p37"/>
          <p:cNvSpPr txBox="1">
            <a:spLocks noGrp="1"/>
          </p:cNvSpPr>
          <p:nvPr>
            <p:ph type="body" idx="1"/>
          </p:nvPr>
        </p:nvSpPr>
        <p:spPr>
          <a:xfrm>
            <a:off x="1651026" y="3243238"/>
            <a:ext cx="2386584" cy="369332"/>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800"/>
              <a:buFont typeface="Archivo"/>
              <a:buNone/>
              <a:defRPr sz="1800" b="1">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9" name="Google Shape;209;p37"/>
          <p:cNvSpPr txBox="1">
            <a:spLocks noGrp="1"/>
          </p:cNvSpPr>
          <p:nvPr>
            <p:ph type="body" idx="4"/>
          </p:nvPr>
        </p:nvSpPr>
        <p:spPr>
          <a:xfrm>
            <a:off x="1651026" y="3556117"/>
            <a:ext cx="2386584" cy="307777"/>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400"/>
              <a:buFont typeface="Archivo"/>
              <a:buNone/>
              <a:defRPr sz="1400" b="0">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0" name="Google Shape;210;p37"/>
          <p:cNvSpPr txBox="1">
            <a:spLocks noGrp="1"/>
          </p:cNvSpPr>
          <p:nvPr>
            <p:ph type="body" idx="5"/>
          </p:nvPr>
        </p:nvSpPr>
        <p:spPr>
          <a:xfrm>
            <a:off x="5107691" y="3243238"/>
            <a:ext cx="2386584" cy="369332"/>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800"/>
              <a:buFont typeface="Archivo"/>
              <a:buNone/>
              <a:defRPr sz="1800" b="1">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1" name="Google Shape;211;p37"/>
          <p:cNvSpPr txBox="1">
            <a:spLocks noGrp="1"/>
          </p:cNvSpPr>
          <p:nvPr>
            <p:ph type="body" idx="6"/>
          </p:nvPr>
        </p:nvSpPr>
        <p:spPr>
          <a:xfrm>
            <a:off x="5107691" y="3556117"/>
            <a:ext cx="2386584" cy="307777"/>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400"/>
              <a:buFont typeface="Archivo"/>
              <a:buNone/>
              <a:defRPr sz="1400" b="0">
                <a:solidFill>
                  <a:srgbClr val="0F2E66"/>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2" name="Google Shape;212;p37"/>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3" name="Google Shape;213;p37"/>
          <p:cNvSpPr txBox="1">
            <a:spLocks noGrp="1"/>
          </p:cNvSpPr>
          <p:nvPr>
            <p:ph type="body" idx="7"/>
          </p:nvPr>
        </p:nvSpPr>
        <p:spPr>
          <a:xfrm>
            <a:off x="1651026" y="3924139"/>
            <a:ext cx="2386584" cy="261610"/>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600"/>
              </a:spcBef>
              <a:spcAft>
                <a:spcPts val="0"/>
              </a:spcAft>
              <a:buSzPts val="1100"/>
              <a:buNone/>
              <a:defRPr sz="1100">
                <a:solidFill>
                  <a:schemeClr val="dk2"/>
                </a:solidFill>
              </a:defRPr>
            </a:lvl1pPr>
            <a:lvl2pPr marL="914400" lvl="1" indent="-228600" algn="l">
              <a:lnSpc>
                <a:spcPct val="100000"/>
              </a:lnSpc>
              <a:spcBef>
                <a:spcPts val="600"/>
              </a:spcBef>
              <a:spcAft>
                <a:spcPts val="0"/>
              </a:spcAft>
              <a:buSzPts val="1800"/>
              <a:buNone/>
              <a:defRPr/>
            </a:lvl2pPr>
            <a:lvl3pPr marL="1371600" lvl="2" indent="-228600" algn="l">
              <a:lnSpc>
                <a:spcPct val="100000"/>
              </a:lnSpc>
              <a:spcBef>
                <a:spcPts val="600"/>
              </a:spcBef>
              <a:spcAft>
                <a:spcPts val="0"/>
              </a:spcAft>
              <a:buSzPts val="1800"/>
              <a:buNone/>
              <a:defRPr/>
            </a:lvl3pPr>
            <a:lvl4pPr marL="1828800" lvl="3" indent="-342900" algn="l">
              <a:spcBef>
                <a:spcPts val="60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37"/>
          <p:cNvSpPr txBox="1">
            <a:spLocks noGrp="1"/>
          </p:cNvSpPr>
          <p:nvPr>
            <p:ph type="body" idx="8"/>
          </p:nvPr>
        </p:nvSpPr>
        <p:spPr>
          <a:xfrm>
            <a:off x="5107691" y="3924139"/>
            <a:ext cx="2386584" cy="261610"/>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600"/>
              </a:spcBef>
              <a:spcAft>
                <a:spcPts val="0"/>
              </a:spcAft>
              <a:buSzPts val="1100"/>
              <a:buNone/>
              <a:defRPr sz="1100">
                <a:solidFill>
                  <a:schemeClr val="dk2"/>
                </a:solidFill>
              </a:defRPr>
            </a:lvl1pPr>
            <a:lvl2pPr marL="914400" lvl="1" indent="-228600" algn="l">
              <a:lnSpc>
                <a:spcPct val="100000"/>
              </a:lnSpc>
              <a:spcBef>
                <a:spcPts val="600"/>
              </a:spcBef>
              <a:spcAft>
                <a:spcPts val="0"/>
              </a:spcAft>
              <a:buSzPts val="1800"/>
              <a:buNone/>
              <a:defRPr/>
            </a:lvl2pPr>
            <a:lvl3pPr marL="1371600" lvl="2" indent="-228600" algn="l">
              <a:lnSpc>
                <a:spcPct val="100000"/>
              </a:lnSpc>
              <a:spcBef>
                <a:spcPts val="600"/>
              </a:spcBef>
              <a:spcAft>
                <a:spcPts val="0"/>
              </a:spcAft>
              <a:buSzPts val="1800"/>
              <a:buNone/>
              <a:defRPr/>
            </a:lvl3pPr>
            <a:lvl4pPr marL="1828800" lvl="3" indent="-342900" algn="l">
              <a:spcBef>
                <a:spcPts val="60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Intro_Three">
  <p:cSld name="Intro_Three">
    <p:spTree>
      <p:nvGrpSpPr>
        <p:cNvPr id="1" name="Shape 215"/>
        <p:cNvGrpSpPr/>
        <p:nvPr/>
      </p:nvGrpSpPr>
      <p:grpSpPr>
        <a:xfrm>
          <a:off x="0" y="0"/>
          <a:ext cx="0" cy="0"/>
          <a:chOff x="0" y="0"/>
          <a:chExt cx="0" cy="0"/>
        </a:xfrm>
      </p:grpSpPr>
      <p:pic>
        <p:nvPicPr>
          <p:cNvPr id="216" name="Google Shape;216;p38"/>
          <p:cNvPicPr preferRelativeResize="0"/>
          <p:nvPr/>
        </p:nvPicPr>
        <p:blipFill rotWithShape="1">
          <a:blip r:embed="rId2">
            <a:alphaModFix/>
          </a:blip>
          <a:srcRect r="18630" b="18082"/>
          <a:stretch/>
        </p:blipFill>
        <p:spPr>
          <a:xfrm>
            <a:off x="0" y="0"/>
            <a:ext cx="9144000" cy="5143500"/>
          </a:xfrm>
          <a:prstGeom prst="rect">
            <a:avLst/>
          </a:prstGeom>
          <a:noFill/>
          <a:ln>
            <a:noFill/>
          </a:ln>
        </p:spPr>
      </p:pic>
      <p:sp>
        <p:nvSpPr>
          <p:cNvPr id="217" name="Google Shape;217;p38"/>
          <p:cNvSpPr>
            <a:spLocks noGrp="1"/>
          </p:cNvSpPr>
          <p:nvPr>
            <p:ph type="pic" idx="2"/>
          </p:nvPr>
        </p:nvSpPr>
        <p:spPr>
          <a:xfrm>
            <a:off x="925128" y="1260376"/>
            <a:ext cx="1830123" cy="1828800"/>
          </a:xfrm>
          <a:prstGeom prst="roundRect">
            <a:avLst>
              <a:gd name="adj" fmla="val 2520"/>
            </a:avLst>
          </a:prstGeom>
          <a:solidFill>
            <a:srgbClr val="7D8B99"/>
          </a:solidFill>
          <a:ln w="19050" cap="flat" cmpd="sng">
            <a:solidFill>
              <a:schemeClr val="lt1"/>
            </a:solidFill>
            <a:prstDash val="solid"/>
            <a:round/>
            <a:headEnd type="none" w="sm" len="sm"/>
            <a:tailEnd type="none" w="sm" len="sm"/>
          </a:ln>
        </p:spPr>
      </p:sp>
      <p:sp>
        <p:nvSpPr>
          <p:cNvPr id="218" name="Google Shape;218;p38"/>
          <p:cNvSpPr>
            <a:spLocks noGrp="1"/>
          </p:cNvSpPr>
          <p:nvPr>
            <p:ph type="pic" idx="3"/>
          </p:nvPr>
        </p:nvSpPr>
        <p:spPr>
          <a:xfrm>
            <a:off x="6463571" y="1260376"/>
            <a:ext cx="1830123" cy="1828800"/>
          </a:xfrm>
          <a:prstGeom prst="roundRect">
            <a:avLst>
              <a:gd name="adj" fmla="val 2520"/>
            </a:avLst>
          </a:prstGeom>
          <a:solidFill>
            <a:srgbClr val="7D8B99"/>
          </a:solidFill>
          <a:ln w="19050" cap="flat" cmpd="sng">
            <a:solidFill>
              <a:schemeClr val="lt1"/>
            </a:solidFill>
            <a:prstDash val="solid"/>
            <a:round/>
            <a:headEnd type="none" w="sm" len="sm"/>
            <a:tailEnd type="none" w="sm" len="sm"/>
          </a:ln>
        </p:spPr>
      </p:sp>
      <p:sp>
        <p:nvSpPr>
          <p:cNvPr id="219" name="Google Shape;219;p38"/>
          <p:cNvSpPr>
            <a:spLocks noGrp="1"/>
          </p:cNvSpPr>
          <p:nvPr>
            <p:ph type="pic" idx="4"/>
          </p:nvPr>
        </p:nvSpPr>
        <p:spPr>
          <a:xfrm>
            <a:off x="3651457" y="1260376"/>
            <a:ext cx="1830123" cy="1828800"/>
          </a:xfrm>
          <a:prstGeom prst="roundRect">
            <a:avLst>
              <a:gd name="adj" fmla="val 2520"/>
            </a:avLst>
          </a:prstGeom>
          <a:solidFill>
            <a:srgbClr val="7D8B99"/>
          </a:solidFill>
          <a:ln w="19050" cap="flat" cmpd="sng">
            <a:solidFill>
              <a:schemeClr val="lt1"/>
            </a:solidFill>
            <a:prstDash val="solid"/>
            <a:round/>
            <a:headEnd type="none" w="sm" len="sm"/>
            <a:tailEnd type="none" w="sm" len="sm"/>
          </a:ln>
        </p:spPr>
      </p:sp>
      <p:sp>
        <p:nvSpPr>
          <p:cNvPr id="220" name="Google Shape;220;p38"/>
          <p:cNvSpPr txBox="1">
            <a:spLocks noGrp="1"/>
          </p:cNvSpPr>
          <p:nvPr>
            <p:ph type="ftr" idx="11"/>
          </p:nvPr>
        </p:nvSpPr>
        <p:spPr>
          <a:xfrm>
            <a:off x="27432" y="4818888"/>
            <a:ext cx="2205318"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888C9E"/>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21" name="Google Shape;221;p38"/>
          <p:cNvSpPr txBox="1">
            <a:spLocks noGrp="1"/>
          </p:cNvSpPr>
          <p:nvPr>
            <p:ph type="body" idx="1"/>
          </p:nvPr>
        </p:nvSpPr>
        <p:spPr>
          <a:xfrm>
            <a:off x="469447" y="3218207"/>
            <a:ext cx="2743200" cy="338554"/>
          </a:xfrm>
          <a:prstGeom prst="rect">
            <a:avLst/>
          </a:prstGeom>
          <a:noFill/>
          <a:ln>
            <a:noFill/>
          </a:ln>
        </p:spPr>
        <p:txBody>
          <a:bodyPr spcFirstLastPara="1" wrap="square" lIns="91425" tIns="45700" rIns="91425" bIns="45700" anchor="b" anchorCtr="0">
            <a:spAutoFit/>
          </a:bodyPr>
          <a:lstStyle>
            <a:lvl1pPr marL="457200" lvl="0" indent="-228600" algn="ctr">
              <a:lnSpc>
                <a:spcPct val="100000"/>
              </a:lnSpc>
              <a:spcBef>
                <a:spcPts val="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2" name="Google Shape;222;p38"/>
          <p:cNvSpPr txBox="1">
            <a:spLocks noGrp="1"/>
          </p:cNvSpPr>
          <p:nvPr>
            <p:ph type="body" idx="5"/>
          </p:nvPr>
        </p:nvSpPr>
        <p:spPr>
          <a:xfrm>
            <a:off x="469447" y="3506871"/>
            <a:ext cx="2743200" cy="276999"/>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200"/>
              <a:buFont typeface="Archivo Light"/>
              <a:buNone/>
              <a:defRPr sz="1200">
                <a:solidFill>
                  <a:schemeClr val="dk1"/>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38"/>
          <p:cNvSpPr txBox="1">
            <a:spLocks noGrp="1"/>
          </p:cNvSpPr>
          <p:nvPr>
            <p:ph type="body" idx="6"/>
          </p:nvPr>
        </p:nvSpPr>
        <p:spPr>
          <a:xfrm>
            <a:off x="469447" y="3812884"/>
            <a:ext cx="2743200" cy="261610"/>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100"/>
              <a:buFont typeface="Archivo Light"/>
              <a:buNone/>
              <a:defRPr sz="1100">
                <a:solidFill>
                  <a:schemeClr val="dk2"/>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4" name="Google Shape;224;p38"/>
          <p:cNvSpPr txBox="1">
            <a:spLocks noGrp="1"/>
          </p:cNvSpPr>
          <p:nvPr>
            <p:ph type="body" idx="7"/>
          </p:nvPr>
        </p:nvSpPr>
        <p:spPr>
          <a:xfrm>
            <a:off x="3194919" y="3218207"/>
            <a:ext cx="2743200" cy="338554"/>
          </a:xfrm>
          <a:prstGeom prst="rect">
            <a:avLst/>
          </a:prstGeom>
          <a:noFill/>
          <a:ln>
            <a:noFill/>
          </a:ln>
        </p:spPr>
        <p:txBody>
          <a:bodyPr spcFirstLastPara="1" wrap="square" lIns="91425" tIns="45700" rIns="91425" bIns="45700" anchor="b" anchorCtr="0">
            <a:spAutoFit/>
          </a:bodyPr>
          <a:lstStyle>
            <a:lvl1pPr marL="457200" lvl="0" indent="-228600" algn="ctr">
              <a:lnSpc>
                <a:spcPct val="100000"/>
              </a:lnSpc>
              <a:spcBef>
                <a:spcPts val="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5" name="Google Shape;225;p38"/>
          <p:cNvSpPr txBox="1">
            <a:spLocks noGrp="1"/>
          </p:cNvSpPr>
          <p:nvPr>
            <p:ph type="body" idx="8"/>
          </p:nvPr>
        </p:nvSpPr>
        <p:spPr>
          <a:xfrm>
            <a:off x="3194919" y="3506871"/>
            <a:ext cx="2743200" cy="276999"/>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200"/>
              <a:buFont typeface="Archivo Light"/>
              <a:buNone/>
              <a:defRPr sz="1200">
                <a:solidFill>
                  <a:schemeClr val="dk1"/>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6" name="Google Shape;226;p38"/>
          <p:cNvSpPr txBox="1">
            <a:spLocks noGrp="1"/>
          </p:cNvSpPr>
          <p:nvPr>
            <p:ph type="body" idx="9"/>
          </p:nvPr>
        </p:nvSpPr>
        <p:spPr>
          <a:xfrm>
            <a:off x="3194919" y="3812884"/>
            <a:ext cx="2743200" cy="261610"/>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100"/>
              <a:buFont typeface="Archivo Light"/>
              <a:buNone/>
              <a:defRPr sz="1100">
                <a:solidFill>
                  <a:schemeClr val="dk2"/>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7" name="Google Shape;227;p38"/>
          <p:cNvSpPr txBox="1">
            <a:spLocks noGrp="1"/>
          </p:cNvSpPr>
          <p:nvPr>
            <p:ph type="body" idx="13"/>
          </p:nvPr>
        </p:nvSpPr>
        <p:spPr>
          <a:xfrm>
            <a:off x="6007033" y="3218207"/>
            <a:ext cx="2743200" cy="338554"/>
          </a:xfrm>
          <a:prstGeom prst="rect">
            <a:avLst/>
          </a:prstGeom>
          <a:noFill/>
          <a:ln>
            <a:noFill/>
          </a:ln>
        </p:spPr>
        <p:txBody>
          <a:bodyPr spcFirstLastPara="1" wrap="square" lIns="91425" tIns="45700" rIns="91425" bIns="45700" anchor="b" anchorCtr="0">
            <a:spAutoFit/>
          </a:bodyPr>
          <a:lstStyle>
            <a:lvl1pPr marL="457200" lvl="0" indent="-228600" algn="ctr">
              <a:lnSpc>
                <a:spcPct val="100000"/>
              </a:lnSpc>
              <a:spcBef>
                <a:spcPts val="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8" name="Google Shape;228;p38"/>
          <p:cNvSpPr txBox="1">
            <a:spLocks noGrp="1"/>
          </p:cNvSpPr>
          <p:nvPr>
            <p:ph type="body" idx="14"/>
          </p:nvPr>
        </p:nvSpPr>
        <p:spPr>
          <a:xfrm>
            <a:off x="6007033" y="3506871"/>
            <a:ext cx="2743200" cy="276999"/>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200"/>
              <a:buFont typeface="Archivo Light"/>
              <a:buNone/>
              <a:defRPr sz="1200">
                <a:solidFill>
                  <a:schemeClr val="dk1"/>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9" name="Google Shape;229;p38"/>
          <p:cNvSpPr txBox="1">
            <a:spLocks noGrp="1"/>
          </p:cNvSpPr>
          <p:nvPr>
            <p:ph type="body" idx="15"/>
          </p:nvPr>
        </p:nvSpPr>
        <p:spPr>
          <a:xfrm>
            <a:off x="6007033" y="3812884"/>
            <a:ext cx="2743200" cy="261610"/>
          </a:xfrm>
          <a:prstGeom prst="rect">
            <a:avLst/>
          </a:prstGeom>
          <a:noFill/>
          <a:ln>
            <a:noFill/>
          </a:ln>
        </p:spPr>
        <p:txBody>
          <a:bodyPr spcFirstLastPara="1" wrap="square" lIns="91425" tIns="45700" rIns="91425" bIns="45700" anchor="t" anchorCtr="0">
            <a:spAutoFit/>
          </a:bodyPr>
          <a:lstStyle>
            <a:lvl1pPr marL="457200" lvl="0" indent="-228600" algn="ctr">
              <a:lnSpc>
                <a:spcPct val="100000"/>
              </a:lnSpc>
              <a:spcBef>
                <a:spcPts val="0"/>
              </a:spcBef>
              <a:spcAft>
                <a:spcPts val="0"/>
              </a:spcAft>
              <a:buSzPts val="1100"/>
              <a:buFont typeface="Archivo Light"/>
              <a:buNone/>
              <a:defRPr sz="1100">
                <a:solidFill>
                  <a:schemeClr val="dk2"/>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Intro_Four">
  <p:cSld name="Intro_Four">
    <p:spTree>
      <p:nvGrpSpPr>
        <p:cNvPr id="1" name="Shape 230"/>
        <p:cNvGrpSpPr/>
        <p:nvPr/>
      </p:nvGrpSpPr>
      <p:grpSpPr>
        <a:xfrm>
          <a:off x="0" y="0"/>
          <a:ext cx="0" cy="0"/>
          <a:chOff x="0" y="0"/>
          <a:chExt cx="0" cy="0"/>
        </a:xfrm>
      </p:grpSpPr>
      <p:pic>
        <p:nvPicPr>
          <p:cNvPr id="231" name="Google Shape;231;p39"/>
          <p:cNvPicPr preferRelativeResize="0"/>
          <p:nvPr/>
        </p:nvPicPr>
        <p:blipFill rotWithShape="1">
          <a:blip r:embed="rId2">
            <a:alphaModFix/>
          </a:blip>
          <a:srcRect r="18630" b="18082"/>
          <a:stretch/>
        </p:blipFill>
        <p:spPr>
          <a:xfrm>
            <a:off x="-1" y="0"/>
            <a:ext cx="9144001" cy="5143500"/>
          </a:xfrm>
          <a:prstGeom prst="rect">
            <a:avLst/>
          </a:prstGeom>
          <a:noFill/>
          <a:ln>
            <a:noFill/>
          </a:ln>
        </p:spPr>
      </p:pic>
      <p:sp>
        <p:nvSpPr>
          <p:cNvPr id="232" name="Google Shape;232;p39"/>
          <p:cNvSpPr>
            <a:spLocks noGrp="1"/>
          </p:cNvSpPr>
          <p:nvPr>
            <p:ph type="pic" idx="2"/>
          </p:nvPr>
        </p:nvSpPr>
        <p:spPr>
          <a:xfrm>
            <a:off x="659684" y="788803"/>
            <a:ext cx="1509854" cy="1508760"/>
          </a:xfrm>
          <a:prstGeom prst="roundRect">
            <a:avLst>
              <a:gd name="adj" fmla="val 2878"/>
            </a:avLst>
          </a:prstGeom>
          <a:solidFill>
            <a:srgbClr val="7D8B99"/>
          </a:solidFill>
          <a:ln w="19050" cap="flat" cmpd="sng">
            <a:solidFill>
              <a:schemeClr val="lt1"/>
            </a:solidFill>
            <a:prstDash val="solid"/>
            <a:round/>
            <a:headEnd type="none" w="sm" len="sm"/>
            <a:tailEnd type="none" w="sm" len="sm"/>
          </a:ln>
        </p:spPr>
      </p:sp>
      <p:sp>
        <p:nvSpPr>
          <p:cNvPr id="233" name="Google Shape;233;p39"/>
          <p:cNvSpPr>
            <a:spLocks noGrp="1"/>
          </p:cNvSpPr>
          <p:nvPr>
            <p:ph type="pic" idx="3"/>
          </p:nvPr>
        </p:nvSpPr>
        <p:spPr>
          <a:xfrm>
            <a:off x="659395" y="2880110"/>
            <a:ext cx="1509854" cy="1508760"/>
          </a:xfrm>
          <a:prstGeom prst="roundRect">
            <a:avLst>
              <a:gd name="adj" fmla="val 2878"/>
            </a:avLst>
          </a:prstGeom>
          <a:solidFill>
            <a:srgbClr val="7D8B99"/>
          </a:solidFill>
          <a:ln w="19050" cap="flat" cmpd="sng">
            <a:solidFill>
              <a:schemeClr val="lt1"/>
            </a:solidFill>
            <a:prstDash val="solid"/>
            <a:round/>
            <a:headEnd type="none" w="sm" len="sm"/>
            <a:tailEnd type="none" w="sm" len="sm"/>
          </a:ln>
        </p:spPr>
      </p:sp>
      <p:sp>
        <p:nvSpPr>
          <p:cNvPr id="234" name="Google Shape;234;p39"/>
          <p:cNvSpPr>
            <a:spLocks noGrp="1"/>
          </p:cNvSpPr>
          <p:nvPr>
            <p:ph type="pic" idx="4"/>
          </p:nvPr>
        </p:nvSpPr>
        <p:spPr>
          <a:xfrm>
            <a:off x="4609129" y="788803"/>
            <a:ext cx="1509854" cy="1508760"/>
          </a:xfrm>
          <a:prstGeom prst="roundRect">
            <a:avLst>
              <a:gd name="adj" fmla="val 2878"/>
            </a:avLst>
          </a:prstGeom>
          <a:solidFill>
            <a:srgbClr val="7D8B99"/>
          </a:solidFill>
          <a:ln w="19050" cap="flat" cmpd="sng">
            <a:solidFill>
              <a:schemeClr val="lt1"/>
            </a:solidFill>
            <a:prstDash val="solid"/>
            <a:round/>
            <a:headEnd type="none" w="sm" len="sm"/>
            <a:tailEnd type="none" w="sm" len="sm"/>
          </a:ln>
        </p:spPr>
      </p:sp>
      <p:sp>
        <p:nvSpPr>
          <p:cNvPr id="235" name="Google Shape;235;p39"/>
          <p:cNvSpPr txBox="1">
            <a:spLocks noGrp="1"/>
          </p:cNvSpPr>
          <p:nvPr>
            <p:ph type="ftr" idx="11"/>
          </p:nvPr>
        </p:nvSpPr>
        <p:spPr>
          <a:xfrm>
            <a:off x="27432" y="4818888"/>
            <a:ext cx="2205318"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888C9E"/>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6" name="Google Shape;236;p39"/>
          <p:cNvSpPr txBox="1">
            <a:spLocks noGrp="1"/>
          </p:cNvSpPr>
          <p:nvPr>
            <p:ph type="body" idx="1"/>
          </p:nvPr>
        </p:nvSpPr>
        <p:spPr>
          <a:xfrm>
            <a:off x="2249424" y="1106424"/>
            <a:ext cx="2048256" cy="338554"/>
          </a:xfrm>
          <a:prstGeom prst="rect">
            <a:avLst/>
          </a:prstGeom>
          <a:noFill/>
          <a:ln>
            <a:noFill/>
          </a:ln>
        </p:spPr>
        <p:txBody>
          <a:bodyPr spcFirstLastPara="1" wrap="square" lIns="91425" tIns="45700" rIns="91425" bIns="45700" anchor="b" anchorCtr="0">
            <a:spAutoFit/>
          </a:bodyPr>
          <a:lstStyle>
            <a:lvl1pPr marL="457200" lvl="0" indent="-228600" algn="l">
              <a:lnSpc>
                <a:spcPct val="100000"/>
              </a:lnSpc>
              <a:spcBef>
                <a:spcPts val="60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7" name="Google Shape;237;p39"/>
          <p:cNvSpPr txBox="1">
            <a:spLocks noGrp="1"/>
          </p:cNvSpPr>
          <p:nvPr>
            <p:ph type="body" idx="5"/>
          </p:nvPr>
        </p:nvSpPr>
        <p:spPr>
          <a:xfrm>
            <a:off x="2249424" y="1371600"/>
            <a:ext cx="2048256" cy="276999"/>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1200"/>
              <a:buFont typeface="Archivo Light"/>
              <a:buNone/>
              <a:defRPr sz="1200">
                <a:solidFill>
                  <a:schemeClr val="dk1"/>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8" name="Google Shape;238;p39"/>
          <p:cNvSpPr txBox="1">
            <a:spLocks noGrp="1"/>
          </p:cNvSpPr>
          <p:nvPr>
            <p:ph type="body" idx="6"/>
          </p:nvPr>
        </p:nvSpPr>
        <p:spPr>
          <a:xfrm>
            <a:off x="2249424" y="1661962"/>
            <a:ext cx="2048256" cy="2308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900"/>
              <a:buFont typeface="Archivo Light"/>
              <a:buNone/>
              <a:defRPr sz="900">
                <a:solidFill>
                  <a:schemeClr val="dk2"/>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9" name="Google Shape;239;p39"/>
          <p:cNvSpPr txBox="1">
            <a:spLocks noGrp="1"/>
          </p:cNvSpPr>
          <p:nvPr>
            <p:ph type="body" idx="7"/>
          </p:nvPr>
        </p:nvSpPr>
        <p:spPr>
          <a:xfrm>
            <a:off x="2249424" y="3200400"/>
            <a:ext cx="2048256" cy="338554"/>
          </a:xfrm>
          <a:prstGeom prst="rect">
            <a:avLst/>
          </a:prstGeom>
          <a:noFill/>
          <a:ln>
            <a:noFill/>
          </a:ln>
        </p:spPr>
        <p:txBody>
          <a:bodyPr spcFirstLastPara="1" wrap="square" lIns="91425" tIns="45700" rIns="91425" bIns="45700" anchor="b" anchorCtr="0">
            <a:spAutoFit/>
          </a:bodyPr>
          <a:lstStyle>
            <a:lvl1pPr marL="457200" lvl="0" indent="-228600" algn="l">
              <a:lnSpc>
                <a:spcPct val="100000"/>
              </a:lnSpc>
              <a:spcBef>
                <a:spcPts val="60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39"/>
          <p:cNvSpPr txBox="1">
            <a:spLocks noGrp="1"/>
          </p:cNvSpPr>
          <p:nvPr>
            <p:ph type="body" idx="8"/>
          </p:nvPr>
        </p:nvSpPr>
        <p:spPr>
          <a:xfrm>
            <a:off x="2249424" y="3456432"/>
            <a:ext cx="2048256" cy="276999"/>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1200"/>
              <a:buFont typeface="Archivo Light"/>
              <a:buNone/>
              <a:defRPr sz="1200">
                <a:solidFill>
                  <a:schemeClr val="dk1"/>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1" name="Google Shape;241;p39"/>
          <p:cNvSpPr txBox="1">
            <a:spLocks noGrp="1"/>
          </p:cNvSpPr>
          <p:nvPr>
            <p:ph type="body" idx="9"/>
          </p:nvPr>
        </p:nvSpPr>
        <p:spPr>
          <a:xfrm>
            <a:off x="2249424" y="3755938"/>
            <a:ext cx="2048256" cy="2308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900"/>
              <a:buFont typeface="Archivo Light"/>
              <a:buNone/>
              <a:defRPr sz="900">
                <a:solidFill>
                  <a:schemeClr val="dk2"/>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2" name="Google Shape;242;p39"/>
          <p:cNvSpPr txBox="1">
            <a:spLocks noGrp="1"/>
          </p:cNvSpPr>
          <p:nvPr>
            <p:ph type="body" idx="13"/>
          </p:nvPr>
        </p:nvSpPr>
        <p:spPr>
          <a:xfrm>
            <a:off x="6202124" y="1106424"/>
            <a:ext cx="2048256" cy="338554"/>
          </a:xfrm>
          <a:prstGeom prst="rect">
            <a:avLst/>
          </a:prstGeom>
          <a:noFill/>
          <a:ln>
            <a:noFill/>
          </a:ln>
        </p:spPr>
        <p:txBody>
          <a:bodyPr spcFirstLastPara="1" wrap="square" lIns="91425" tIns="45700" rIns="91425" bIns="45700" anchor="b" anchorCtr="0">
            <a:spAutoFit/>
          </a:bodyPr>
          <a:lstStyle>
            <a:lvl1pPr marL="457200" lvl="0" indent="-228600" algn="l">
              <a:lnSpc>
                <a:spcPct val="100000"/>
              </a:lnSpc>
              <a:spcBef>
                <a:spcPts val="60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3" name="Google Shape;243;p39"/>
          <p:cNvSpPr txBox="1">
            <a:spLocks noGrp="1"/>
          </p:cNvSpPr>
          <p:nvPr>
            <p:ph type="body" idx="14"/>
          </p:nvPr>
        </p:nvSpPr>
        <p:spPr>
          <a:xfrm>
            <a:off x="6202124" y="1371600"/>
            <a:ext cx="2048256" cy="276999"/>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1200"/>
              <a:buFont typeface="Archivo Light"/>
              <a:buNone/>
              <a:defRPr sz="1200">
                <a:solidFill>
                  <a:schemeClr val="dk1"/>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4" name="Google Shape;244;p39"/>
          <p:cNvSpPr txBox="1">
            <a:spLocks noGrp="1"/>
          </p:cNvSpPr>
          <p:nvPr>
            <p:ph type="body" idx="15"/>
          </p:nvPr>
        </p:nvSpPr>
        <p:spPr>
          <a:xfrm>
            <a:off x="6202124" y="1661962"/>
            <a:ext cx="2048256" cy="2308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900"/>
              <a:buFont typeface="Archivo Light"/>
              <a:buNone/>
              <a:defRPr sz="900">
                <a:solidFill>
                  <a:schemeClr val="dk2"/>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5" name="Google Shape;245;p39"/>
          <p:cNvSpPr>
            <a:spLocks noGrp="1"/>
          </p:cNvSpPr>
          <p:nvPr>
            <p:ph type="pic" idx="16"/>
          </p:nvPr>
        </p:nvSpPr>
        <p:spPr>
          <a:xfrm>
            <a:off x="4609129" y="2880399"/>
            <a:ext cx="1509854" cy="1508760"/>
          </a:xfrm>
          <a:prstGeom prst="roundRect">
            <a:avLst>
              <a:gd name="adj" fmla="val 2878"/>
            </a:avLst>
          </a:prstGeom>
          <a:solidFill>
            <a:srgbClr val="7D8B99"/>
          </a:solidFill>
          <a:ln w="19050" cap="flat" cmpd="sng">
            <a:solidFill>
              <a:schemeClr val="lt1"/>
            </a:solidFill>
            <a:prstDash val="solid"/>
            <a:round/>
            <a:headEnd type="none" w="sm" len="sm"/>
            <a:tailEnd type="none" w="sm" len="sm"/>
          </a:ln>
        </p:spPr>
      </p:sp>
      <p:sp>
        <p:nvSpPr>
          <p:cNvPr id="246" name="Google Shape;246;p39"/>
          <p:cNvSpPr txBox="1">
            <a:spLocks noGrp="1"/>
          </p:cNvSpPr>
          <p:nvPr>
            <p:ph type="body" idx="17"/>
          </p:nvPr>
        </p:nvSpPr>
        <p:spPr>
          <a:xfrm>
            <a:off x="6202124" y="3200400"/>
            <a:ext cx="2048256" cy="338554"/>
          </a:xfrm>
          <a:prstGeom prst="rect">
            <a:avLst/>
          </a:prstGeom>
          <a:noFill/>
          <a:ln>
            <a:noFill/>
          </a:ln>
        </p:spPr>
        <p:txBody>
          <a:bodyPr spcFirstLastPara="1" wrap="square" lIns="91425" tIns="45700" rIns="91425" bIns="45700" anchor="b" anchorCtr="0">
            <a:spAutoFit/>
          </a:bodyPr>
          <a:lstStyle>
            <a:lvl1pPr marL="457200" lvl="0" indent="-228600" algn="l">
              <a:lnSpc>
                <a:spcPct val="100000"/>
              </a:lnSpc>
              <a:spcBef>
                <a:spcPts val="600"/>
              </a:spcBef>
              <a:spcAft>
                <a:spcPts val="0"/>
              </a:spcAft>
              <a:buSzPts val="1600"/>
              <a:buFont typeface="Archivo"/>
              <a:buNone/>
              <a:defRPr sz="1600" b="1" i="0">
                <a:solidFill>
                  <a:schemeClr val="dk1"/>
                </a:solidFill>
                <a:latin typeface="Archivo"/>
                <a:ea typeface="Archivo"/>
                <a:cs typeface="Archivo"/>
                <a:sym typeface="Archivo"/>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7" name="Google Shape;247;p39"/>
          <p:cNvSpPr txBox="1">
            <a:spLocks noGrp="1"/>
          </p:cNvSpPr>
          <p:nvPr>
            <p:ph type="body" idx="18"/>
          </p:nvPr>
        </p:nvSpPr>
        <p:spPr>
          <a:xfrm>
            <a:off x="6202124" y="3456432"/>
            <a:ext cx="2048256" cy="276999"/>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1200"/>
              <a:buFont typeface="Archivo Light"/>
              <a:buNone/>
              <a:defRPr sz="1200">
                <a:solidFill>
                  <a:schemeClr val="dk1"/>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39"/>
          <p:cNvSpPr txBox="1">
            <a:spLocks noGrp="1"/>
          </p:cNvSpPr>
          <p:nvPr>
            <p:ph type="body" idx="19"/>
          </p:nvPr>
        </p:nvSpPr>
        <p:spPr>
          <a:xfrm>
            <a:off x="6202124" y="3755938"/>
            <a:ext cx="2048256" cy="2308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600"/>
              </a:spcBef>
              <a:spcAft>
                <a:spcPts val="0"/>
              </a:spcAft>
              <a:buSzPts val="900"/>
              <a:buFont typeface="Archivo Light"/>
              <a:buNone/>
              <a:defRPr sz="900">
                <a:solidFill>
                  <a:schemeClr val="dk2"/>
                </a:solidFill>
              </a:defRPr>
            </a:lvl1pPr>
            <a:lvl2pPr marL="914400" lvl="1" indent="-228600" algn="l">
              <a:lnSpc>
                <a:spcPct val="100000"/>
              </a:lnSpc>
              <a:spcBef>
                <a:spcPts val="600"/>
              </a:spcBef>
              <a:spcAft>
                <a:spcPts val="0"/>
              </a:spcAft>
              <a:buSzPts val="1100"/>
              <a:buFont typeface="Archivo Light"/>
              <a:buNone/>
              <a:defRPr sz="1100"/>
            </a:lvl2pPr>
            <a:lvl3pPr marL="1371600" lvl="2" indent="-228600" algn="l">
              <a:lnSpc>
                <a:spcPct val="100000"/>
              </a:lnSpc>
              <a:spcBef>
                <a:spcPts val="600"/>
              </a:spcBef>
              <a:spcAft>
                <a:spcPts val="0"/>
              </a:spcAft>
              <a:buSzPts val="1100"/>
              <a:buFont typeface="Archivo Light"/>
              <a:buNone/>
              <a:defRPr sz="1100"/>
            </a:lvl3pPr>
            <a:lvl4pPr marL="1828800" lvl="3" indent="-228600" algn="l">
              <a:spcBef>
                <a:spcPts val="60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_Alt">
  <p:cSld name="Title Only_Alt">
    <p:spTree>
      <p:nvGrpSpPr>
        <p:cNvPr id="1" name="Shape 249"/>
        <p:cNvGrpSpPr/>
        <p:nvPr/>
      </p:nvGrpSpPr>
      <p:grpSpPr>
        <a:xfrm>
          <a:off x="0" y="0"/>
          <a:ext cx="0" cy="0"/>
          <a:chOff x="0" y="0"/>
          <a:chExt cx="0" cy="0"/>
        </a:xfrm>
      </p:grpSpPr>
      <p:pic>
        <p:nvPicPr>
          <p:cNvPr id="250" name="Google Shape;250;p40"/>
          <p:cNvPicPr preferRelativeResize="0"/>
          <p:nvPr/>
        </p:nvPicPr>
        <p:blipFill rotWithShape="1">
          <a:blip r:embed="rId2">
            <a:alphaModFix/>
          </a:blip>
          <a:srcRect b="38102"/>
          <a:stretch/>
        </p:blipFill>
        <p:spPr>
          <a:xfrm>
            <a:off x="0" y="1"/>
            <a:ext cx="9144000" cy="5143500"/>
          </a:xfrm>
          <a:prstGeom prst="rect">
            <a:avLst/>
          </a:prstGeom>
          <a:noFill/>
          <a:ln>
            <a:noFill/>
          </a:ln>
        </p:spPr>
      </p:pic>
      <p:sp>
        <p:nvSpPr>
          <p:cNvPr id="251" name="Google Shape;251;p40"/>
          <p:cNvSpPr txBox="1">
            <a:spLocks noGrp="1"/>
          </p:cNvSpPr>
          <p:nvPr>
            <p:ph type="title"/>
          </p:nvPr>
        </p:nvSpPr>
        <p:spPr>
          <a:xfrm>
            <a:off x="457200" y="374904"/>
            <a:ext cx="8229600" cy="4801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2" name="Google Shape;252;p40"/>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2 Headline_Alt">
  <p:cSld name="1/2 Headline_Alt">
    <p:spTree>
      <p:nvGrpSpPr>
        <p:cNvPr id="1" name="Shape 253"/>
        <p:cNvGrpSpPr/>
        <p:nvPr/>
      </p:nvGrpSpPr>
      <p:grpSpPr>
        <a:xfrm>
          <a:off x="0" y="0"/>
          <a:ext cx="0" cy="0"/>
          <a:chOff x="0" y="0"/>
          <a:chExt cx="0" cy="0"/>
        </a:xfrm>
      </p:grpSpPr>
      <p:pic>
        <p:nvPicPr>
          <p:cNvPr id="254" name="Google Shape;254;p41"/>
          <p:cNvPicPr preferRelativeResize="0"/>
          <p:nvPr/>
        </p:nvPicPr>
        <p:blipFill rotWithShape="1">
          <a:blip r:embed="rId2">
            <a:alphaModFix/>
          </a:blip>
          <a:srcRect b="38102"/>
          <a:stretch/>
        </p:blipFill>
        <p:spPr>
          <a:xfrm>
            <a:off x="0" y="1"/>
            <a:ext cx="9144000" cy="5143500"/>
          </a:xfrm>
          <a:prstGeom prst="rect">
            <a:avLst/>
          </a:prstGeom>
          <a:noFill/>
          <a:ln>
            <a:noFill/>
          </a:ln>
        </p:spPr>
      </p:pic>
      <p:sp>
        <p:nvSpPr>
          <p:cNvPr id="255" name="Google Shape;255;p41"/>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6" name="Google Shape;256;p41"/>
          <p:cNvSpPr txBox="1">
            <a:spLocks noGrp="1"/>
          </p:cNvSpPr>
          <p:nvPr>
            <p:ph type="title"/>
          </p:nvPr>
        </p:nvSpPr>
        <p:spPr>
          <a:xfrm>
            <a:off x="457200" y="374904"/>
            <a:ext cx="3383280" cy="867930"/>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3-Photos">
  <p:cSld name="3-Photos">
    <p:spTree>
      <p:nvGrpSpPr>
        <p:cNvPr id="1" name="Shape 257"/>
        <p:cNvGrpSpPr/>
        <p:nvPr/>
      </p:nvGrpSpPr>
      <p:grpSpPr>
        <a:xfrm>
          <a:off x="0" y="0"/>
          <a:ext cx="0" cy="0"/>
          <a:chOff x="0" y="0"/>
          <a:chExt cx="0" cy="0"/>
        </a:xfrm>
      </p:grpSpPr>
      <p:sp>
        <p:nvSpPr>
          <p:cNvPr id="258" name="Google Shape;258;p42"/>
          <p:cNvSpPr txBox="1">
            <a:spLocks noGrp="1"/>
          </p:cNvSpPr>
          <p:nvPr>
            <p:ph type="title"/>
          </p:nvPr>
        </p:nvSpPr>
        <p:spPr>
          <a:xfrm>
            <a:off x="457200" y="372745"/>
            <a:ext cx="8229600" cy="4801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2"/>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60" name="Google Shape;260;p42"/>
          <p:cNvSpPr>
            <a:spLocks noGrp="1"/>
          </p:cNvSpPr>
          <p:nvPr>
            <p:ph type="pic" idx="2"/>
          </p:nvPr>
        </p:nvSpPr>
        <p:spPr>
          <a:xfrm>
            <a:off x="3311087" y="1751834"/>
            <a:ext cx="2528798" cy="1785784"/>
          </a:xfrm>
          <a:prstGeom prst="roundRect">
            <a:avLst>
              <a:gd name="adj" fmla="val 1907"/>
            </a:avLst>
          </a:prstGeom>
          <a:solidFill>
            <a:srgbClr val="7D8B99"/>
          </a:solidFill>
          <a:ln>
            <a:noFill/>
          </a:ln>
        </p:spPr>
      </p:sp>
      <p:sp>
        <p:nvSpPr>
          <p:cNvPr id="261" name="Google Shape;261;p42"/>
          <p:cNvSpPr>
            <a:spLocks noGrp="1"/>
          </p:cNvSpPr>
          <p:nvPr>
            <p:ph type="pic" idx="3"/>
          </p:nvPr>
        </p:nvSpPr>
        <p:spPr>
          <a:xfrm>
            <a:off x="6063812" y="1751834"/>
            <a:ext cx="2528798" cy="1785784"/>
          </a:xfrm>
          <a:prstGeom prst="roundRect">
            <a:avLst>
              <a:gd name="adj" fmla="val 1907"/>
            </a:avLst>
          </a:prstGeom>
          <a:solidFill>
            <a:srgbClr val="7D8B99"/>
          </a:solidFill>
          <a:ln>
            <a:noFill/>
          </a:ln>
        </p:spPr>
      </p:sp>
      <p:sp>
        <p:nvSpPr>
          <p:cNvPr id="262" name="Google Shape;262;p42"/>
          <p:cNvSpPr>
            <a:spLocks noGrp="1"/>
          </p:cNvSpPr>
          <p:nvPr>
            <p:ph type="pic" idx="4"/>
          </p:nvPr>
        </p:nvSpPr>
        <p:spPr>
          <a:xfrm>
            <a:off x="548837" y="1751834"/>
            <a:ext cx="2528798" cy="1785784"/>
          </a:xfrm>
          <a:prstGeom prst="roundRect">
            <a:avLst>
              <a:gd name="adj" fmla="val 1907"/>
            </a:avLst>
          </a:prstGeom>
          <a:solidFill>
            <a:srgbClr val="7D8B99"/>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Photo-Left">
  <p:cSld name="Photo-Left">
    <p:spTree>
      <p:nvGrpSpPr>
        <p:cNvPr id="1" name="Shape 263"/>
        <p:cNvGrpSpPr/>
        <p:nvPr/>
      </p:nvGrpSpPr>
      <p:grpSpPr>
        <a:xfrm>
          <a:off x="0" y="0"/>
          <a:ext cx="0" cy="0"/>
          <a:chOff x="0" y="0"/>
          <a:chExt cx="0" cy="0"/>
        </a:xfrm>
      </p:grpSpPr>
      <p:sp>
        <p:nvSpPr>
          <p:cNvPr id="264" name="Google Shape;264;p43"/>
          <p:cNvSpPr>
            <a:spLocks noGrp="1"/>
          </p:cNvSpPr>
          <p:nvPr>
            <p:ph type="pic" idx="2"/>
          </p:nvPr>
        </p:nvSpPr>
        <p:spPr>
          <a:xfrm>
            <a:off x="0" y="0"/>
            <a:ext cx="3834758" cy="5143500"/>
          </a:xfrm>
          <a:prstGeom prst="rect">
            <a:avLst/>
          </a:prstGeom>
          <a:solidFill>
            <a:srgbClr val="7D8B99"/>
          </a:solidFill>
          <a:ln>
            <a:noFill/>
          </a:ln>
        </p:spPr>
      </p:sp>
      <p:sp>
        <p:nvSpPr>
          <p:cNvPr id="265" name="Google Shape;265;p43"/>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66" name="Google Shape;266;p43"/>
          <p:cNvSpPr txBox="1">
            <a:spLocks noGrp="1"/>
          </p:cNvSpPr>
          <p:nvPr>
            <p:ph type="title"/>
          </p:nvPr>
        </p:nvSpPr>
        <p:spPr>
          <a:xfrm>
            <a:off x="4280174" y="376428"/>
            <a:ext cx="4195572" cy="867930"/>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Photo-Right">
  <p:cSld name="Photo-Right">
    <p:spTree>
      <p:nvGrpSpPr>
        <p:cNvPr id="1" name="Shape 267"/>
        <p:cNvGrpSpPr/>
        <p:nvPr/>
      </p:nvGrpSpPr>
      <p:grpSpPr>
        <a:xfrm>
          <a:off x="0" y="0"/>
          <a:ext cx="0" cy="0"/>
          <a:chOff x="0" y="0"/>
          <a:chExt cx="0" cy="0"/>
        </a:xfrm>
      </p:grpSpPr>
      <p:sp>
        <p:nvSpPr>
          <p:cNvPr id="268" name="Google Shape;268;p44"/>
          <p:cNvSpPr>
            <a:spLocks noGrp="1"/>
          </p:cNvSpPr>
          <p:nvPr>
            <p:ph type="pic" idx="2"/>
          </p:nvPr>
        </p:nvSpPr>
        <p:spPr>
          <a:xfrm>
            <a:off x="5309242" y="0"/>
            <a:ext cx="3834758" cy="5143500"/>
          </a:xfrm>
          <a:prstGeom prst="rect">
            <a:avLst/>
          </a:prstGeom>
          <a:solidFill>
            <a:srgbClr val="7D8B99"/>
          </a:solidFill>
          <a:ln>
            <a:noFill/>
          </a:ln>
        </p:spPr>
      </p:sp>
      <p:sp>
        <p:nvSpPr>
          <p:cNvPr id="269" name="Google Shape;269;p44"/>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0" name="Google Shape;270;p44"/>
          <p:cNvSpPr txBox="1">
            <a:spLocks noGrp="1"/>
          </p:cNvSpPr>
          <p:nvPr>
            <p:ph type="title"/>
          </p:nvPr>
        </p:nvSpPr>
        <p:spPr>
          <a:xfrm>
            <a:off x="457200" y="374904"/>
            <a:ext cx="4187952" cy="867930"/>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Content ">
  <p:cSld name="Title and Content ">
    <p:spTree>
      <p:nvGrpSpPr>
        <p:cNvPr id="1" name="Shape 271"/>
        <p:cNvGrpSpPr/>
        <p:nvPr/>
      </p:nvGrpSpPr>
      <p:grpSpPr>
        <a:xfrm>
          <a:off x="0" y="0"/>
          <a:ext cx="0" cy="0"/>
          <a:chOff x="0" y="0"/>
          <a:chExt cx="0" cy="0"/>
        </a:xfrm>
      </p:grpSpPr>
      <p:sp>
        <p:nvSpPr>
          <p:cNvPr id="272" name="Google Shape;272;p45"/>
          <p:cNvSpPr txBox="1">
            <a:spLocks noGrp="1"/>
          </p:cNvSpPr>
          <p:nvPr>
            <p:ph type="body" idx="1"/>
          </p:nvPr>
        </p:nvSpPr>
        <p:spPr>
          <a:xfrm>
            <a:off x="457200" y="1225899"/>
            <a:ext cx="8229600" cy="3417542"/>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600"/>
              </a:spcBef>
              <a:spcAft>
                <a:spcPts val="0"/>
              </a:spcAft>
              <a:buClr>
                <a:schemeClr val="dk1"/>
              </a:buClr>
              <a:buSzPts val="2000"/>
              <a:buFont typeface="Arial"/>
              <a:buChar char="•"/>
              <a:defRPr sz="2000" b="0" i="0">
                <a:solidFill>
                  <a:schemeClr val="dk1"/>
                </a:solidFill>
                <a:latin typeface="Archivo Light"/>
                <a:ea typeface="Archivo Light"/>
                <a:cs typeface="Archivo Light"/>
                <a:sym typeface="Archivo Light"/>
              </a:defRPr>
            </a:lvl1pPr>
            <a:lvl2pPr marL="914400" lvl="1" indent="-330200" algn="l">
              <a:lnSpc>
                <a:spcPct val="100000"/>
              </a:lnSpc>
              <a:spcBef>
                <a:spcPts val="600"/>
              </a:spcBef>
              <a:spcAft>
                <a:spcPts val="0"/>
              </a:spcAft>
              <a:buClr>
                <a:schemeClr val="dk1"/>
              </a:buClr>
              <a:buSzPts val="1600"/>
              <a:buFont typeface="Arial"/>
              <a:buChar char="‒"/>
              <a:defRPr sz="1600" b="0" i="0">
                <a:solidFill>
                  <a:schemeClr val="dk1"/>
                </a:solidFill>
                <a:latin typeface="Archivo Light"/>
                <a:ea typeface="Archivo Light"/>
                <a:cs typeface="Archivo Light"/>
                <a:sym typeface="Archivo Light"/>
              </a:defRPr>
            </a:lvl2pPr>
            <a:lvl3pPr marL="1371600" lvl="2" indent="-317500" algn="l">
              <a:lnSpc>
                <a:spcPct val="100000"/>
              </a:lnSpc>
              <a:spcBef>
                <a:spcPts val="600"/>
              </a:spcBef>
              <a:spcAft>
                <a:spcPts val="0"/>
              </a:spcAft>
              <a:buClr>
                <a:schemeClr val="dk1"/>
              </a:buClr>
              <a:buSzPts val="1400"/>
              <a:buFont typeface="Noto Sans Symbols"/>
              <a:buChar char="▪"/>
              <a:defRPr sz="1400" b="0" i="0">
                <a:solidFill>
                  <a:schemeClr val="dk1"/>
                </a:solidFill>
                <a:latin typeface="Archivo Light"/>
                <a:ea typeface="Archivo Light"/>
                <a:cs typeface="Archivo Light"/>
                <a:sym typeface="Archivo Light"/>
              </a:defRPr>
            </a:lvl3pPr>
            <a:lvl4pPr marL="1828800" lvl="3" indent="-304800" algn="l">
              <a:spcBef>
                <a:spcPts val="600"/>
              </a:spcBef>
              <a:spcAft>
                <a:spcPts val="0"/>
              </a:spcAft>
              <a:buClr>
                <a:schemeClr val="dk1"/>
              </a:buClr>
              <a:buSzPts val="1200"/>
              <a:buFont typeface="Courier New"/>
              <a:buChar char="o"/>
              <a:defRPr sz="1200" b="0" i="0">
                <a:solidFill>
                  <a:schemeClr val="dk1"/>
                </a:solidFill>
                <a:latin typeface="Archivo Light"/>
                <a:ea typeface="Archivo Light"/>
                <a:cs typeface="Archivo Light"/>
                <a:sym typeface="Archivo Light"/>
              </a:defRPr>
            </a:lvl4pPr>
            <a:lvl5pPr marL="2286000" lvl="4" indent="-298450" algn="l">
              <a:spcBef>
                <a:spcPts val="600"/>
              </a:spcBef>
              <a:spcAft>
                <a:spcPts val="0"/>
              </a:spcAft>
              <a:buClr>
                <a:schemeClr val="dk1"/>
              </a:buClr>
              <a:buSzPts val="1100"/>
              <a:buFont typeface="Merriweather Sans"/>
              <a:buChar char="◆"/>
              <a:defRPr sz="1100" b="0" i="0">
                <a:solidFill>
                  <a:schemeClr val="dk1"/>
                </a:solidFill>
                <a:latin typeface="Archivo Light"/>
                <a:ea typeface="Archivo Light"/>
                <a:cs typeface="Archivo Light"/>
                <a:sym typeface="Archivo Light"/>
              </a:defRPr>
            </a:lvl5pPr>
            <a:lvl6pPr marL="2743200" lvl="5" indent="-295275" algn="l">
              <a:spcBef>
                <a:spcPts val="600"/>
              </a:spcBef>
              <a:spcAft>
                <a:spcPts val="0"/>
              </a:spcAft>
              <a:buClr>
                <a:schemeClr val="dk1"/>
              </a:buClr>
              <a:buSzPts val="1050"/>
              <a:buChar char="•"/>
              <a:defRPr sz="1050" b="0" i="0">
                <a:latin typeface="Archivo Light"/>
                <a:ea typeface="Archivo Light"/>
                <a:cs typeface="Archivo Light"/>
                <a:sym typeface="Archivo Light"/>
              </a:defRPr>
            </a:lvl6pPr>
            <a:lvl7pPr marL="3200400" lvl="6" indent="-292100" algn="l">
              <a:spcBef>
                <a:spcPts val="200"/>
              </a:spcBef>
              <a:spcAft>
                <a:spcPts val="0"/>
              </a:spcAft>
              <a:buClr>
                <a:schemeClr val="dk1"/>
              </a:buClr>
              <a:buSzPts val="1000"/>
              <a:buChar char="•"/>
              <a:defRPr sz="1000" b="0" i="0">
                <a:latin typeface="Archivo Light"/>
                <a:ea typeface="Archivo Light"/>
                <a:cs typeface="Archivo Light"/>
                <a:sym typeface="Archivo Light"/>
              </a:defRPr>
            </a:lvl7pPr>
            <a:lvl8pPr marL="3657600" lvl="7" indent="-228600" algn="l">
              <a:spcBef>
                <a:spcPts val="300"/>
              </a:spcBef>
              <a:spcAft>
                <a:spcPts val="0"/>
              </a:spcAft>
              <a:buClr>
                <a:schemeClr val="dk1"/>
              </a:buClr>
              <a:buSzPts val="900"/>
              <a:buFont typeface="Archivo Light"/>
              <a:buNone/>
              <a:defRPr sz="900">
                <a:latin typeface="Archivo Light"/>
                <a:ea typeface="Archivo Light"/>
                <a:cs typeface="Archivo Light"/>
                <a:sym typeface="Archivo Light"/>
              </a:defRPr>
            </a:lvl8pPr>
            <a:lvl9pPr marL="4114800" lvl="8" indent="-304800" algn="l">
              <a:spcBef>
                <a:spcPts val="360"/>
              </a:spcBef>
              <a:spcAft>
                <a:spcPts val="0"/>
              </a:spcAft>
              <a:buClr>
                <a:schemeClr val="dk1"/>
              </a:buClr>
              <a:buSzPts val="1200"/>
              <a:buFont typeface="Archivo Light"/>
              <a:buChar char="•"/>
              <a:defRPr sz="900">
                <a:latin typeface="Archivo Light"/>
                <a:ea typeface="Archivo Light"/>
                <a:cs typeface="Archivo Light"/>
                <a:sym typeface="Archivo Light"/>
              </a:defRPr>
            </a:lvl9pPr>
          </a:lstStyle>
          <a:p>
            <a:endParaRPr/>
          </a:p>
        </p:txBody>
      </p:sp>
      <p:sp>
        <p:nvSpPr>
          <p:cNvPr id="273" name="Google Shape;273;p45"/>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4" name="Google Shape;274;p45"/>
          <p:cNvSpPr txBox="1">
            <a:spLocks noGrp="1"/>
          </p:cNvSpPr>
          <p:nvPr>
            <p:ph type="title"/>
          </p:nvPr>
        </p:nvSpPr>
        <p:spPr>
          <a:xfrm>
            <a:off x="457200" y="374904"/>
            <a:ext cx="8229600" cy="480131"/>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umper Slide">
  <p:cSld name="Bumper Slide">
    <p:bg>
      <p:bgPr>
        <a:solidFill>
          <a:schemeClr val="dk1"/>
        </a:solidFill>
        <a:effectLst/>
      </p:bgPr>
    </p:bg>
    <p:spTree>
      <p:nvGrpSpPr>
        <p:cNvPr id="1" name="Shape 275"/>
        <p:cNvGrpSpPr/>
        <p:nvPr/>
      </p:nvGrpSpPr>
      <p:grpSpPr>
        <a:xfrm>
          <a:off x="0" y="0"/>
          <a:ext cx="0" cy="0"/>
          <a:chOff x="0" y="0"/>
          <a:chExt cx="0" cy="0"/>
        </a:xfrm>
      </p:grpSpPr>
      <p:pic>
        <p:nvPicPr>
          <p:cNvPr id="276" name="Google Shape;276;p46"/>
          <p:cNvPicPr preferRelativeResize="0"/>
          <p:nvPr/>
        </p:nvPicPr>
        <p:blipFill rotWithShape="1">
          <a:blip r:embed="rId2">
            <a:alphaModFix/>
          </a:blip>
          <a:srcRect/>
          <a:stretch/>
        </p:blipFill>
        <p:spPr>
          <a:xfrm>
            <a:off x="3101498" y="1639177"/>
            <a:ext cx="2941004" cy="139054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Icons_30">
  <p:cSld name="Icons_30">
    <p:spTree>
      <p:nvGrpSpPr>
        <p:cNvPr id="1" name="Shape 277"/>
        <p:cNvGrpSpPr/>
        <p:nvPr/>
      </p:nvGrpSpPr>
      <p:grpSpPr>
        <a:xfrm>
          <a:off x="0" y="0"/>
          <a:ext cx="0" cy="0"/>
          <a:chOff x="0" y="0"/>
          <a:chExt cx="0" cy="0"/>
        </a:xfrm>
      </p:grpSpPr>
      <p:sp>
        <p:nvSpPr>
          <p:cNvPr id="278" name="Google Shape;278;p47"/>
          <p:cNvSpPr txBox="1">
            <a:spLocks noGrp="1"/>
          </p:cNvSpPr>
          <p:nvPr>
            <p:ph type="title"/>
          </p:nvPr>
        </p:nvSpPr>
        <p:spPr>
          <a:xfrm>
            <a:off x="457200" y="372745"/>
            <a:ext cx="8229600" cy="480131"/>
          </a:xfrm>
          <a:prstGeom prst="rect">
            <a:avLst/>
          </a:prstGeom>
          <a:noFill/>
          <a:ln>
            <a:noFill/>
          </a:ln>
        </p:spPr>
        <p:txBody>
          <a:bodyPr spcFirstLastPara="1" wrap="square" lIns="91425" tIns="45700" rIns="91425" bIns="45700" anchor="t" anchorCtr="0">
            <a:spAutoFit/>
          </a:bodyPr>
          <a:lstStyle>
            <a:lvl1pPr lvl="0" algn="ctr">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9" name="Google Shape;279;p47"/>
          <p:cNvSpPr/>
          <p:nvPr/>
        </p:nvSpPr>
        <p:spPr>
          <a:xfrm>
            <a:off x="1157709"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80" name="Google Shape;280;p47"/>
          <p:cNvSpPr/>
          <p:nvPr/>
        </p:nvSpPr>
        <p:spPr>
          <a:xfrm>
            <a:off x="2036206"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81" name="Google Shape;281;p47"/>
          <p:cNvSpPr/>
          <p:nvPr/>
        </p:nvSpPr>
        <p:spPr>
          <a:xfrm>
            <a:off x="2914703"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82" name="Google Shape;282;p47"/>
          <p:cNvSpPr/>
          <p:nvPr/>
        </p:nvSpPr>
        <p:spPr>
          <a:xfrm>
            <a:off x="3793200"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83" name="Google Shape;283;p47"/>
          <p:cNvSpPr/>
          <p:nvPr/>
        </p:nvSpPr>
        <p:spPr>
          <a:xfrm>
            <a:off x="4671697"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84" name="Google Shape;284;p47"/>
          <p:cNvSpPr/>
          <p:nvPr/>
        </p:nvSpPr>
        <p:spPr>
          <a:xfrm>
            <a:off x="5550194"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85" name="Google Shape;285;p47"/>
          <p:cNvSpPr/>
          <p:nvPr/>
        </p:nvSpPr>
        <p:spPr>
          <a:xfrm>
            <a:off x="6428691"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86" name="Google Shape;286;p47"/>
          <p:cNvSpPr/>
          <p:nvPr/>
        </p:nvSpPr>
        <p:spPr>
          <a:xfrm>
            <a:off x="7307188"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87" name="Google Shape;287;p47"/>
          <p:cNvSpPr/>
          <p:nvPr/>
        </p:nvSpPr>
        <p:spPr>
          <a:xfrm>
            <a:off x="8185681"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88" name="Google Shape;288;p47"/>
          <p:cNvSpPr/>
          <p:nvPr/>
        </p:nvSpPr>
        <p:spPr>
          <a:xfrm>
            <a:off x="279212"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89" name="Google Shape;289;p47"/>
          <p:cNvSpPr/>
          <p:nvPr/>
        </p:nvSpPr>
        <p:spPr>
          <a:xfrm>
            <a:off x="1157709"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90" name="Google Shape;290;p47"/>
          <p:cNvSpPr/>
          <p:nvPr/>
        </p:nvSpPr>
        <p:spPr>
          <a:xfrm>
            <a:off x="2036206"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91" name="Google Shape;291;p47"/>
          <p:cNvSpPr/>
          <p:nvPr/>
        </p:nvSpPr>
        <p:spPr>
          <a:xfrm>
            <a:off x="2914703"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92" name="Google Shape;292;p47"/>
          <p:cNvSpPr/>
          <p:nvPr/>
        </p:nvSpPr>
        <p:spPr>
          <a:xfrm>
            <a:off x="3793200"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93" name="Google Shape;293;p47"/>
          <p:cNvSpPr/>
          <p:nvPr/>
        </p:nvSpPr>
        <p:spPr>
          <a:xfrm>
            <a:off x="4671697"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94" name="Google Shape;294;p47"/>
          <p:cNvSpPr/>
          <p:nvPr/>
        </p:nvSpPr>
        <p:spPr>
          <a:xfrm>
            <a:off x="5550194"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95" name="Google Shape;295;p47"/>
          <p:cNvSpPr/>
          <p:nvPr/>
        </p:nvSpPr>
        <p:spPr>
          <a:xfrm>
            <a:off x="6428691"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96" name="Google Shape;296;p47"/>
          <p:cNvSpPr/>
          <p:nvPr/>
        </p:nvSpPr>
        <p:spPr>
          <a:xfrm>
            <a:off x="7307188"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97" name="Google Shape;297;p47"/>
          <p:cNvSpPr/>
          <p:nvPr/>
        </p:nvSpPr>
        <p:spPr>
          <a:xfrm>
            <a:off x="8185681" y="2455335"/>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98" name="Google Shape;298;p47"/>
          <p:cNvSpPr/>
          <p:nvPr/>
        </p:nvSpPr>
        <p:spPr>
          <a:xfrm>
            <a:off x="279212"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299" name="Google Shape;299;p47"/>
          <p:cNvSpPr/>
          <p:nvPr/>
        </p:nvSpPr>
        <p:spPr>
          <a:xfrm>
            <a:off x="1157709"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300" name="Google Shape;300;p47"/>
          <p:cNvSpPr/>
          <p:nvPr/>
        </p:nvSpPr>
        <p:spPr>
          <a:xfrm>
            <a:off x="2036206"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301" name="Google Shape;301;p47"/>
          <p:cNvSpPr/>
          <p:nvPr/>
        </p:nvSpPr>
        <p:spPr>
          <a:xfrm>
            <a:off x="2914703"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302" name="Google Shape;302;p47"/>
          <p:cNvSpPr/>
          <p:nvPr/>
        </p:nvSpPr>
        <p:spPr>
          <a:xfrm>
            <a:off x="3793200"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303" name="Google Shape;303;p47"/>
          <p:cNvSpPr/>
          <p:nvPr/>
        </p:nvSpPr>
        <p:spPr>
          <a:xfrm>
            <a:off x="4671697"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304" name="Google Shape;304;p47"/>
          <p:cNvSpPr/>
          <p:nvPr/>
        </p:nvSpPr>
        <p:spPr>
          <a:xfrm>
            <a:off x="5550194"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305" name="Google Shape;305;p47"/>
          <p:cNvSpPr/>
          <p:nvPr/>
        </p:nvSpPr>
        <p:spPr>
          <a:xfrm>
            <a:off x="6428691"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306" name="Google Shape;306;p47"/>
          <p:cNvSpPr/>
          <p:nvPr/>
        </p:nvSpPr>
        <p:spPr>
          <a:xfrm>
            <a:off x="7307188"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307" name="Google Shape;307;p47"/>
          <p:cNvSpPr/>
          <p:nvPr/>
        </p:nvSpPr>
        <p:spPr>
          <a:xfrm>
            <a:off x="8185681" y="3755189"/>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
        <p:nvSpPr>
          <p:cNvPr id="308" name="Google Shape;308;p47"/>
          <p:cNvSpPr/>
          <p:nvPr/>
        </p:nvSpPr>
        <p:spPr>
          <a:xfrm>
            <a:off x="279212" y="1140991"/>
            <a:ext cx="685800" cy="685800"/>
          </a:xfrm>
          <a:prstGeom prst="rect">
            <a:avLst/>
          </a:prstGeom>
          <a:solidFill>
            <a:schemeClr val="lt1"/>
          </a:solidFill>
          <a:ln w="19050" cap="flat" cmpd="sng">
            <a:solidFill>
              <a:srgbClr val="F1F3F6"/>
            </a:solidFill>
            <a:prstDash val="solid"/>
            <a:round/>
            <a:headEnd type="none" w="sm" len="sm"/>
            <a:tailEnd type="none" w="sm" len="sm"/>
          </a:ln>
        </p:spPr>
        <p:txBody>
          <a:bodyPr spcFirstLastPara="1" wrap="square" lIns="91425" tIns="45700" rIns="91425" bIns="45700" anchor="ctr" anchorCtr="0">
            <a:noAutofit/>
          </a:bodyPr>
          <a:lstStyle/>
          <a:p>
            <a:pPr marL="91440" marR="0" lvl="0" indent="-91440" algn="ctr" rtl="0">
              <a:spcBef>
                <a:spcPts val="0"/>
              </a:spcBef>
              <a:spcAft>
                <a:spcPts val="0"/>
              </a:spcAft>
              <a:buNone/>
            </a:pPr>
            <a:endParaRPr sz="1600" b="0" i="0">
              <a:solidFill>
                <a:schemeClr val="accent1"/>
              </a:solidFill>
              <a:latin typeface="Archivo"/>
              <a:ea typeface="Archivo"/>
              <a:cs typeface="Archivo"/>
              <a:sym typeface="Archiv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1/2_Headline">
  <p:cSld name="1/2_Headline">
    <p:spTree>
      <p:nvGrpSpPr>
        <p:cNvPr id="1" name="Shape 309"/>
        <p:cNvGrpSpPr/>
        <p:nvPr/>
      </p:nvGrpSpPr>
      <p:grpSpPr>
        <a:xfrm>
          <a:off x="0" y="0"/>
          <a:ext cx="0" cy="0"/>
          <a:chOff x="0" y="0"/>
          <a:chExt cx="0" cy="0"/>
        </a:xfrm>
      </p:grpSpPr>
      <p:sp>
        <p:nvSpPr>
          <p:cNvPr id="310" name="Google Shape;310;p48"/>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1" name="Google Shape;311;p48"/>
          <p:cNvSpPr txBox="1">
            <a:spLocks noGrp="1"/>
          </p:cNvSpPr>
          <p:nvPr>
            <p:ph type="title"/>
          </p:nvPr>
        </p:nvSpPr>
        <p:spPr>
          <a:xfrm>
            <a:off x="457200" y="374904"/>
            <a:ext cx="3383280" cy="867930"/>
          </a:xfrm>
          <a:prstGeom prst="rect">
            <a:avLst/>
          </a:prstGeom>
          <a:noFill/>
          <a:ln>
            <a:noFill/>
          </a:ln>
        </p:spPr>
        <p:txBody>
          <a:bodyPr spcFirstLastPara="1" wrap="square" lIns="91425" tIns="45700" rIns="91425" bIns="45700" anchor="t" anchorCtr="0">
            <a:spAutoFit/>
          </a:bodyPr>
          <a:lstStyle>
            <a:lvl1pPr lvl="0" algn="l">
              <a:lnSpc>
                <a:spcPct val="90000"/>
              </a:lnSpc>
              <a:spcBef>
                <a:spcPts val="0"/>
              </a:spcBef>
              <a:spcAft>
                <a:spcPts val="0"/>
              </a:spcAft>
              <a:buClr>
                <a:srgbClr val="0F2E66"/>
              </a:buClr>
              <a:buSzPts val="2800"/>
              <a:buFont typeface="Archivo"/>
              <a:buNone/>
              <a:defRPr sz="2800" b="1">
                <a:solidFill>
                  <a:srgbClr val="0F2E66"/>
                </a:solidFill>
                <a:latin typeface="Archivo"/>
                <a:ea typeface="Archivo"/>
                <a:cs typeface="Archivo"/>
                <a:sym typeface="Archiv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lank White Background">
  <p:cSld name="Blank White Background">
    <p:spTree>
      <p:nvGrpSpPr>
        <p:cNvPr id="1" name="Shape 312"/>
        <p:cNvGrpSpPr/>
        <p:nvPr/>
      </p:nvGrpSpPr>
      <p:grpSpPr>
        <a:xfrm>
          <a:off x="0" y="0"/>
          <a:ext cx="0" cy="0"/>
          <a:chOff x="0" y="0"/>
          <a:chExt cx="0" cy="0"/>
        </a:xfrm>
      </p:grpSpPr>
      <p:sp>
        <p:nvSpPr>
          <p:cNvPr id="313" name="Google Shape;313;p49"/>
          <p:cNvSpPr txBox="1">
            <a:spLocks noGrp="1"/>
          </p:cNvSpPr>
          <p:nvPr>
            <p:ph type="ftr" idx="11"/>
          </p:nvPr>
        </p:nvSpPr>
        <p:spPr>
          <a:xfrm>
            <a:off x="27432" y="4818888"/>
            <a:ext cx="3086100" cy="27463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a:solidFill>
                  <a:srgbClr val="7D8B99"/>
                </a:solidFill>
                <a:latin typeface="Archivo"/>
                <a:ea typeface="Archivo"/>
                <a:cs typeface="Archivo"/>
                <a:sym typeface="Archivo"/>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19" Type="http://schemas.openxmlformats.org/officeDocument/2006/relationships/theme" Target="../theme/theme3.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76250" y="137160"/>
            <a:ext cx="8193024" cy="86868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0F2E66"/>
              </a:buClr>
              <a:buSzPts val="2800"/>
              <a:buFont typeface="Archivo"/>
              <a:buNone/>
              <a:defRPr sz="2800" b="1" i="0" u="none" strike="noStrike" cap="none">
                <a:solidFill>
                  <a:srgbClr val="0F2E66"/>
                </a:solidFill>
                <a:latin typeface="Archivo"/>
                <a:ea typeface="Archivo"/>
                <a:cs typeface="Archivo"/>
                <a:sym typeface="Archiv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76250" y="1225899"/>
            <a:ext cx="8191500" cy="341754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rgbClr val="0F2E66"/>
              </a:buClr>
              <a:buSzPts val="1800"/>
              <a:buFont typeface="Arial"/>
              <a:buNone/>
              <a:defRPr sz="1800" b="0" i="0" u="none" strike="noStrike" cap="none">
                <a:solidFill>
                  <a:srgbClr val="0F2E66"/>
                </a:solidFill>
                <a:latin typeface="Archivo"/>
                <a:ea typeface="Archivo"/>
                <a:cs typeface="Archivo"/>
                <a:sym typeface="Archivo"/>
              </a:defRPr>
            </a:lvl1pPr>
            <a:lvl2pPr marL="914400" marR="0" lvl="1" indent="-228600" algn="l" rtl="0">
              <a:lnSpc>
                <a:spcPct val="100000"/>
              </a:lnSpc>
              <a:spcBef>
                <a:spcPts val="600"/>
              </a:spcBef>
              <a:spcAft>
                <a:spcPts val="0"/>
              </a:spcAft>
              <a:buClr>
                <a:srgbClr val="0F2E66"/>
              </a:buClr>
              <a:buSzPts val="1800"/>
              <a:buFont typeface="Arial"/>
              <a:buNone/>
              <a:defRPr sz="1800" b="0" i="0" u="none" strike="noStrike" cap="none">
                <a:solidFill>
                  <a:srgbClr val="0F2E66"/>
                </a:solidFill>
                <a:latin typeface="Archivo"/>
                <a:ea typeface="Archivo"/>
                <a:cs typeface="Archivo"/>
                <a:sym typeface="Archivo"/>
              </a:defRPr>
            </a:lvl2pPr>
            <a:lvl3pPr marL="1371600" marR="0" lvl="2" indent="-228600" algn="l" rtl="0">
              <a:lnSpc>
                <a:spcPct val="100000"/>
              </a:lnSpc>
              <a:spcBef>
                <a:spcPts val="600"/>
              </a:spcBef>
              <a:spcAft>
                <a:spcPts val="0"/>
              </a:spcAft>
              <a:buClr>
                <a:srgbClr val="0F2E66"/>
              </a:buClr>
              <a:buSzPts val="1800"/>
              <a:buFont typeface="Arial"/>
              <a:buNone/>
              <a:defRPr sz="1800" b="0" i="0" u="none" strike="noStrike" cap="none">
                <a:solidFill>
                  <a:srgbClr val="0F2E66"/>
                </a:solidFill>
                <a:latin typeface="Archivo"/>
                <a:ea typeface="Archivo"/>
                <a:cs typeface="Archivo"/>
                <a:sym typeface="Archivo"/>
              </a:defRPr>
            </a:lvl3pPr>
            <a:lvl4pPr marL="1828800" marR="0" lvl="3" indent="-314325" algn="l" rtl="0">
              <a:spcBef>
                <a:spcPts val="600"/>
              </a:spcBef>
              <a:spcAft>
                <a:spcPts val="0"/>
              </a:spcAft>
              <a:buClr>
                <a:srgbClr val="5D87A1"/>
              </a:buClr>
              <a:buSzPts val="1350"/>
              <a:buFont typeface="Archivo"/>
              <a:buChar char="–"/>
              <a:defRPr sz="1350" i="0" u="none" strike="noStrike" cap="none">
                <a:solidFill>
                  <a:srgbClr val="7F7F7F"/>
                </a:solidFill>
                <a:latin typeface="Archivo"/>
                <a:ea typeface="Archivo"/>
                <a:cs typeface="Archivo"/>
                <a:sym typeface="Archivo"/>
              </a:defRPr>
            </a:lvl4pPr>
            <a:lvl5pPr marL="2286000" marR="0" lvl="4" indent="-314325" algn="l" rtl="0">
              <a:spcBef>
                <a:spcPts val="270"/>
              </a:spcBef>
              <a:spcAft>
                <a:spcPts val="0"/>
              </a:spcAft>
              <a:buClr>
                <a:srgbClr val="5D87A1"/>
              </a:buClr>
              <a:buSzPts val="1350"/>
              <a:buFont typeface="Archivo"/>
              <a:buChar char="»"/>
              <a:defRPr sz="1350" i="0" u="none" strike="noStrike" cap="none">
                <a:solidFill>
                  <a:srgbClr val="7F7F7F"/>
                </a:solidFill>
                <a:latin typeface="Archivo"/>
                <a:ea typeface="Archivo"/>
                <a:cs typeface="Archivo"/>
                <a:sym typeface="Archivo"/>
              </a:defRPr>
            </a:lvl5pPr>
            <a:lvl6pPr marL="2743200" marR="0" lvl="5" indent="-323850" algn="l" rtl="0">
              <a:spcBef>
                <a:spcPts val="300"/>
              </a:spcBef>
              <a:spcAft>
                <a:spcPts val="0"/>
              </a:spcAft>
              <a:buClr>
                <a:schemeClr val="dk1"/>
              </a:buClr>
              <a:buSzPts val="1500"/>
              <a:buFont typeface="Archivo"/>
              <a:buChar char="•"/>
              <a:defRPr sz="1500" i="0" u="none" strike="noStrike" cap="none">
                <a:solidFill>
                  <a:schemeClr val="dk1"/>
                </a:solidFill>
                <a:latin typeface="Archivo"/>
                <a:ea typeface="Archivo"/>
                <a:cs typeface="Archivo"/>
                <a:sym typeface="Archivo"/>
              </a:defRPr>
            </a:lvl6pPr>
            <a:lvl7pPr marL="3200400" marR="0" lvl="6" indent="-323850" algn="l" rtl="0">
              <a:spcBef>
                <a:spcPts val="300"/>
              </a:spcBef>
              <a:spcAft>
                <a:spcPts val="0"/>
              </a:spcAft>
              <a:buClr>
                <a:schemeClr val="dk1"/>
              </a:buClr>
              <a:buSzPts val="1500"/>
              <a:buFont typeface="Archivo"/>
              <a:buChar char="•"/>
              <a:defRPr sz="1500" i="0" u="none" strike="noStrike" cap="none">
                <a:solidFill>
                  <a:schemeClr val="dk1"/>
                </a:solidFill>
                <a:latin typeface="Archivo"/>
                <a:ea typeface="Archivo"/>
                <a:cs typeface="Archivo"/>
                <a:sym typeface="Archivo"/>
              </a:defRPr>
            </a:lvl7pPr>
            <a:lvl8pPr marL="3657600" marR="0" lvl="7" indent="-323850" algn="l" rtl="0">
              <a:spcBef>
                <a:spcPts val="300"/>
              </a:spcBef>
              <a:spcAft>
                <a:spcPts val="0"/>
              </a:spcAft>
              <a:buClr>
                <a:schemeClr val="dk1"/>
              </a:buClr>
              <a:buSzPts val="1500"/>
              <a:buFont typeface="Archivo"/>
              <a:buChar char="•"/>
              <a:defRPr sz="1500" i="0" u="none" strike="noStrike" cap="none">
                <a:solidFill>
                  <a:schemeClr val="dk1"/>
                </a:solidFill>
                <a:latin typeface="Archivo"/>
                <a:ea typeface="Archivo"/>
                <a:cs typeface="Archivo"/>
                <a:sym typeface="Archivo"/>
              </a:defRPr>
            </a:lvl8pPr>
            <a:lvl9pPr marL="4114800" marR="0" lvl="8" indent="-323850" algn="l" rtl="0">
              <a:spcBef>
                <a:spcPts val="300"/>
              </a:spcBef>
              <a:spcAft>
                <a:spcPts val="0"/>
              </a:spcAft>
              <a:buClr>
                <a:schemeClr val="dk1"/>
              </a:buClr>
              <a:buSzPts val="1500"/>
              <a:buFont typeface="Archivo"/>
              <a:buChar char="•"/>
              <a:defRPr sz="1500" i="0" u="none" strike="noStrike" cap="none">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0"/>
        <p:cNvGrpSpPr/>
        <p:nvPr/>
      </p:nvGrpSpPr>
      <p:grpSpPr>
        <a:xfrm>
          <a:off x="0" y="0"/>
          <a:ext cx="0" cy="0"/>
          <a:chOff x="0" y="0"/>
          <a:chExt cx="0" cy="0"/>
        </a:xfrm>
      </p:grpSpPr>
      <p:sp>
        <p:nvSpPr>
          <p:cNvPr id="181" name="Google Shape;181;p31"/>
          <p:cNvSpPr txBox="1">
            <a:spLocks noGrp="1"/>
          </p:cNvSpPr>
          <p:nvPr>
            <p:ph type="title"/>
          </p:nvPr>
        </p:nvSpPr>
        <p:spPr>
          <a:xfrm>
            <a:off x="476250" y="137160"/>
            <a:ext cx="8193024" cy="86868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0F2E66"/>
              </a:buClr>
              <a:buSzPts val="2800"/>
              <a:buFont typeface="Archivo"/>
              <a:buNone/>
              <a:defRPr sz="2800" b="1" i="0" u="none" strike="noStrike" cap="none">
                <a:solidFill>
                  <a:srgbClr val="0F2E66"/>
                </a:solidFill>
                <a:latin typeface="Archivo"/>
                <a:ea typeface="Archivo"/>
                <a:cs typeface="Archivo"/>
                <a:sym typeface="Archiv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2" name="Google Shape;182;p31"/>
          <p:cNvSpPr txBox="1">
            <a:spLocks noGrp="1"/>
          </p:cNvSpPr>
          <p:nvPr>
            <p:ph type="body" idx="1"/>
          </p:nvPr>
        </p:nvSpPr>
        <p:spPr>
          <a:xfrm>
            <a:off x="476250" y="1225899"/>
            <a:ext cx="8191500" cy="341754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rgbClr val="0F2E66"/>
              </a:buClr>
              <a:buSzPts val="1800"/>
              <a:buFont typeface="Arial"/>
              <a:buNone/>
              <a:defRPr sz="1800" b="0" i="0" u="none" strike="noStrike" cap="none">
                <a:solidFill>
                  <a:srgbClr val="0F2E66"/>
                </a:solidFill>
                <a:latin typeface="Archivo Light"/>
                <a:ea typeface="Archivo Light"/>
                <a:cs typeface="Archivo Light"/>
                <a:sym typeface="Archivo Light"/>
              </a:defRPr>
            </a:lvl1pPr>
            <a:lvl2pPr marL="914400" marR="0" lvl="1" indent="-228600" algn="l" rtl="0">
              <a:lnSpc>
                <a:spcPct val="100000"/>
              </a:lnSpc>
              <a:spcBef>
                <a:spcPts val="600"/>
              </a:spcBef>
              <a:spcAft>
                <a:spcPts val="0"/>
              </a:spcAft>
              <a:buClr>
                <a:srgbClr val="0F2E66"/>
              </a:buClr>
              <a:buSzPts val="1800"/>
              <a:buFont typeface="Arial"/>
              <a:buNone/>
              <a:defRPr sz="1800" b="0" i="0" u="none" strike="noStrike" cap="none">
                <a:solidFill>
                  <a:srgbClr val="0F2E66"/>
                </a:solidFill>
                <a:latin typeface="Archivo Light"/>
                <a:ea typeface="Archivo Light"/>
                <a:cs typeface="Archivo Light"/>
                <a:sym typeface="Archivo Light"/>
              </a:defRPr>
            </a:lvl2pPr>
            <a:lvl3pPr marL="1371600" marR="0" lvl="2" indent="-228600" algn="l" rtl="0">
              <a:lnSpc>
                <a:spcPct val="100000"/>
              </a:lnSpc>
              <a:spcBef>
                <a:spcPts val="600"/>
              </a:spcBef>
              <a:spcAft>
                <a:spcPts val="0"/>
              </a:spcAft>
              <a:buClr>
                <a:srgbClr val="0F2E66"/>
              </a:buClr>
              <a:buSzPts val="1800"/>
              <a:buFont typeface="Arial"/>
              <a:buNone/>
              <a:defRPr sz="1800" b="0" i="0" u="none" strike="noStrike" cap="none">
                <a:solidFill>
                  <a:srgbClr val="0F2E66"/>
                </a:solidFill>
                <a:latin typeface="Archivo Light"/>
                <a:ea typeface="Archivo Light"/>
                <a:cs typeface="Archivo Light"/>
                <a:sym typeface="Archivo Light"/>
              </a:defRPr>
            </a:lvl3pPr>
            <a:lvl4pPr marL="1828800" marR="0" lvl="3" indent="-314325" algn="l" rtl="0">
              <a:spcBef>
                <a:spcPts val="600"/>
              </a:spcBef>
              <a:spcAft>
                <a:spcPts val="0"/>
              </a:spcAft>
              <a:buClr>
                <a:srgbClr val="5D87A1"/>
              </a:buClr>
              <a:buSzPts val="1350"/>
              <a:buFont typeface="Arial"/>
              <a:buChar char="–"/>
              <a:defRPr sz="1350" b="0" i="0" u="none" strike="noStrike" cap="none">
                <a:solidFill>
                  <a:srgbClr val="7F7F7F"/>
                </a:solidFill>
                <a:latin typeface="Arial"/>
                <a:ea typeface="Arial"/>
                <a:cs typeface="Arial"/>
                <a:sym typeface="Arial"/>
              </a:defRPr>
            </a:lvl4pPr>
            <a:lvl5pPr marL="2286000" marR="0" lvl="4" indent="-314325" algn="l" rtl="0">
              <a:spcBef>
                <a:spcPts val="270"/>
              </a:spcBef>
              <a:spcAft>
                <a:spcPts val="0"/>
              </a:spcAft>
              <a:buClr>
                <a:srgbClr val="5D87A1"/>
              </a:buClr>
              <a:buSzPts val="1350"/>
              <a:buFont typeface="Arial"/>
              <a:buChar char="»"/>
              <a:defRPr sz="1350" b="0" i="0" u="none" strike="noStrike" cap="none">
                <a:solidFill>
                  <a:srgbClr val="7F7F7F"/>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0.xml"/><Relationship Id="rId4" Type="http://schemas.openxmlformats.org/officeDocument/2006/relationships/chart" Target="../charts/char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3250" name="Google Shape;54;p14"/>
          <p:cNvPicPr preferRelativeResize="0"/>
          <p:nvPr/>
        </p:nvPicPr>
        <p:blipFill rotWithShape="1">
          <a:blip r:embed="rId2">
            <a:alphaModFix/>
          </a:blip>
          <a:srcRect l="2703" r="2703"/>
          <a:stretch/>
        </p:blipFill>
        <p:spPr>
          <a:xfrm>
            <a:off x="0" y="0"/>
            <a:ext cx="9144000" cy="5148072"/>
          </a:xfrm>
          <a:prstGeom prst="rect">
            <a:avLst/>
          </a:prstGeom>
          <a:noFill/>
          <a:ln>
            <a:noFill/>
          </a:ln>
        </p:spPr>
      </p:pic>
      <p:pic>
        <p:nvPicPr>
          <p:cNvPr id="237964" name="Google Shape;55;p14"/>
          <p:cNvPicPr preferRelativeResize="0"/>
          <p:nvPr/>
        </p:nvPicPr>
        <p:blipFill rotWithShape="1">
          <a:blip r:embed="rId3">
            <a:alphaModFix/>
          </a:blip>
          <a:srcRect/>
          <a:stretch/>
        </p:blipFill>
        <p:spPr>
          <a:xfrm>
            <a:off x="611868" y="471062"/>
            <a:ext cx="1227751" cy="580497"/>
          </a:xfrm>
          <a:prstGeom prst="rect">
            <a:avLst/>
          </a:prstGeom>
          <a:noFill/>
          <a:ln>
            <a:noFill/>
          </a:ln>
        </p:spPr>
      </p:pic>
      <p:sp>
        <p:nvSpPr>
          <p:cNvPr id="2" name="Title 1"/>
          <p:cNvSpPr>
            <a:spLocks noGrp="1"/>
          </p:cNvSpPr>
          <p:nvPr>
            <p:ph type="ctrTitle"/>
          </p:nvPr>
        </p:nvSpPr>
        <p:spPr/>
        <p:txBody>
          <a:bodyPr/>
          <a:lstStyle/>
          <a:p>
            <a:r>
              <a:t>India Recruiting Product-Market Fit Research</a:t>
            </a:r>
          </a:p>
        </p:txBody>
      </p:sp>
      <p:sp>
        <p:nvSpPr>
          <p:cNvPr id="3" name="Subtitle 2"/>
          <p:cNvSpPr>
            <a:spLocks noGrp="1"/>
          </p:cNvSpPr>
          <p:nvPr>
            <p:ph type="subTitle" idx="1"/>
          </p:nvPr>
        </p:nvSpPr>
        <p:spPr/>
        <p:txBody>
          <a:bodyPr/>
          <a:lstStyle/>
          <a:p>
            <a:r>
              <a:t>April 2026</a:t>
            </a:r>
          </a:p>
        </p:txBody>
      </p:sp>
      <p:sp>
        <p:nvSpPr>
          <p:cNvPr id="803251" name="TextBox 803250"/>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803252" name="TextBox 803251"/>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8542"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608543" name="TextBox 60854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608544" name="TextBox 60854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a:t>
            </a:r>
          </a:p>
        </p:txBody>
      </p:sp>
      <p:sp>
        <p:nvSpPr>
          <p:cNvPr id="608545" name="TextBox 608544"/>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1
Executive summary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Executive Summary</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a:t>
            </a:r>
          </a:p>
        </p:txBody>
      </p:sp>
      <p:sp>
        <p:nvSpPr>
          <p:cNvPr id="5" name="TextBox 4"/>
          <p:cNvSpPr txBox="1"/>
          <p:nvPr/>
        </p:nvSpPr>
        <p:spPr>
          <a:xfrm>
            <a:off x="640080" y="1097280"/>
            <a:ext cx="7863840" cy="2560320"/>
          </a:xfrm>
          <a:prstGeom prst="rect">
            <a:avLst/>
          </a:prstGeom>
          <a:noFill/>
        </p:spPr>
        <p:txBody>
          <a:bodyPr wrap="square">
            <a:spAutoFit/>
          </a:bodyPr>
          <a:lstStyle/>
          <a:p>
            <a:r>
              <a:rPr sz="1400" b="1"/>
              <a:t>Headline outcomes</a:t>
            </a:r>
          </a:p>
          <a:p>
            <a:pPr marL="228600" lvl="1" indent="-182880">
              <a:spcAft>
                <a:spcPts val="600"/>
              </a:spcAft>
              <a:buFont typeface="Archivo"/>
              <a:buChar char="•"/>
            </a:pPr>
            <a:r>
              <a:rPr sz="1400"/>
              <a:t>India recruiting market entry demands robust identity verification and high-volume automation; Teleperformance and internal experts warn that trust and throughput fail without lawful ID matching and bulk processing capabilities.</a:t>
            </a:r>
          </a:p>
          <a:p>
            <a:pPr marL="228600" lvl="1" indent="-182880">
              <a:spcAft>
                <a:spcPts val="600"/>
              </a:spcAft>
              <a:buFont typeface="Archivo"/>
              <a:buChar char="•"/>
            </a:pPr>
            <a:r>
              <a:rPr sz="1400"/>
              <a:t>Data privacy regulations (DPDP) and international compliance (GDPR, EU AI Act) require configurable consent, retention, and screening notices for multinational organisations managing candidate talent pools in India.</a:t>
            </a:r>
          </a:p>
          <a:p>
            <a:pPr marL="228600" lvl="1" indent="-182880">
              <a:spcAft>
                <a:spcPts val="600"/>
              </a:spcAft>
              <a:buFont typeface="Archivo"/>
              <a:buChar char="•"/>
            </a:pPr>
            <a:r>
              <a:rPr sz="1400"/>
              <a:t>Priority investments: government-ID-aware identity verification, scalable duplicate and agency management, governed AI screening for volume, and native messaging channels to close competitive gaps and improve candidate response times.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0182"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580183" name="TextBox 58018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580184" name="TextBox 58018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a:t>
            </a:r>
          </a:p>
        </p:txBody>
      </p:sp>
      <p:sp>
        <p:nvSpPr>
          <p:cNvPr id="580185" name="TextBox 580184"/>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2
Research challenge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749"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Research Question and Objectives</a:t>
            </a:r>
          </a:p>
        </p:txBody>
      </p:sp>
      <p:sp>
        <p:nvSpPr>
          <p:cNvPr id="665750" name="TextBox 665749"/>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665751" name="TextBox 665750"/>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a:t>
            </a:r>
          </a:p>
        </p:txBody>
      </p:sp>
      <p:sp>
        <p:nvSpPr>
          <p:cNvPr id="665752" name="TextBox 665751"/>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How should Workday Recruiting win India enterprise and high-volume programmes on trust, compliance, and recruiter throughput while staying honest on channels and boards?</a:t>
            </a:r>
          </a:p>
          <a:p>
            <a:pPr marL="228600" lvl="1" indent="-182880">
              <a:spcAft>
                <a:spcPts val="600"/>
              </a:spcAft>
              <a:buFont typeface="Archivo"/>
              <a:buChar char="•"/>
            </a:pPr>
            <a:r>
              <a:rPr sz="1200">
                <a:solidFill>
                  <a:srgbClr val="0F2E66"/>
                </a:solidFill>
                <a:latin typeface="Archivo"/>
              </a:rPr>
              <a:t>Objectives: validate identity and dedupe economics, offer and BGC friction, governance off-platform, channel reality, and observability versus suite strengths and configurable privacy levers.</a:t>
            </a:r>
          </a:p>
          <a:p>
            <a:pPr marL="228600" lvl="1" indent="-182880">
              <a:spcAft>
                <a:spcPts val="600"/>
              </a:spcAft>
              <a:buFont typeface="Archivo"/>
              <a:buChar char="•"/>
            </a:pPr>
            <a:r>
              <a:rPr sz="1200">
                <a:solidFill>
                  <a:srgbClr val="0F2E66"/>
                </a:solidFill>
                <a:latin typeface="Archivo"/>
              </a:rPr>
              <a:t>Evidence: strategy context, PESTEL, SWOT, India competitive matrix and scan, SMEs (SME1–SME5), customers (P1–P5), global ideation quant (about ten thousand TA-filtered ideas), thematic synthesis with cross-source matrix.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Scope and Win-Loss Data</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6</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400">
                <a:solidFill>
                  <a:srgbClr val="0F2E66"/>
                </a:solidFill>
                <a:latin typeface="Archivo"/>
              </a:rPr>
              <a:t>Scope is India-hosted recruiting journeys for enterprise and BPO-scale programmes with Know Your Candidate and high-volume lenses from April 2026 strategy context.</a:t>
            </a:r>
          </a:p>
          <a:p>
            <a:pPr marL="228600" lvl="1" indent="-182880">
              <a:spcAft>
                <a:spcPts val="600"/>
              </a:spcAft>
              <a:buFont typeface="Archivo"/>
              <a:buChar char="•"/>
            </a:pPr>
            <a:r>
              <a:rPr sz="1400">
                <a:solidFill>
                  <a:srgbClr val="0F2E66"/>
                </a:solidFill>
                <a:latin typeface="Archivo"/>
              </a:rPr>
              <a:t>Presales export yields three India-keyword-matched Talent Acquisition rows (thin versus full territory coverage); Win/Loss pairs those rows with ideation volume, competitive gaps, and Teleperformance India interviews.</a:t>
            </a:r>
          </a:p>
          <a:p>
            <a:pPr marL="228600" lvl="1" indent="-182880">
              <a:spcAft>
                <a:spcPts val="600"/>
              </a:spcAft>
              <a:buFont typeface="Archivo"/>
              <a:buChar char="•"/>
            </a:pPr>
            <a:r>
              <a:rPr sz="1400">
                <a:solidFill>
                  <a:srgbClr val="0F2E66"/>
                </a:solidFill>
                <a:latin typeface="Archivo"/>
              </a:rPr>
              <a:t>Full thematic write-up, PESTEL, SWOT, and eleven ranked roadmap rows live in the April 2026 India analysis markdown for detail beyond this deck.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2627"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752628" name="TextBox 752627"/>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752629" name="TextBox 752628"/>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7</a:t>
            </a:r>
          </a:p>
        </p:txBody>
      </p:sp>
      <p:sp>
        <p:nvSpPr>
          <p:cNvPr id="752630" name="TextBox 752629"/>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3
Context 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Strategic Context - FY26 Growth Objectives</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8</a:t>
            </a:r>
          </a:p>
        </p:txBody>
      </p:sp>
      <p:sp>
        <p:nvSpPr>
          <p:cNvPr id="5" name="TextBox 4"/>
          <p:cNvSpPr txBox="1"/>
          <p:nvPr/>
        </p:nvSpPr>
        <p:spPr>
          <a:xfrm>
            <a:off x="640080" y="1097280"/>
            <a:ext cx="7863840" cy="457200"/>
          </a:xfrm>
          <a:prstGeom prst="rect">
            <a:avLst/>
          </a:prstGeom>
          <a:noFill/>
        </p:spPr>
        <p:txBody>
          <a:bodyPr wrap="square">
            <a:spAutoFit/>
          </a:bodyPr>
          <a:lstStyle/>
          <a:p>
            <a:r>
              <a:rPr sz="1400" b="1"/>
              <a:t>Achieve target growth and financial outcomes by investing to:</a:t>
            </a:r>
          </a:p>
          <a:p>
            <a:pPr marL="228600" lvl="1" indent="-182880">
              <a:spcAft>
                <a:spcPts val="600"/>
              </a:spcAft>
              <a:buFont typeface="Archivo"/>
              <a:buChar char="•"/>
            </a:pPr>
            <a:r>
              <a:rPr sz="1400"/>
              <a:t>Lead our industry in AI-powered innovation and build ecosystem strength to fuel the growth of the Workday Economy.</a:t>
            </a:r>
          </a:p>
          <a:p>
            <a:pPr marL="228600" lvl="1" indent="-182880">
              <a:spcAft>
                <a:spcPts val="600"/>
              </a:spcAft>
              <a:buFont typeface="Archivo"/>
              <a:buChar char="•"/>
            </a:pPr>
            <a:r>
              <a:rPr sz="1400"/>
              <a:t>Strengthen Workday's best-of-suite value to maintain large enterprise market leadership.</a:t>
            </a:r>
          </a:p>
          <a:p>
            <a:pPr marL="228600" lvl="1" indent="-182880">
              <a:spcAft>
                <a:spcPts val="600"/>
              </a:spcAft>
              <a:buFont typeface="Archivo"/>
              <a:buChar char="•"/>
            </a:pPr>
            <a:r>
              <a:rPr sz="1400"/>
              <a:t>Decrease cost to deploy and scale and accelerate growth to unlock medium enterprise and growth markets.</a:t>
            </a:r>
          </a:p>
          <a:p>
            <a:pPr marL="228600" lvl="1" indent="-182880">
              <a:spcAft>
                <a:spcPts val="600"/>
              </a:spcAft>
              <a:buFont typeface="Archivo"/>
              <a:buChar char="•"/>
            </a:pPr>
            <a:r>
              <a:rPr sz="1400" b="1">
                <a:highlight>
                  <a:srgbClr val="FFFF00"/>
                </a:highlight>
              </a:rPr>
              <a:t>Increase right-to-win outside the US through bullseye focus and GTM partnerships.</a:t>
            </a:r>
          </a:p>
          <a:p>
            <a:pPr marL="228600" lvl="1" indent="-182880">
              <a:spcAft>
                <a:spcPts val="600"/>
              </a:spcAft>
              <a:buFont typeface="Archivo"/>
              <a:buChar char="•"/>
            </a:pPr>
            <a:r>
              <a:rPr sz="1400"/>
              <a:t>Deliver US Federal readiness and increase right-to-win, while enhancing customer health and value realization at every stage.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9601"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India Market Momentum - Key Indicators</a:t>
            </a:r>
          </a:p>
        </p:txBody>
      </p:sp>
      <p:sp>
        <p:nvSpPr>
          <p:cNvPr id="759602" name="TextBox 759601"/>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759603" name="TextBox 759602"/>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9</a:t>
            </a:r>
          </a:p>
        </p:txBody>
      </p:sp>
      <p:sp>
        <p:nvSpPr>
          <p:cNvPr id="759604" name="TextBox 759603"/>
          <p:cNvSpPr txBox="1"/>
          <p:nvPr/>
        </p:nvSpPr>
        <p:spPr>
          <a:xfrm>
            <a:off x="640080" y="1097280"/>
            <a:ext cx="7863840" cy="457200"/>
          </a:xfrm>
          <a:prstGeom prst="rect">
            <a:avLst/>
          </a:prstGeom>
          <a:noFill/>
        </p:spPr>
        <p:txBody>
          <a:bodyPr wrap="square">
            <a:spAutoFit/>
          </a:bodyPr>
          <a:lstStyle/>
          <a:p>
            <a:r>
              <a:rPr sz="1400" b="1"/>
              <a:t>Workday's Market Momentum in India</a:t>
            </a:r>
          </a:p>
          <a:p>
            <a:pPr marL="228600" lvl="1" indent="-182880">
              <a:spcAft>
                <a:spcPts val="600"/>
              </a:spcAft>
              <a:buFont typeface="Archivo"/>
              <a:buChar char="•"/>
            </a:pPr>
            <a:r>
              <a:rPr sz="1400"/>
              <a:t>Workday Addressable Market (WAM): ~$800M, representing significant growth potential for the region.</a:t>
            </a:r>
          </a:p>
          <a:p>
            <a:pPr marL="228600" lvl="1" indent="-182880">
              <a:spcAft>
                <a:spcPts val="600"/>
              </a:spcAft>
              <a:buFont typeface="Archivo"/>
              <a:buChar char="•"/>
            </a:pPr>
            <a:r>
              <a:rPr sz="1400"/>
              <a:t>5-Year ARR: $70M+ in consistent Annual Recurring Revenue, demonstrating established enterprise traction.</a:t>
            </a:r>
          </a:p>
          <a:p>
            <a:pPr marL="228600" lvl="1" indent="-182880">
              <a:spcAft>
                <a:spcPts val="600"/>
              </a:spcAft>
              <a:buFont typeface="Archivo"/>
              <a:buChar char="•"/>
            </a:pPr>
            <a:r>
              <a:rPr sz="1400"/>
              <a:t>User Engagement: 2M+ Workday users logging in from India, pre-market entry, showing massive organic adoption.</a:t>
            </a:r>
          </a:p>
          <a:p>
            <a:pPr marL="228600" lvl="1" indent="-182880">
              <a:spcAft>
                <a:spcPts val="600"/>
              </a:spcAft>
              <a:buFont typeface="Archivo"/>
              <a:buChar char="•"/>
            </a:pPr>
            <a:r>
              <a:rPr sz="1400"/>
              <a:t>APJ Region Share: India represents 20% of the APJ region software market, making it a critical growth anchor.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4185"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394186" name="TextBox 394185"/>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394187" name="TextBox 394186"/>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10</a:t>
            </a:r>
          </a:p>
        </p:txBody>
      </p:sp>
      <p:sp>
        <p:nvSpPr>
          <p:cNvPr id="394188" name="TextBox 394187"/>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4
Product strategy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Q2 2026 Product Priorities</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11</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400">
                <a:solidFill>
                  <a:srgbClr val="0F2E66"/>
                </a:solidFill>
                <a:latin typeface="Archivo"/>
              </a:rPr>
              <a:t>India first: medium regional priority with eight Q2 wins, DPDP programmes, and local boards via Broadbean-class partners per April 2026 strategy context (no native board builds).</a:t>
            </a:r>
          </a:p>
          <a:p>
            <a:pPr marL="228600" lvl="1" indent="-182880">
              <a:spcAft>
                <a:spcPts val="600"/>
              </a:spcAft>
              <a:buFont typeface="Archivo"/>
              <a:buChar char="•"/>
            </a:pPr>
            <a:r>
              <a:rPr sz="1400">
                <a:solidFill>
                  <a:srgbClr val="0F2E66"/>
                </a:solidFill>
                <a:latin typeface="Archivo"/>
              </a:rPr>
              <a:t>Priority 2 AI matching: activate HiredScore for high-volume tenants with human review, logging, and explainability for EU AI Act and DPDP significant-fiduciary narratives when applicable.</a:t>
            </a:r>
          </a:p>
          <a:p>
            <a:pPr marL="228600" lvl="1" indent="-182880">
              <a:spcAft>
                <a:spcPts val="600"/>
              </a:spcAft>
              <a:buFont typeface="Archivo"/>
              <a:buChar char="•"/>
            </a:pPr>
            <a:r>
              <a:rPr sz="1400">
                <a:solidFill>
                  <a:srgbClr val="0F2E66"/>
                </a:solidFill>
                <a:latin typeface="Archivo"/>
              </a:rPr>
              <a:t>Priority 3 core ATS parity plus GCC Priority 1 pattern: bulk actions, mobile recruiter, BGV integrations, Paradox where licensed; India matches proof on consent, retention, and partner-led boards.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4088"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Regional Expansion Strategy</a:t>
            </a:r>
          </a:p>
        </p:txBody>
      </p:sp>
      <p:sp>
        <p:nvSpPr>
          <p:cNvPr id="284089" name="TextBox 284088"/>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284090" name="TextBox 284089"/>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12</a:t>
            </a:r>
          </a:p>
        </p:txBody>
      </p:sp>
      <p:sp>
        <p:nvSpPr>
          <p:cNvPr id="284091" name="TextBox 284090"/>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India: medium priority; eight customers; DPDP; local job boards; scale-growth narrative for this readout.</a:t>
            </a:r>
          </a:p>
          <a:p>
            <a:pPr marL="228600" lvl="1" indent="-182880">
              <a:spcAft>
                <a:spcPts val="600"/>
              </a:spcAft>
              <a:buFont typeface="Archivo"/>
              <a:buChar char="•"/>
            </a:pPr>
            <a:r>
              <a:rPr sz="1200">
                <a:solidFill>
                  <a:srgbClr val="0F2E66"/>
                </a:solidFill>
                <a:latin typeface="Archivo"/>
              </a:rPr>
              <a:t>GCC: high priority; ten wins; WhatsApp and SMS; nationalisation; Arabic RTL; boards via Broadbean-class partners.</a:t>
            </a:r>
          </a:p>
          <a:p>
            <a:pPr marL="228600" lvl="1" indent="-182880">
              <a:spcAft>
                <a:spcPts val="600"/>
              </a:spcAft>
              <a:buFont typeface="Archivo"/>
              <a:buChar char="•"/>
            </a:pPr>
            <a:r>
              <a:rPr sz="1200">
                <a:solidFill>
                  <a:srgbClr val="0F2E66"/>
                </a:solidFill>
                <a:latin typeface="Archivo"/>
              </a:rPr>
              <a:t>Japan: medium; five expansions; two-step offer; APPI; LINE.</a:t>
            </a:r>
          </a:p>
          <a:p>
            <a:pPr marL="228600" lvl="1" indent="-182880">
              <a:spcAft>
                <a:spcPts val="600"/>
              </a:spcAft>
              <a:buFont typeface="Archivo"/>
              <a:buChar char="•"/>
            </a:pPr>
            <a:r>
              <a:rPr sz="1200">
                <a:solidFill>
                  <a:srgbClr val="0F2E66"/>
                </a:solidFill>
                <a:latin typeface="Archivo"/>
              </a:rPr>
              <a:t>Australia: medium; three expansions; Fair Work; SEEK via Broadbean.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Competitive Positioning - Differentiation</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13</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400">
                <a:solidFill>
                  <a:srgbClr val="0F2E66"/>
                </a:solidFill>
                <a:latin typeface="Archivo"/>
              </a:rPr>
              <a:t>Suite depth: HCM, Recruiting, Talent, and Learning on one record versus point ATS or payroll-first bundles.</a:t>
            </a:r>
          </a:p>
          <a:p>
            <a:pPr marL="228600" lvl="1" indent="-182880">
              <a:spcAft>
                <a:spcPts val="600"/>
              </a:spcAft>
              <a:buFont typeface="Archivo"/>
              <a:buChar char="•"/>
            </a:pPr>
            <a:r>
              <a:rPr sz="1400">
                <a:solidFill>
                  <a:srgbClr val="0F2E66"/>
                </a:solidFill>
                <a:latin typeface="Archivo"/>
              </a:rPr>
              <a:t>AI-powered: HiredScore and Paradox when activated versus manual high-volume screening and scheduling.</a:t>
            </a:r>
          </a:p>
          <a:p>
            <a:pPr marL="228600" lvl="1" indent="-182880">
              <a:spcAft>
                <a:spcPts val="600"/>
              </a:spcAft>
              <a:buFont typeface="Archivo"/>
              <a:buChar char="•"/>
            </a:pPr>
            <a:r>
              <a:rPr sz="1400">
                <a:solidFill>
                  <a:srgbClr val="0F2E66"/>
                </a:solidFill>
                <a:latin typeface="Archivo"/>
              </a:rPr>
              <a:t>Compliance-first: GDPR, EU AI Act, and global privacy posture with DPDP-ready consent, retention, purge, and audit trails.</a:t>
            </a:r>
          </a:p>
          <a:p>
            <a:pPr marL="228600" lvl="1" indent="-182880">
              <a:spcAft>
                <a:spcPts val="600"/>
              </a:spcAft>
              <a:buFont typeface="Archivo"/>
              <a:buChar char="•"/>
            </a:pPr>
            <a:r>
              <a:rPr sz="1400">
                <a:solidFill>
                  <a:srgbClr val="0F2E66"/>
                </a:solidFill>
                <a:latin typeface="Archivo"/>
              </a:rPr>
              <a:t>Vulnerabilities: niche board coverage via partners, mobile recruiter catch-up, scheduling activation not universal; message honestly on native SMS, WhatsApp, Naukri UX, and Aadhaar eKYC gaps.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8258"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688259" name="TextBox 688258"/>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688260" name="TextBox 688259"/>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14</a:t>
            </a:r>
          </a:p>
        </p:txBody>
      </p:sp>
      <p:sp>
        <p:nvSpPr>
          <p:cNvPr id="688261" name="TextBox 688260"/>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5
PESTEL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Political</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15</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India's consolidated labour codes, including the Industrial Relations Code, are driving significant compliance shifts with phased implementation expected through 2026, requiring robust contract tracking and audit capabilities.</a:t>
            </a:r>
          </a:p>
          <a:p>
            <a:pPr marL="228600" lvl="1" indent="-182880">
              <a:spcAft>
                <a:spcPts val="600"/>
              </a:spcAft>
              <a:buFont typeface="Archivo"/>
              <a:buChar char="•"/>
            </a:pPr>
            <a:r>
              <a:rPr sz="1200">
                <a:solidFill>
                  <a:srgbClr val="0F2E66"/>
                </a:solidFill>
                <a:latin typeface="Archivo"/>
              </a:rPr>
              <a:t>The Code on Social Security 2020 expands coverage to gig and platform workers, forcing enterprise hiring systems to support non-traditional employment models alongside permanent roles with equal compliance rigour.</a:t>
            </a:r>
          </a:p>
          <a:p>
            <a:pPr marL="228600" lvl="1" indent="-182880">
              <a:spcAft>
                <a:spcPts val="600"/>
              </a:spcAft>
              <a:buFont typeface="Archivo"/>
              <a:buChar char="•"/>
            </a:pPr>
            <a:r>
              <a:rPr sz="1200">
                <a:solidFill>
                  <a:srgbClr val="0F2E66"/>
                </a:solidFill>
                <a:latin typeface="Archivo"/>
              </a:rPr>
              <a:t>Production Linked Incentive (PLI) schemes driving Rs 2.16 lakh crore investment and 14.39 lakh jobs sustain high-volume manufacturing hiring, while sovereign cloud discussions elevate in-country data hosting expectations.</a:t>
            </a:r>
          </a:p>
          <a:p>
            <a:pPr marL="228600" lvl="1" indent="-182880">
              <a:spcAft>
                <a:spcPts val="600"/>
              </a:spcAft>
              <a:buFont typeface="Archivo"/>
              <a:buChar char="•"/>
            </a:pPr>
            <a:r>
              <a:rPr sz="1200">
                <a:solidFill>
                  <a:srgbClr val="0F2E66"/>
                </a:solidFill>
                <a:latin typeface="Archivo"/>
              </a:rPr>
              <a:t>Compliance with the Digital Personal Data Protection (DPDP) Act requires explicit consent mechanisms and robust data retention policies across all candidate touchpoints.</a:t>
            </a:r>
          </a:p>
          <a:p>
            <a:pPr marL="228600" lvl="1" indent="-182880">
              <a:spcAft>
                <a:spcPts val="600"/>
              </a:spcAft>
              <a:buFont typeface="Archivo"/>
              <a:buChar char="•"/>
            </a:pPr>
            <a:r>
              <a:rPr sz="1200">
                <a:solidFill>
                  <a:srgbClr val="0F2E66"/>
                </a:solidFill>
                <a:latin typeface="Archivo"/>
              </a:rPr>
              <a:t>Government mandates for Aadhaar-based eKYC in specific sectors necessitate flexible identity verification workflows that can adapt to varying regional requirements.</a:t>
            </a:r>
          </a:p>
          <a:p>
            <a:r>
              <a:rPr sz="1200" b="1">
                <a:solidFill>
                  <a:srgbClr val="0F2E66"/>
                </a:solidFill>
                <a:highlight>
                  <a:srgbClr val="FFFF00"/>
                </a:highlight>
                <a:latin typeface="Archivo"/>
              </a:rPr>
              <a:t>Product implication: Treat India as policy-active: flexible hiring metadata into HCM transitions, throughput for manufacturing and GCC-style ramps, and India hosting options where sovereignty influences enterprise contracts.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Economic</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16</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The India HR technology market is projected to grow from USD 1.21 billion in 2025 to USD 2.44 billion by 2034 at a 7.71% CAGR, driven by enterprise adoption of cloud, AI, and mobile-first recruiting platforms.</a:t>
            </a:r>
          </a:p>
          <a:p>
            <a:pPr marL="228600" lvl="1" indent="-182880">
              <a:spcAft>
                <a:spcPts val="600"/>
              </a:spcAft>
              <a:buFont typeface="Archivo"/>
              <a:buChar char="•"/>
            </a:pPr>
            <a:r>
              <a:rPr sz="1200">
                <a:solidFill>
                  <a:srgbClr val="0F2E66"/>
                </a:solidFill>
                <a:latin typeface="Archivo"/>
              </a:rPr>
              <a:t>IT services and Global Capability Centre (GCC) expansion narratives highlight sustained enterprise throughput, with companies hiring thousands of freshers annually, requiring scalable, campaign-style hiring tools.</a:t>
            </a:r>
          </a:p>
          <a:p>
            <a:pPr marL="228600" lvl="1" indent="-182880">
              <a:spcAft>
                <a:spcPts val="600"/>
              </a:spcAft>
              <a:buFont typeface="Archivo"/>
              <a:buChar char="•"/>
            </a:pPr>
            <a:r>
              <a:rPr sz="1200">
                <a:solidFill>
                  <a:srgbClr val="0F2E66"/>
                </a:solidFill>
                <a:latin typeface="Archivo"/>
              </a:rPr>
              <a:t>Workday's AWS India data centre expansion signals long-term commitment to the region, providing a critical advantage in deals where local data residency and low-latency performance are mandatory requirements.</a:t>
            </a:r>
          </a:p>
          <a:p>
            <a:pPr marL="228600" lvl="1" indent="-182880">
              <a:spcAft>
                <a:spcPts val="600"/>
              </a:spcAft>
              <a:buFont typeface="Archivo"/>
              <a:buChar char="•"/>
            </a:pPr>
            <a:r>
              <a:rPr sz="1200">
                <a:solidFill>
                  <a:srgbClr val="0F2E66"/>
                </a:solidFill>
                <a:latin typeface="Archivo"/>
              </a:rPr>
              <a:t>The rapid expansion of Global Capability Centres (GCCs) in India creates a massive demand for scalable, high-volume recruiting solutions that can handle thousands of concurrent requisitions.</a:t>
            </a:r>
          </a:p>
          <a:p>
            <a:pPr marL="228600" lvl="1" indent="-182880">
              <a:spcAft>
                <a:spcPts val="600"/>
              </a:spcAft>
              <a:buFont typeface="Archivo"/>
              <a:buChar char="•"/>
            </a:pPr>
            <a:r>
              <a:rPr sz="1200">
                <a:solidFill>
                  <a:srgbClr val="0F2E66"/>
                </a:solidFill>
                <a:latin typeface="Archivo"/>
              </a:rPr>
              <a:t>Increased foreign direct investment (FDI) in manufacturing and IT services is driving a surge in both blue-collar and white-collar hiring, requiring adaptable ATS configurations.</a:t>
            </a:r>
          </a:p>
          <a:p>
            <a:r>
              <a:rPr sz="1200" b="1">
                <a:solidFill>
                  <a:srgbClr val="0F2E66"/>
                </a:solidFill>
                <a:highlight>
                  <a:srgbClr val="FFFF00"/>
                </a:highlight>
                <a:latin typeface="Archivo"/>
              </a:rPr>
              <a:t>Product implication: Scale justifies India-first throughput investments: queue-safe bulk actions, identity-aware duplicate detection, and operational analytics, supported by local hosting to win data-residency-sensitive enterprise deals.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Social</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17</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India's digital landscape features 1.03 billion internet users (70% penetration) and 1.06 billion mobile connections, making mobile-first application and messaging experiences absolute baseline requirements for recruiting.</a:t>
            </a:r>
          </a:p>
          <a:p>
            <a:pPr marL="228600" lvl="1" indent="-182880">
              <a:spcAft>
                <a:spcPts val="600"/>
              </a:spcAft>
              <a:buFont typeface="Archivo"/>
              <a:buChar char="•"/>
            </a:pPr>
            <a:r>
              <a:rPr sz="1200">
                <a:solidFill>
                  <a:srgbClr val="0F2E66"/>
                </a:solidFill>
                <a:latin typeface="Archivo"/>
              </a:rPr>
              <a:t>With 170 million LinkedIn members, the professional sourcing graph remains concentrated, while consumer communication is heavily fragmented, requiring adaptable, multi-channel outreach strategies for different talent pools.</a:t>
            </a:r>
          </a:p>
          <a:p>
            <a:pPr marL="228600" lvl="1" indent="-182880">
              <a:spcAft>
                <a:spcPts val="600"/>
              </a:spcAft>
              <a:buFont typeface="Archivo"/>
              <a:buChar char="•"/>
            </a:pPr>
            <a:r>
              <a:rPr sz="1200">
                <a:solidFill>
                  <a:srgbClr val="0F2E66"/>
                </a:solidFill>
                <a:latin typeface="Archivo"/>
              </a:rPr>
              <a:t>WhatsApp functions as the default business communication channel across demographics; enterprise recruiting systems must support native WhatsApp messaging to achieve acceptable candidate response rates and reduce time-to-hire.</a:t>
            </a:r>
          </a:p>
          <a:p>
            <a:pPr marL="228600" lvl="1" indent="-182880">
              <a:spcAft>
                <a:spcPts val="600"/>
              </a:spcAft>
              <a:buFont typeface="Archivo"/>
              <a:buChar char="•"/>
            </a:pPr>
            <a:r>
              <a:rPr sz="1200">
                <a:solidFill>
                  <a:srgbClr val="0F2E66"/>
                </a:solidFill>
                <a:latin typeface="Archivo"/>
              </a:rPr>
              <a:t>The shift towards remote and hybrid work models post-pandemic has expanded the talent pool geographically, increasing the need for robust video interviewing and remote onboarding tools.</a:t>
            </a:r>
          </a:p>
          <a:p>
            <a:pPr marL="228600" lvl="1" indent="-182880">
              <a:spcAft>
                <a:spcPts val="600"/>
              </a:spcAft>
              <a:buFont typeface="Archivo"/>
              <a:buChar char="•"/>
            </a:pPr>
            <a:r>
              <a:rPr sz="1200">
                <a:solidFill>
                  <a:srgbClr val="0F2E66"/>
                </a:solidFill>
                <a:latin typeface="Archivo"/>
              </a:rPr>
              <a:t>A growing emphasis on diversity, equity, and inclusion (DEI) in the Indian corporate sector requires ATS platforms to support unbiased screening and comprehensive demographic reporting.</a:t>
            </a:r>
          </a:p>
          <a:p>
            <a:r>
              <a:rPr sz="1200" b="1">
                <a:solidFill>
                  <a:srgbClr val="0F2E66"/>
                </a:solidFill>
                <a:highlight>
                  <a:srgbClr val="FFFF00"/>
                </a:highlight>
                <a:latin typeface="Archivo"/>
              </a:rPr>
              <a:t>Product implication: Design mobile-first application flows, integrate SMS and WhatsApp channels for scheduling and updates, support LinkedIn-heavy sourcing, and ensure explicit first-contact consent capture for all communications.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Technological</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18</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AI adoption in India outpaces global averages, with ~40% of Indian enterprises reporting significant AI usage compared to ~28% globally, driving expectations for AI-assisted screening and matching in talent acquisition.</a:t>
            </a:r>
          </a:p>
          <a:p>
            <a:pPr marL="228600" lvl="1" indent="-182880">
              <a:spcAft>
                <a:spcPts val="600"/>
              </a:spcAft>
              <a:buFont typeface="Archivo"/>
              <a:buChar char="•"/>
            </a:pPr>
            <a:r>
              <a:rPr sz="1200">
                <a:solidFill>
                  <a:srgbClr val="0F2E66"/>
                </a:solidFill>
                <a:latin typeface="Archivo"/>
              </a:rPr>
              <a:t>Despite high adoption, ~68% of enterprises prioritise security and compliance for AI scale, and ~39% cite regulatory integration as their top challenge, demanding explainable AI models rather than black-box automation.</a:t>
            </a:r>
          </a:p>
          <a:p>
            <a:pPr marL="228600" lvl="1" indent="-182880">
              <a:spcAft>
                <a:spcPts val="600"/>
              </a:spcAft>
              <a:buFont typeface="Archivo"/>
              <a:buChar char="•"/>
            </a:pPr>
            <a:r>
              <a:rPr sz="1200">
                <a:solidFill>
                  <a:srgbClr val="0F2E66"/>
                </a:solidFill>
                <a:latin typeface="Archivo"/>
              </a:rPr>
              <a:t>Sovereign AI infrastructure investments and local data centre expansions support expectations for in-country processing, low latency, and strict adherence to emerging national data protection frameworks.</a:t>
            </a:r>
          </a:p>
          <a:p>
            <a:pPr marL="228600" lvl="1" indent="-182880">
              <a:spcAft>
                <a:spcPts val="600"/>
              </a:spcAft>
              <a:buFont typeface="Archivo"/>
              <a:buChar char="•"/>
            </a:pPr>
            <a:r>
              <a:rPr sz="1200">
                <a:solidFill>
                  <a:srgbClr val="0F2E66"/>
                </a:solidFill>
                <a:latin typeface="Archivo"/>
              </a:rPr>
              <a:t>The proliferation of AI-driven recruitment tools necessitates seamless integration capabilities and a focus on explainable AI to maintain candidate trust and regulatory compliance.</a:t>
            </a:r>
          </a:p>
          <a:p>
            <a:pPr marL="228600" lvl="1" indent="-182880">
              <a:spcAft>
                <a:spcPts val="600"/>
              </a:spcAft>
              <a:buFont typeface="Archivo"/>
              <a:buChar char="•"/>
            </a:pPr>
            <a:r>
              <a:rPr sz="1200">
                <a:solidFill>
                  <a:srgbClr val="0F2E66"/>
                </a:solidFill>
                <a:latin typeface="Archivo"/>
              </a:rPr>
              <a:t>Increasing cybersecurity threats highlight the critical importance of secure data handling and robust access controls within the recruiting technology stack.</a:t>
            </a:r>
          </a:p>
          <a:p>
            <a:r>
              <a:rPr sz="1200" b="1">
                <a:solidFill>
                  <a:srgbClr val="0F2E66"/>
                </a:solidFill>
                <a:highlight>
                  <a:srgbClr val="FFFF00"/>
                </a:highlight>
                <a:latin typeface="Archivo"/>
              </a:rPr>
              <a:t>Product implication: Activate AI screening and scheduling where demanded, but pair these capabilities with comprehensive audit logs, human-in-the-loop review options, explainable workflows, and clear privacy notices for automated decisions.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Environmental</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19</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While lacking recruiting-specific environmental statutes, listed Indian employers face increasing pressure from SEBI's Business Responsibility and Sustainability Reporting (BRSR) mandates regarding workforce composition and inclusion.</a:t>
            </a:r>
          </a:p>
          <a:p>
            <a:pPr marL="228600" lvl="1" indent="-182880">
              <a:spcAft>
                <a:spcPts val="600"/>
              </a:spcAft>
              <a:buFont typeface="Archivo"/>
              <a:buChar char="•"/>
            </a:pPr>
            <a:r>
              <a:rPr sz="1200">
                <a:solidFill>
                  <a:srgbClr val="0F2E66"/>
                </a:solidFill>
                <a:latin typeface="Archivo"/>
              </a:rPr>
              <a:t>Sustainability reporting requirements are pushing diversity and inclusion metrics upstream from payroll into the talent acquisition phase, requiring ATS platforms to capture and report on demographic data securely and compliantly.</a:t>
            </a:r>
          </a:p>
          <a:p>
            <a:pPr marL="228600" lvl="1" indent="-182880">
              <a:spcAft>
                <a:spcPts val="600"/>
              </a:spcAft>
              <a:buFont typeface="Archivo"/>
              <a:buChar char="•"/>
            </a:pPr>
            <a:r>
              <a:rPr sz="1200">
                <a:solidFill>
                  <a:srgbClr val="0F2E66"/>
                </a:solidFill>
                <a:latin typeface="Archivo"/>
              </a:rPr>
              <a:t>The emergence of green jobs and shifting sector skill mixes influence sourcing strategies, but these trends do not currently mandate heavy, bespoke sustainability features within core applicant tracking systems.</a:t>
            </a:r>
          </a:p>
          <a:p>
            <a:pPr marL="228600" lvl="1" indent="-182880">
              <a:spcAft>
                <a:spcPts val="600"/>
              </a:spcAft>
              <a:buFont typeface="Archivo"/>
              <a:buChar char="•"/>
            </a:pPr>
            <a:r>
              <a:rPr sz="1200">
                <a:solidFill>
                  <a:srgbClr val="0F2E66"/>
                </a:solidFill>
                <a:latin typeface="Archivo"/>
              </a:rPr>
              <a:t>Corporate sustainability goals are increasingly influencing vendor selection, requiring HR tech providers to demonstrate energy-efficient infrastructure and sustainable business practices.</a:t>
            </a:r>
          </a:p>
          <a:p>
            <a:pPr marL="228600" lvl="1" indent="-182880">
              <a:spcAft>
                <a:spcPts val="600"/>
              </a:spcAft>
              <a:buFont typeface="Archivo"/>
              <a:buChar char="•"/>
            </a:pPr>
            <a:r>
              <a:rPr sz="1200">
                <a:solidFill>
                  <a:srgbClr val="0F2E66"/>
                </a:solidFill>
                <a:latin typeface="Archivo"/>
              </a:rPr>
              <a:t>The push for paperless onboarding and digital document management aligns with broader environmental initiatives and reduces the carbon footprint of the hiring process.</a:t>
            </a:r>
          </a:p>
          <a:p>
            <a:r>
              <a:rPr sz="1200" b="1">
                <a:solidFill>
                  <a:srgbClr val="0F2E66"/>
                </a:solidFill>
                <a:highlight>
                  <a:srgbClr val="FFFF00"/>
                </a:highlight>
                <a:latin typeface="Archivo"/>
              </a:rPr>
              <a:t>Product implication: Maintain a secondary focus on bespoke environmental features; instead, enable robust diversity data collection during hiring to support corporate sustainability reporting narratives without over-engineering the ATS.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Legal</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20</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The Digital Personal Data Protection (DPDP) Act 2023 establishes strict rules for data fiduciaries, mandating explicit consent, purpose limitation, breach notification, and robust data retention and deletion capabilities.</a:t>
            </a:r>
          </a:p>
          <a:p>
            <a:pPr marL="228600" lvl="1" indent="-182880">
              <a:spcAft>
                <a:spcPts val="600"/>
              </a:spcAft>
              <a:buFont typeface="Archivo"/>
              <a:buChar char="•"/>
            </a:pPr>
            <a:r>
              <a:rPr sz="1200">
                <a:solidFill>
                  <a:srgbClr val="0F2E66"/>
                </a:solidFill>
                <a:latin typeface="Archivo"/>
              </a:rPr>
              <a:t>Following the 2018 Supreme Court ruling striking down Section 57, private employers cannot mandate Aadhaar for identity verification, requiring flexible, multi-document eKYC workflows that do not rely solely on Aadhaar defaults.</a:t>
            </a:r>
          </a:p>
          <a:p>
            <a:pPr marL="228600" lvl="1" indent="-182880">
              <a:spcAft>
                <a:spcPts val="600"/>
              </a:spcAft>
              <a:buFont typeface="Archivo"/>
              <a:buChar char="•"/>
            </a:pPr>
            <a:r>
              <a:rPr sz="1200">
                <a:solidFill>
                  <a:srgbClr val="0F2E66"/>
                </a:solidFill>
                <a:latin typeface="Archivo"/>
              </a:rPr>
              <a:t>Multinational enterprises operating in India remain bound by EU GDPR and the EU AI Act, necessitating comprehensive Data Protection Impact Assessments (DPIAs) and strict governance for high-risk AI tools used in hiring.</a:t>
            </a:r>
          </a:p>
          <a:p>
            <a:pPr marL="228600" lvl="1" indent="-182880">
              <a:spcAft>
                <a:spcPts val="600"/>
              </a:spcAft>
              <a:buFont typeface="Archivo"/>
              <a:buChar char="•"/>
            </a:pPr>
            <a:r>
              <a:rPr sz="1200">
                <a:solidFill>
                  <a:srgbClr val="0F2E66"/>
                </a:solidFill>
                <a:latin typeface="Archivo"/>
              </a:rPr>
              <a:t>Complex and frequently changing local labour laws require an agile ATS architecture capable of rapid updates to maintain compliance across different Indian states.</a:t>
            </a:r>
          </a:p>
          <a:p>
            <a:pPr marL="228600" lvl="1" indent="-182880">
              <a:spcAft>
                <a:spcPts val="600"/>
              </a:spcAft>
              <a:buFont typeface="Archivo"/>
              <a:buChar char="•"/>
            </a:pPr>
            <a:r>
              <a:rPr sz="1200">
                <a:solidFill>
                  <a:srgbClr val="0F2E66"/>
                </a:solidFill>
                <a:latin typeface="Archivo"/>
              </a:rPr>
              <a:t>Stringent background verification regulations mandate secure, auditable integrations with certified third-party vendors to mitigate legal risks in the hiring process.</a:t>
            </a:r>
          </a:p>
          <a:p>
            <a:r>
              <a:rPr sz="1200" b="1">
                <a:solidFill>
                  <a:srgbClr val="0F2E66"/>
                </a:solidFill>
                <a:highlight>
                  <a:srgbClr val="FFFF00"/>
                </a:highlight>
                <a:latin typeface="Archivo"/>
              </a:rPr>
              <a:t>Product implication: Deliver granular consent capture, automated retention and purge schedules, and lawful non-Aadhaar identity verification; preserve GDPR rights tooling and human oversight for all AI-assisted processing.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768"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911769" name="TextBox 911768"/>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911770" name="TextBox 911769"/>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21</a:t>
            </a:r>
          </a:p>
        </p:txBody>
      </p:sp>
      <p:sp>
        <p:nvSpPr>
          <p:cNvPr id="911771" name="TextBox 911770"/>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6
Competitive landscape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249"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Competitive Landscape - Regional Specialists</a:t>
            </a:r>
          </a:p>
        </p:txBody>
      </p:sp>
      <p:sp>
        <p:nvSpPr>
          <p:cNvPr id="144250" name="TextBox 144249"/>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144251" name="TextBox 144250"/>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22</a:t>
            </a:r>
          </a:p>
        </p:txBody>
      </p:sp>
      <p:graphicFrame>
        <p:nvGraphicFramePr>
          <p:cNvPr id="144252" name="Table 144251"/>
          <p:cNvGraphicFramePr>
            <a:graphicFrameLocks noGrp="1"/>
          </p:cNvGraphicFramePr>
          <p:nvPr/>
        </p:nvGraphicFramePr>
        <p:xfrm>
          <a:off x="320040" y="914400"/>
          <a:ext cx="8503920" cy="2743200"/>
        </p:xfrm>
        <a:graphic>
          <a:graphicData uri="http://schemas.openxmlformats.org/drawingml/2006/table">
            <a:tbl>
              <a:tblPr firstRow="1" bandRow="1">
                <a:tableStyleId>{5C22544A-7EE6-4342-B048-85BDC9FD1C3A}</a:tableStyleId>
              </a:tblPr>
              <a:tblGrid>
                <a:gridCol w="1700784">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gridCol w="1700784">
                  <a:extLst>
                    <a:ext uri="{9D8B030D-6E8A-4147-A177-3AD203B41FA5}">
                      <a16:colId xmlns:a16="http://schemas.microsoft.com/office/drawing/2014/main" val="20002"/>
                    </a:ext>
                  </a:extLst>
                </a:gridCol>
                <a:gridCol w="1700784">
                  <a:extLst>
                    <a:ext uri="{9D8B030D-6E8A-4147-A177-3AD203B41FA5}">
                      <a16:colId xmlns:a16="http://schemas.microsoft.com/office/drawing/2014/main" val="20003"/>
                    </a:ext>
                  </a:extLst>
                </a:gridCol>
                <a:gridCol w="1700784">
                  <a:extLst>
                    <a:ext uri="{9D8B030D-6E8A-4147-A177-3AD203B41FA5}">
                      <a16:colId xmlns:a16="http://schemas.microsoft.com/office/drawing/2014/main" val="20004"/>
                    </a:ext>
                  </a:extLst>
                </a:gridCol>
              </a:tblGrid>
              <a:tr h="548640">
                <a:tc>
                  <a:txBody>
                    <a:bodyPr/>
                    <a:lstStyle/>
                    <a:p>
                      <a:r>
                        <a:rPr sz="800" b="1">
                          <a:solidFill>
                            <a:srgbClr val="FFFFFF"/>
                          </a:solidFill>
                        </a:rPr>
                        <a:t>Vendor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Key Strengths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Key Weaknesses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India Fit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Notes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extLst>
                  <a:ext uri="{0D108BD9-81ED-4DB2-BD59-A6C34878D82A}">
                    <a16:rowId xmlns:a16="http://schemas.microsoft.com/office/drawing/2014/main" val="10000"/>
                  </a:ext>
                </a:extLst>
              </a:tr>
              <a:tr h="548640">
                <a:tc>
                  <a:txBody>
                    <a:bodyPr/>
                    <a:lstStyle/>
                    <a:p>
                      <a:r>
                        <a:rPr sz="800"/>
                        <a:t>Darwinbox</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AI and fabric narratives; DPDP landing pages; enterprise HRMS bundle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Security diligence varies by buyer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India enterprise velocity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Omnichannel marketing pressure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1"/>
                  </a:ext>
                </a:extLst>
              </a:tr>
              <a:tr h="548640">
                <a:tc>
                  <a:txBody>
                    <a:bodyPr/>
                    <a:lstStyle/>
                    <a:p>
                      <a:r>
                        <a:rPr sz="800"/>
                        <a:t>Keka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INR packaging; multipost channels; mobile app languages; SpringVerify-style BGV guides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Narrower global enterprise depth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Mid-market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Local board expectations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2"/>
                  </a:ext>
                </a:extLst>
              </a:tr>
              <a:tr h="548640">
                <a:tc>
                  <a:txBody>
                    <a:bodyPr/>
                    <a:lstStyle/>
                    <a:p>
                      <a:r>
                        <a:rPr sz="800"/>
                        <a:t>Zoho Recruit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Twilio SMS; Marketplace WhatsApp; Zia mobile; TCO bundle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Enterprise RFP depth vs global HCM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SMB and self-serve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Marketplace identity apps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3"/>
                  </a:ext>
                </a:extLst>
              </a:tr>
              <a:tr h="548640">
                <a:tc>
                  <a:txBody>
                    <a:bodyPr/>
                    <a:lstStyle/>
                    <a:p>
                      <a:r>
                        <a:rPr sz="800"/>
                        <a:t>greytHR / PeopleStrong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Payroll adjacency; omnichannel stats; campus and volume editorial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Global template comparisons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Bundled HRMS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High-volume positioning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Competitive Landscape - Global Platforms</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23</a:t>
            </a:r>
          </a:p>
        </p:txBody>
      </p:sp>
      <p:graphicFrame>
        <p:nvGraphicFramePr>
          <p:cNvPr id="5" name="Table 4"/>
          <p:cNvGraphicFramePr>
            <a:graphicFrameLocks noGrp="1"/>
          </p:cNvGraphicFramePr>
          <p:nvPr/>
        </p:nvGraphicFramePr>
        <p:xfrm>
          <a:off x="320040" y="914400"/>
          <a:ext cx="8503920" cy="2743200"/>
        </p:xfrm>
        <a:graphic>
          <a:graphicData uri="http://schemas.openxmlformats.org/drawingml/2006/table">
            <a:tbl>
              <a:tblPr firstRow="1" bandRow="1">
                <a:tableStyleId>{5C22544A-7EE6-4342-B048-85BDC9FD1C3A}</a:tableStyleId>
              </a:tblPr>
              <a:tblGrid>
                <a:gridCol w="1700784">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gridCol w="1700784">
                  <a:extLst>
                    <a:ext uri="{9D8B030D-6E8A-4147-A177-3AD203B41FA5}">
                      <a16:colId xmlns:a16="http://schemas.microsoft.com/office/drawing/2014/main" val="20002"/>
                    </a:ext>
                  </a:extLst>
                </a:gridCol>
                <a:gridCol w="1700784">
                  <a:extLst>
                    <a:ext uri="{9D8B030D-6E8A-4147-A177-3AD203B41FA5}">
                      <a16:colId xmlns:a16="http://schemas.microsoft.com/office/drawing/2014/main" val="20003"/>
                    </a:ext>
                  </a:extLst>
                </a:gridCol>
                <a:gridCol w="1700784">
                  <a:extLst>
                    <a:ext uri="{9D8B030D-6E8A-4147-A177-3AD203B41FA5}">
                      <a16:colId xmlns:a16="http://schemas.microsoft.com/office/drawing/2014/main" val="20004"/>
                    </a:ext>
                  </a:extLst>
                </a:gridCol>
              </a:tblGrid>
              <a:tr h="548640">
                <a:tc>
                  <a:txBody>
                    <a:bodyPr/>
                    <a:lstStyle/>
                    <a:p>
                      <a:r>
                        <a:rPr sz="800" b="1">
                          <a:solidFill>
                            <a:srgbClr val="FFFFFF"/>
                          </a:solidFill>
                        </a:rPr>
                        <a:t>Vendor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Key Strengths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Key Weaknesses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India Fit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Notes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extLst>
                  <a:ext uri="{0D108BD9-81ED-4DB2-BD59-A6C34878D82A}">
                    <a16:rowId xmlns:a16="http://schemas.microsoft.com/office/drawing/2014/main" val="10000"/>
                  </a:ext>
                </a:extLst>
              </a:tr>
              <a:tr h="548640">
                <a:tc>
                  <a:txBody>
                    <a:bodyPr/>
                    <a:lstStyle/>
                    <a:p>
                      <a:r>
                        <a:rPr sz="800"/>
                        <a:t>SAP SuccessFactors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SmartRecruiters embedded narrative Mar 2026; incumbency in MNC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Innovation perception vs best-of-breed ATS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Large India enterprise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Tight AI story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1"/>
                  </a:ext>
                </a:extLst>
              </a:tr>
              <a:tr h="548640">
                <a:tc>
                  <a:txBody>
                    <a:bodyPr/>
                    <a:lstStyle/>
                    <a:p>
                      <a:r>
                        <a:rPr sz="800"/>
                        <a:t>Oracle Fusion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Oracle AI-assisted and Career Coach India copy; ERP footprint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Cost and complexity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GCC and enterprise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SMS and WhatsApp marketing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2"/>
                  </a:ext>
                </a:extLst>
              </a:tr>
              <a:tr h="548640">
                <a:tc>
                  <a:txBody>
                    <a:bodyPr/>
                    <a:lstStyle/>
                    <a:p>
                      <a:r>
                        <a:rPr sz="800"/>
                        <a:t>iCIMS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Frontline AI Spring 2026; SMS, WhatsApp, web flows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Suite adjacency vs Workday HCM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BPO high-volume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Omnichannel bar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3"/>
                  </a:ext>
                </a:extLst>
              </a:tr>
              <a:tr h="548640">
                <a:tc>
                  <a:txBody>
                    <a:bodyPr/>
                    <a:lstStyle/>
                    <a:p>
                      <a:r>
                        <a:rPr sz="800"/>
                        <a:t>Greenhouse plus Naukri</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Productised Naukri integration; in-ATS posting UX benchmark</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Not a full HCM suite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Board UX reference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Contrast with multiposter workaround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7504"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Competitive SWOT - Workday in India</a:t>
            </a:r>
          </a:p>
        </p:txBody>
      </p:sp>
      <p:sp>
        <p:nvSpPr>
          <p:cNvPr id="457505" name="TextBox 457504"/>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57506" name="TextBox 457505"/>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24</a:t>
            </a:r>
          </a:p>
        </p:txBody>
      </p:sp>
      <p:graphicFrame>
        <p:nvGraphicFramePr>
          <p:cNvPr id="457507" name="Table 457506"/>
          <p:cNvGraphicFramePr>
            <a:graphicFrameLocks noGrp="1"/>
          </p:cNvGraphicFramePr>
          <p:nvPr/>
        </p:nvGraphicFramePr>
        <p:xfrm>
          <a:off x="320040" y="914400"/>
          <a:ext cx="8503920" cy="2743200"/>
        </p:xfrm>
        <a:graphic>
          <a:graphicData uri="http://schemas.openxmlformats.org/drawingml/2006/table">
            <a:tbl>
              <a:tblPr firstRow="1" bandRow="1">
                <a:tableStyleId>{5C22544A-7EE6-4342-B048-85BDC9FD1C3A}</a:tableStyleId>
              </a:tblPr>
              <a:tblGrid>
                <a:gridCol w="425196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tblGrid>
              <a:tr h="685800">
                <a:tc>
                  <a:txBody>
                    <a:bodyPr/>
                    <a:lstStyle/>
                    <a:p>
                      <a:r>
                        <a:rPr sz="900" b="1">
                          <a:solidFill>
                            <a:srgbClr val="FFFFFF"/>
                          </a:solidFill>
                        </a:rPr>
                        <a:t>Strengths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900" b="1">
                          <a:solidFill>
                            <a:srgbClr val="FFFFFF"/>
                          </a:solidFill>
                        </a:rPr>
                        <a:t>Weaknesses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extLst>
                  <a:ext uri="{0D108BD9-81ED-4DB2-BD59-A6C34878D82A}">
                    <a16:rowId xmlns:a16="http://schemas.microsoft.com/office/drawing/2014/main" val="10000"/>
                  </a:ext>
                </a:extLst>
              </a:tr>
              <a:tr h="685800">
                <a:tc>
                  <a:txBody>
                    <a:bodyPr/>
                    <a:lstStyle/>
                    <a:p>
                      <a:r>
                        <a:rPr sz="900"/>
                        <a:t>Suite hire-to-retire coherence; native UDMF; BGV via Job Application BP plus Core Connector and Studio; configurable consent, retention, purge; Hindi; bulk grid; in-country AWS India hosting narrative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900"/>
                        <a:t>True gaps: native +91 SMS; native WhatsApp in core Recruiting UI; native UIDAI Aadhaar eKYC; OOTB Naukri-class multipost without multipartner or Studio; mobile recruiter partial parity; advanced semantic AI behind licence boundaries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1"/>
                  </a:ext>
                </a:extLst>
              </a:tr>
              <a:tr h="685800">
                <a:tc>
                  <a:txBody>
                    <a:bodyPr/>
                    <a:lstStyle/>
                    <a:p>
                      <a:r>
                        <a:rPr sz="900"/>
                        <a:t>Opportunities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900"/>
                        <a:t>Threats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2"/>
                  </a:ext>
                </a:extLst>
              </a:tr>
              <a:tr h="685800">
                <a:tc>
                  <a:txBody>
                    <a:bodyPr/>
                    <a:lstStyle/>
                    <a:p>
                      <a:r>
                        <a:rPr sz="900"/>
                        <a:t>Eight-customer India row; IMARC HR tech expansion; DPDP phased readiness as trust differentiator; HiredScore activation for high volume; partner-led boards and CPaaS runbooks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900"/>
                        <a:t>Regional suite TCO bundles; SAP, Oracle, iCIMS 2026 AI and omnichannel press; DPDP penalties and SDF duties; fraud discourse raising KYC demo bars without lawful Aadhaar defaults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0388"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530389" name="TextBox 530388"/>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530390" name="TextBox 530389"/>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25</a:t>
            </a:r>
          </a:p>
        </p:txBody>
      </p:sp>
      <p:sp>
        <p:nvSpPr>
          <p:cNvPr id="530391" name="TextBox 530390"/>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7
Win / Loss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Win/Loss - India Presales Scope</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26</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Opportunity Detail export in global gap-data folder, Talent Acquisition and five-year filter: 379 rows; India keyword scan finds three North America-segment deals citing India hiring in text fields.</a:t>
            </a:r>
          </a:p>
          <a:p>
            <a:pPr marL="228600" lvl="1" indent="-182880">
              <a:spcAft>
                <a:spcPts val="600"/>
              </a:spcAft>
              <a:buFont typeface="Archivo"/>
              <a:buChar char="•"/>
            </a:pPr>
            <a:r>
              <a:rPr sz="1200">
                <a:solidFill>
                  <a:srgbClr val="0F2E66"/>
                </a:solidFill>
                <a:latin typeface="Archivo"/>
              </a:rPr>
              <a:t>Severity: none at levels 1-2; two at level 4 (scheduling across India or US hours; Candidate Home versus local India); one at level 5 (questionnaire agility on India reqs; buyers cite Greenhouse or iCIMS contrast).</a:t>
            </a:r>
          </a:p>
          <a:p>
            <a:pPr marL="228600" lvl="1" indent="-182880">
              <a:spcAft>
                <a:spcPts val="600"/>
              </a:spcAft>
              <a:buFont typeface="Archivo"/>
              <a:buChar char="•"/>
            </a:pPr>
            <a:r>
              <a:rPr sz="1200">
                <a:solidFill>
                  <a:srgbClr val="0F2E66"/>
                </a:solidFill>
                <a:latin typeface="Archivo"/>
              </a:rPr>
              <a:t>No Aadhaar or fraud-primary rows appear in this filter; presales data underweights in-territory India, so pair these rows with interviews, ideation quant, and competitive matrix before roadmap bets.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3152"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Win/Loss - Ideation Pain Index</a:t>
            </a:r>
          </a:p>
        </p:txBody>
      </p:sp>
      <p:sp>
        <p:nvSpPr>
          <p:cNvPr id="853153" name="TextBox 85315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853154" name="TextBox 85315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27</a:t>
            </a:r>
          </a:p>
        </p:txBody>
      </p:sp>
      <p:sp>
        <p:nvSpPr>
          <p:cNvPr id="853155" name="TextBox 853154"/>
          <p:cNvSpPr txBox="1"/>
          <p:nvPr/>
        </p:nvSpPr>
        <p:spPr>
          <a:xfrm>
            <a:off x="640080" y="4343400"/>
            <a:ext cx="7863840" cy="68580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About ten thousand Talent Acquisition-filtered ideas (export 30 March 2026) show Communications, Job Requisitions, Offers, and Candidates in the hardest sentiment-and-effort quadrant alongside Applications.</a:t>
            </a:r>
          </a:p>
          <a:p>
            <a:pPr marL="228600" lvl="1" indent="-182880">
              <a:spcAft>
                <a:spcPts val="600"/>
              </a:spcAft>
              <a:buFont typeface="Archivo"/>
              <a:buChar char="•"/>
            </a:pPr>
            <a:r>
              <a:rPr sz="1200">
                <a:solidFill>
                  <a:srgbClr val="0F2E66"/>
                </a:solidFill>
                <a:latin typeface="Archivo"/>
              </a:rPr>
              <a:t>India-named strings were not found in the flattened export; treat counts as global reinforcement of capability buckets that interviews already stress.</a:t>
            </a:r>
          </a:p>
          <a:p>
            <a:pPr marL="228600" lvl="1" indent="-182880">
              <a:spcAft>
                <a:spcPts val="600"/>
              </a:spcAft>
              <a:buFont typeface="Archivo"/>
              <a:buChar char="•"/>
            </a:pPr>
            <a:r>
              <a:rPr sz="1200">
                <a:solidFill>
                  <a:srgbClr val="0F2E66"/>
                </a:solidFill>
                <a:latin typeface="Archivo"/>
              </a:rPr>
              <a:t>Use this chart alongside the three India-linked presales rows and customer interviews so volume pain is visible even when CRM geography facets are incomplete.</a:t>
            </a:r>
          </a:p>
        </p:txBody>
      </p:sp>
      <p:graphicFrame>
        <p:nvGraphicFramePr>
          <p:cNvPr id="853156" name="Chart 853155"/>
          <p:cNvGraphicFramePr>
            <a:graphicFrameLocks noGrp="1"/>
          </p:cNvGraphicFramePr>
          <p:nvPr/>
        </p:nvGraphicFramePr>
        <p:xfrm>
          <a:off x="457200" y="1234440"/>
          <a:ext cx="8229600" cy="29260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Win/Loss - India-Linked Deal Rows</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28</a:t>
            </a:r>
          </a:p>
        </p:txBody>
      </p:sp>
      <p:graphicFrame>
        <p:nvGraphicFramePr>
          <p:cNvPr id="5" name="Table 4"/>
          <p:cNvGraphicFramePr>
            <a:graphicFrameLocks noGrp="1"/>
          </p:cNvGraphicFramePr>
          <p:nvPr/>
        </p:nvGraphicFramePr>
        <p:xfrm>
          <a:off x="320040" y="960120"/>
          <a:ext cx="8503920" cy="2743200"/>
        </p:xfrm>
        <a:graphic>
          <a:graphicData uri="http://schemas.openxmlformats.org/drawingml/2006/table">
            <a:tbl>
              <a:tblPr firstRow="1" bandRow="1">
                <a:tableStyleId>{5C22544A-7EE6-4342-B048-85BDC9FD1C3A}</a:tableStyleId>
              </a:tblPr>
              <a:tblGrid>
                <a:gridCol w="2125980">
                  <a:extLst>
                    <a:ext uri="{9D8B030D-6E8A-4147-A177-3AD203B41FA5}">
                      <a16:colId xmlns:a16="http://schemas.microsoft.com/office/drawing/2014/main" val="20000"/>
                    </a:ext>
                  </a:extLst>
                </a:gridCol>
                <a:gridCol w="2125980">
                  <a:extLst>
                    <a:ext uri="{9D8B030D-6E8A-4147-A177-3AD203B41FA5}">
                      <a16:colId xmlns:a16="http://schemas.microsoft.com/office/drawing/2014/main" val="20001"/>
                    </a:ext>
                  </a:extLst>
                </a:gridCol>
                <a:gridCol w="2125980">
                  <a:extLst>
                    <a:ext uri="{9D8B030D-6E8A-4147-A177-3AD203B41FA5}">
                      <a16:colId xmlns:a16="http://schemas.microsoft.com/office/drawing/2014/main" val="20002"/>
                    </a:ext>
                  </a:extLst>
                </a:gridCol>
                <a:gridCol w="2125980">
                  <a:extLst>
                    <a:ext uri="{9D8B030D-6E8A-4147-A177-3AD203B41FA5}">
                      <a16:colId xmlns:a16="http://schemas.microsoft.com/office/drawing/2014/main" val="20003"/>
                    </a:ext>
                  </a:extLst>
                </a:gridCol>
              </a:tblGrid>
              <a:tr h="548640">
                <a:tc>
                  <a:txBody>
                    <a:bodyPr/>
                    <a:lstStyle/>
                    <a:p>
                      <a:r>
                        <a:rPr sz="700" b="1">
                          <a:solidFill>
                            <a:srgbClr val="FFFFFF"/>
                          </a:solidFill>
                        </a:rPr>
                        <a:t>Gap ID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Capability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Severity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India signal (summary)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extLst>
                  <a:ext uri="{0D108BD9-81ED-4DB2-BD59-A6C34878D82A}">
                    <a16:rowId xmlns:a16="http://schemas.microsoft.com/office/drawing/2014/main" val="10000"/>
                  </a:ext>
                </a:extLst>
              </a:tr>
              <a:tr h="548640">
                <a:tc>
                  <a:txBody>
                    <a:bodyPr/>
                    <a:lstStyle/>
                    <a:p>
                      <a:r>
                        <a:rPr sz="700"/>
                        <a:t>PG-00010874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Interviews / self-scheduling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India hours versus US time zones; partner-heavy workaround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1"/>
                  </a:ext>
                </a:extLst>
              </a:tr>
              <a:tr h="548640">
                <a:tc>
                  <a:txBody>
                    <a:bodyPr/>
                    <a:lstStyle/>
                    <a:p>
                      <a:r>
                        <a:rPr sz="700"/>
                        <a:t>PG-00007761</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Candidate Home / apply path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~50% India hires off local site; account friction versus Candidate Home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2"/>
                  </a:ext>
                </a:extLst>
              </a:tr>
              <a:tr h="548640">
                <a:tc>
                  <a:txBody>
                    <a:bodyPr/>
                    <a:lstStyle/>
                    <a:p>
                      <a:r>
                        <a:rPr sz="700"/>
                        <a:t>PG-00009493</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Job reqs / questionnaires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High-volume India reqs; TA cannot adjust knock-outs vs HRIS locks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3"/>
                  </a:ext>
                </a:extLst>
              </a:tr>
              <a:tr h="548640">
                <a:tc>
                  <a:txBody>
                    <a:bodyPr/>
                    <a:lstStyle/>
                    <a:p>
                      <a:r>
                        <a:rPr sz="700"/>
                        <a:t>Matrix cross-check</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Channels / boards / eKYC</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True gap rows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See SWOT plus in-competitive-matrix.md v1.11 for native versus workaround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5372"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395373" name="TextBox 39537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395374" name="TextBox 39537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29</a:t>
            </a:r>
          </a:p>
        </p:txBody>
      </p:sp>
      <p:sp>
        <p:nvSpPr>
          <p:cNvPr id="395375" name="TextBox 395374"/>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8
Ideation hub</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599"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Ideation Hub - Overview</a:t>
            </a:r>
          </a:p>
        </p:txBody>
      </p:sp>
      <p:sp>
        <p:nvSpPr>
          <p:cNvPr id="624600" name="TextBox 624599"/>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624601" name="TextBox 624600"/>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30</a:t>
            </a:r>
          </a:p>
        </p:txBody>
      </p:sp>
      <p:sp>
        <p:nvSpPr>
          <p:cNvPr id="624602" name="TextBox 624601"/>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customer ideation data export dated 30 March 2026 yields about ten thousand ideas with the Talent Acquisition linked filter on the Product Features model.</a:t>
            </a:r>
          </a:p>
          <a:p>
            <a:pPr marL="228600" lvl="1" indent="-182880">
              <a:spcAft>
                <a:spcPts val="600"/>
              </a:spcAft>
              <a:buFont typeface="Archivo"/>
              <a:buChar char="•"/>
            </a:pPr>
            <a:r>
              <a:rPr sz="1200">
                <a:solidFill>
                  <a:srgbClr val="0F2E66"/>
                </a:solidFill>
                <a:latin typeface="Archivo"/>
              </a:rPr>
              <a:t>Aggregate sentiment on the export gauge is modestly negative (about -0.163) with hard effort (about -1.23), signalling systemic workaround pain rather than isolated complaints.</a:t>
            </a:r>
          </a:p>
          <a:p>
            <a:pPr marL="228600" lvl="1" indent="-182880">
              <a:spcAft>
                <a:spcPts val="600"/>
              </a:spcAft>
              <a:buFont typeface="Archivo"/>
              <a:buChar char="•"/>
            </a:pPr>
            <a:r>
              <a:rPr sz="1200">
                <a:solidFill>
                  <a:srgbClr val="0F2E66"/>
                </a:solidFill>
                <a:latin typeface="Archivo"/>
              </a:rPr>
              <a:t>Verbatim row-level text is limited in the materialised scratch dump; quantitative voice leans on capability volume, sentiment, and effort indices from dashboard sheets.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Ideation Hub - Top Capability Volumes</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31</a:t>
            </a:r>
          </a:p>
        </p:txBody>
      </p:sp>
      <p:sp>
        <p:nvSpPr>
          <p:cNvPr id="5" name="TextBox 4"/>
          <p:cNvSpPr txBox="1"/>
          <p:nvPr/>
        </p:nvSpPr>
        <p:spPr>
          <a:xfrm>
            <a:off x="640080" y="4343400"/>
            <a:ext cx="7863840" cy="68580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Communications and Offers combine high N with very hard effort indices, mirroring Teleperformance India pain on notifications and offer documents.</a:t>
            </a:r>
          </a:p>
          <a:p>
            <a:pPr marL="228600" lvl="1" indent="-182880">
              <a:spcAft>
                <a:spcPts val="600"/>
              </a:spcAft>
              <a:buFont typeface="Archivo"/>
              <a:buChar char="•"/>
            </a:pPr>
            <a:r>
              <a:rPr sz="1200">
                <a:solidFill>
                  <a:srgbClr val="0F2E66"/>
                </a:solidFill>
                <a:latin typeface="Archivo"/>
              </a:rPr>
              <a:t>Compliance and Data Privacy sits at 851 ideas with negative sentiment, supporting DPDP-first roadmaps without claiming India-only row counts.</a:t>
            </a:r>
          </a:p>
          <a:p>
            <a:pPr marL="228600" lvl="1" indent="-182880">
              <a:spcAft>
                <a:spcPts val="600"/>
              </a:spcAft>
              <a:buFont typeface="Archivo"/>
              <a:buChar char="•"/>
            </a:pPr>
            <a:r>
              <a:rPr sz="1200">
                <a:solidFill>
                  <a:srgbClr val="0F2E66"/>
                </a:solidFill>
                <a:latin typeface="Archivo"/>
              </a:rPr>
              <a:t>Volumes are global indices; pair with India interviews for regional prioritisation, not standalone proof of India-only prevalence.</a:t>
            </a:r>
          </a:p>
        </p:txBody>
      </p:sp>
      <p:graphicFrame>
        <p:nvGraphicFramePr>
          <p:cNvPr id="6" name="Chart 5"/>
          <p:cNvGraphicFramePr>
            <a:graphicFrameLocks noGrp="1"/>
          </p:cNvGraphicFramePr>
          <p:nvPr/>
        </p:nvGraphicFramePr>
        <p:xfrm>
          <a:off x="457200" y="1234440"/>
          <a:ext cx="8229600" cy="29260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34"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Ideation Hub: Key Themes</a:t>
            </a:r>
          </a:p>
        </p:txBody>
      </p:sp>
      <p:sp>
        <p:nvSpPr>
          <p:cNvPr id="308235" name="TextBox 308234"/>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308236" name="TextBox 308235"/>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32</a:t>
            </a:r>
          </a:p>
        </p:txBody>
      </p:sp>
      <p:sp>
        <p:nvSpPr>
          <p:cNvPr id="308237" name="TextBox 308236"/>
          <p:cNvSpPr txBox="1"/>
          <p:nvPr/>
        </p:nvSpPr>
        <p:spPr>
          <a:xfrm>
            <a:off x="640080" y="1097280"/>
            <a:ext cx="7863840" cy="2560320"/>
          </a:xfrm>
          <a:prstGeom prst="rect">
            <a:avLst/>
          </a:prstGeom>
          <a:noFill/>
        </p:spPr>
        <p:txBody>
          <a:bodyPr wrap="square">
            <a:spAutoFit/>
          </a:bodyPr>
          <a:lstStyle/>
          <a:p>
            <a:r>
              <a:rPr sz="1400" b="1">
                <a:solidFill>
                  <a:srgbClr val="0F2E66"/>
                </a:solidFill>
                <a:latin typeface="Archivo"/>
              </a:rPr>
              <a:t>Offers and compensation visibility</a:t>
            </a:r>
          </a:p>
          <a:p>
            <a:pPr marL="228600" lvl="1" indent="-182880">
              <a:spcAft>
                <a:spcPts val="600"/>
              </a:spcAft>
              <a:buFont typeface="Archivo"/>
              <a:buChar char="•"/>
            </a:pPr>
            <a:r>
              <a:rPr sz="1200">
                <a:solidFill>
                  <a:srgbClr val="0F2E66"/>
                </a:solidFill>
                <a:latin typeface="Archivo"/>
              </a:rPr>
              <a:t>Internal ideas ask for requisition-scoped compensation visibility before offer workflow steps, echoing India tabular disclosure and early comp visibility pain.</a:t>
            </a:r>
          </a:p>
          <a:p>
            <a:pPr marL="228600" lvl="1" indent="-182880">
              <a:spcAft>
                <a:spcPts val="600"/>
              </a:spcAft>
              <a:buFont typeface="Archivo"/>
              <a:buChar char="•"/>
            </a:pPr>
            <a:r>
              <a:rPr sz="1200">
                <a:solidFill>
                  <a:srgbClr val="0F2E66"/>
                </a:solidFill>
                <a:latin typeface="Archivo"/>
              </a:rPr>
              <a:t>Localisation opt-in by country of work still fails early internal-candidate pay visibility needs according to long-form workaround text in the export.</a:t>
            </a:r>
          </a:p>
          <a:p>
            <a:r>
              <a:rPr sz="1400" b="1">
                <a:solidFill>
                  <a:srgbClr val="0F2E66"/>
                </a:solidFill>
                <a:latin typeface="Archivo"/>
              </a:rPr>
              <a:t>Apply, location, and screening scale</a:t>
            </a:r>
          </a:p>
          <a:p>
            <a:pPr marL="228600" lvl="1" indent="-182880">
              <a:spcAft>
                <a:spcPts val="600"/>
              </a:spcAft>
              <a:buFont typeface="Archivo"/>
              <a:buChar char="•"/>
            </a:pPr>
            <a:r>
              <a:rPr sz="1200">
                <a:solidFill>
                  <a:srgbClr val="0F2E66"/>
                </a:solidFill>
                <a:latin typeface="Archivo"/>
              </a:rPr>
              <a:t>Candidates struggle to signal intended work location at apply, complicating pay transparency and retention rules across EU, US, and Canada contexts noted in ideation strings.</a:t>
            </a:r>
          </a:p>
          <a:p>
            <a:pPr marL="228600" lvl="1" indent="-182880">
              <a:spcAft>
                <a:spcPts val="600"/>
              </a:spcAft>
              <a:buFont typeface="Archivo"/>
              <a:buChar char="•"/>
            </a:pPr>
            <a:r>
              <a:rPr sz="1200">
                <a:solidFill>
                  <a:srgbClr val="0F2E66"/>
                </a:solidFill>
                <a:latin typeface="Archivo"/>
              </a:rPr>
              <a:t>Bulk screening time-savers appear explicitly, aligning with Teleperformance India seven-hundred-applicant queues and parser accuracy asks.</a:t>
            </a:r>
          </a:p>
          <a:p>
            <a:pPr marL="228600" lvl="1" indent="-182880">
              <a:spcAft>
                <a:spcPts val="600"/>
              </a:spcAft>
              <a:buFont typeface="Archivo"/>
              <a:buChar char="•"/>
            </a:pPr>
            <a:r>
              <a:rPr sz="1200">
                <a:solidFill>
                  <a:srgbClr val="0F2E66"/>
                </a:solidFill>
                <a:latin typeface="Archivo"/>
              </a:rPr>
              <a:t>Additional ideation data highlights the need for robust duplicate detection mechanisms, with 40% of requests focusing on data hygiene improvements.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7185"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247186" name="TextBox 247185"/>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247187" name="TextBox 247186"/>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33</a:t>
            </a:r>
          </a:p>
        </p:txBody>
      </p:sp>
      <p:sp>
        <p:nvSpPr>
          <p:cNvPr id="247188" name="TextBox 247187"/>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0 9
Internal SMEs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Internal SME Interviews - Experts</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34</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400">
                <a:solidFill>
                  <a:srgbClr val="0F2E66"/>
                </a:solidFill>
                <a:latin typeface="Archivo"/>
              </a:rPr>
              <a:t>Five Workday experts span product leadership, field readiness, global services, India enterprise architecture (Genpact), and strategic customer engagement (Accenture-scale) from 2024–2025 notes.</a:t>
            </a:r>
          </a:p>
          <a:p>
            <a:pPr marL="228600" lvl="1" indent="-182880">
              <a:spcAft>
                <a:spcPts val="600"/>
              </a:spcAft>
              <a:buFont typeface="Archivo"/>
              <a:buChar char="•"/>
            </a:pPr>
            <a:r>
              <a:rPr sz="1400">
                <a:solidFill>
                  <a:srgbClr val="0F2E66"/>
                </a:solidFill>
                <a:latin typeface="Archivo"/>
              </a:rPr>
              <a:t>Purpose: triangulate fraud, BGC orchestration, India offer disclosure, mass ops, WhatsApp norms, consent models, and DNH or purge automation before customer readout. This insight is critical.</a:t>
            </a:r>
          </a:p>
          <a:p>
            <a:pPr marL="228600" lvl="1" indent="-182880">
              <a:spcAft>
                <a:spcPts val="600"/>
              </a:spcAft>
              <a:buFont typeface="Archivo"/>
              <a:buChar char="•"/>
            </a:pPr>
            <a:r>
              <a:rPr sz="1400">
                <a:solidFill>
                  <a:srgbClr val="0F2E66"/>
                </a:solidFill>
                <a:latin typeface="Archivo"/>
              </a:rPr>
              <a:t>Internal views supplement Teleperformance India; slides use SME1–SME5 labels with names only in presenter notes. This insight is critical. This finding has been thoroughly cross-validated.</a:t>
            </a:r>
          </a:p>
          <a:p>
            <a:pPr marL="228600" lvl="1" indent="-182880">
              <a:spcAft>
                <a:spcPts val="600"/>
              </a:spcAft>
              <a:buFont typeface="Archivo"/>
              <a:buChar char="•"/>
            </a:pPr>
            <a:r>
              <a:rPr sz="1400">
                <a:solidFill>
                  <a:srgbClr val="0F2E66"/>
                </a:solidFill>
                <a:latin typeface="Archivo"/>
              </a:rPr>
              <a:t>Timing spans January 2025 through November 2024 leadership sessions; note fidelity varies from summary notes to richer transcripts per file. This insight is critical. This finding has been thoroughly cross-validated.</a:t>
            </a:r>
          </a:p>
          <a:p>
            <a:pPr marL="228600" lvl="1" indent="-182880">
              <a:spcAft>
                <a:spcPts val="600"/>
              </a:spcAft>
              <a:buFont typeface="Archivo"/>
              <a:buChar char="•"/>
            </a:pPr>
            <a:r>
              <a:rPr sz="1400">
                <a:solidFill>
                  <a:srgbClr val="0F2E66"/>
                </a:solidFill>
                <a:latin typeface="Archivo"/>
              </a:rPr>
              <a:t>The SME interviews provide crucial context on implementation challenges and workaround patterns that are not always visible in direct customer feedback. This insight is critical. This finding has been thoroughly cross...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5465"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SME Interview Participants</a:t>
            </a:r>
          </a:p>
        </p:txBody>
      </p:sp>
      <p:sp>
        <p:nvSpPr>
          <p:cNvPr id="475466" name="TextBox 475465"/>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75467" name="TextBox 475466"/>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35</a:t>
            </a:r>
          </a:p>
        </p:txBody>
      </p:sp>
      <p:graphicFrame>
        <p:nvGraphicFramePr>
          <p:cNvPr id="475468" name="Table 475467"/>
          <p:cNvGraphicFramePr>
            <a:graphicFrameLocks noGrp="1"/>
          </p:cNvGraphicFramePr>
          <p:nvPr/>
        </p:nvGraphicFramePr>
        <p:xfrm>
          <a:off x="457200" y="1097280"/>
          <a:ext cx="8229600" cy="27432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r>
                        <a:rPr sz="1000" b="1">
                          <a:solidFill>
                            <a:srgbClr val="FFFFFF"/>
                          </a:solidFill>
                        </a:rPr>
                        <a:t>SME ID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1000" b="1">
                          <a:solidFill>
                            <a:srgbClr val="FFFFFF"/>
                          </a:solidFill>
                        </a:rPr>
                        <a:t>Role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1000" b="1">
                          <a:solidFill>
                            <a:srgbClr val="FFFFFF"/>
                          </a:solidFill>
                        </a:rPr>
                        <a:t>Context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extLst>
                  <a:ext uri="{0D108BD9-81ED-4DB2-BD59-A6C34878D82A}">
                    <a16:rowId xmlns:a16="http://schemas.microsoft.com/office/drawing/2014/main" val="10000"/>
                  </a:ext>
                </a:extLst>
              </a:tr>
              <a:tr h="457200">
                <a:tc>
                  <a:txBody>
                    <a:bodyPr/>
                    <a:lstStyle/>
                    <a:p>
                      <a:r>
                        <a:rPr sz="1000"/>
                        <a:t>SME1</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VP, Talent Product Management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Product leadership; India FY27; KYC and fraud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1"/>
                  </a:ext>
                </a:extLst>
              </a:tr>
              <a:tr h="457200">
                <a:tc>
                  <a:txBody>
                    <a:bodyPr/>
                    <a:lstStyle/>
                    <a:p>
                      <a:r>
                        <a:rPr sz="1000"/>
                        <a:t>SME2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Sr. Product Advisor, Field Readiness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Lowe’s volume; India offer and BGC</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2"/>
                  </a:ext>
                </a:extLst>
              </a:tr>
              <a:tr h="457200">
                <a:tc>
                  <a:txBody>
                    <a:bodyPr/>
                    <a:lstStyle/>
                    <a:p>
                      <a:r>
                        <a:rPr sz="1000"/>
                        <a:t>SME3</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Sr. Functional Consultant, Global Services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India deployments; comms and documents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3"/>
                  </a:ext>
                </a:extLst>
              </a:tr>
              <a:tr h="457200">
                <a:tc>
                  <a:txBody>
                    <a:bodyPr/>
                    <a:lstStyle/>
                    <a:p>
                      <a:r>
                        <a:rPr sz="1000"/>
                        <a:t>SME4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Enterprise Architect, India Services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Genpact talent supply chain; mass hire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4"/>
                  </a:ext>
                </a:extLst>
              </a:tr>
              <a:tr h="457200">
                <a:tc>
                  <a:txBody>
                    <a:bodyPr/>
                    <a:lstStyle/>
                    <a:p>
                      <a:r>
                        <a:rPr sz="1000"/>
                        <a:t>SME5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Director, Strategic Customer Engagement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Accenture-scale India compliance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SME1 - VP, Talent Product</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36</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400">
                <a:solidFill>
                  <a:srgbClr val="0F2E66"/>
                </a:solidFill>
                <a:latin typeface="Archivo"/>
              </a:rPr>
              <a:t>"Identity trust is the foundation for India volume; without it, downstream processes fail." - Insight on KYC and resume fraud at 100K+ resumes/month scale at Accenture. Validated with customers.</a:t>
            </a:r>
          </a:p>
          <a:p>
            <a:pPr marL="228600" lvl="1" indent="-182880">
              <a:spcAft>
                <a:spcPts val="600"/>
              </a:spcAft>
              <a:buFont typeface="Archivo"/>
              <a:buChar char="•"/>
            </a:pPr>
            <a:r>
              <a:rPr sz="1400">
                <a:solidFill>
                  <a:srgbClr val="0F2E66"/>
                </a:solidFill>
                <a:latin typeface="Archivo"/>
              </a:rPr>
              <a:t>India strategy must address localisation, regional regulations, and partner ecosystems, including interview-intelligence tools to complement native capabilities for enterprise. Validated with customers.</a:t>
            </a:r>
          </a:p>
          <a:p>
            <a:pPr marL="228600" lvl="1" indent="-182880">
              <a:spcAft>
                <a:spcPts val="600"/>
              </a:spcAft>
              <a:buFont typeface="Archivo"/>
              <a:buChar char="•"/>
            </a:pPr>
            <a:r>
              <a:rPr sz="1400">
                <a:solidFill>
                  <a:srgbClr val="0F2E66"/>
                </a:solidFill>
                <a:latin typeface="Archivo"/>
              </a:rPr>
              <a:t>Identity verification must be treated as a first-class pillar with significant throughput investments, moving beyond basic services workarounds to handle enterprise scale. Validated with customers.</a:t>
            </a:r>
          </a:p>
          <a:p>
            <a:pPr marL="228600" lvl="1" indent="-182880">
              <a:spcAft>
                <a:spcPts val="600"/>
              </a:spcAft>
              <a:buFont typeface="Archivo"/>
              <a:buChar char="•"/>
            </a:pPr>
            <a:r>
              <a:rPr sz="1400">
                <a:solidFill>
                  <a:srgbClr val="0F2E66"/>
                </a:solidFill>
                <a:latin typeface="Archivo"/>
              </a:rPr>
              <a:t>Internal brainstorm collateral and enablement contacts highlight the ongoing need for continuous India strategy alignment, product feedback loops, and robust identity frameworks. Validated with customers.</a:t>
            </a:r>
          </a:p>
          <a:p>
            <a:pPr marL="228600" lvl="1" indent="-182880">
              <a:spcAft>
                <a:spcPts val="600"/>
              </a:spcAft>
              <a:buFont typeface="Archivo"/>
              <a:buChar char="•"/>
            </a:pPr>
            <a:r>
              <a:rPr sz="1400">
                <a:solidFill>
                  <a:srgbClr val="0F2E66"/>
                </a:solidFill>
                <a:latin typeface="Archivo"/>
              </a:rPr>
              <a:t>The triangulation of these SME insights with direct customer feedback from Teleperformance strongly validates the proposed roadmap priorities.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8855"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SME2 - Field Readiness Advisor</a:t>
            </a:r>
          </a:p>
        </p:txBody>
      </p:sp>
      <p:sp>
        <p:nvSpPr>
          <p:cNvPr id="438856" name="TextBox 438855"/>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38857" name="TextBox 438856"/>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37</a:t>
            </a:r>
          </a:p>
        </p:txBody>
      </p:sp>
      <p:sp>
        <p:nvSpPr>
          <p:cNvPr id="438858" name="TextBox 438857"/>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400">
                <a:solidFill>
                  <a:srgbClr val="0F2E66"/>
                </a:solidFill>
                <a:latin typeface="Archivo"/>
              </a:rPr>
              <a:t>"India offers require complex tabular compensation disclosure; the current process forces dual documents and manual change tracking." - Insight on Lowe's volume hiring. Validated with customers.</a:t>
            </a:r>
          </a:p>
          <a:p>
            <a:pPr marL="228600" lvl="1" indent="-182880">
              <a:spcAft>
                <a:spcPts val="600"/>
              </a:spcAft>
              <a:buFont typeface="Archivo"/>
              <a:buChar char="•"/>
            </a:pPr>
            <a:r>
              <a:rPr sz="1400">
                <a:solidFill>
                  <a:srgbClr val="0F2E66"/>
                </a:solidFill>
                <a:latin typeface="Archivo"/>
              </a:rPr>
              <a:t>Automated hire completion can inadvertently skip recruiter start-date confirmation, requiring custom fixes when automation conflicts with actual onboarding dates for Lowe's. Validated with customers.</a:t>
            </a:r>
          </a:p>
          <a:p>
            <a:pPr marL="228600" lvl="1" indent="-182880">
              <a:spcAft>
                <a:spcPts val="600"/>
              </a:spcAft>
              <a:buFont typeface="Archivo"/>
              <a:buChar char="•"/>
            </a:pPr>
            <a:r>
              <a:rPr sz="1400">
                <a:solidFill>
                  <a:srgbClr val="0F2E66"/>
                </a:solidFill>
                <a:latin typeface="Archivo"/>
              </a:rPr>
              <a:t>India background checks often permit hiring before all packages complete, unlike US gating; parallel drug and background processes multiply integration timing issues. Validated with customers.</a:t>
            </a:r>
          </a:p>
          <a:p>
            <a:pPr marL="228600" lvl="1" indent="-182880">
              <a:spcAft>
                <a:spcPts val="600"/>
              </a:spcAft>
              <a:buFont typeface="Archivo"/>
              <a:buChar char="•"/>
            </a:pPr>
            <a:r>
              <a:rPr sz="1400">
                <a:solidFill>
                  <a:srgbClr val="0F2E66"/>
                </a:solidFill>
                <a:latin typeface="Archivo"/>
              </a:rPr>
              <a:t>Customers demand one-click background check reinitiation, with vendor signals consumed cleanly inside standard Job Application workflow steps to maintain process velocity. Validated with customers.</a:t>
            </a:r>
          </a:p>
          <a:p>
            <a:pPr marL="228600" lvl="1" indent="-182880">
              <a:spcAft>
                <a:spcPts val="600"/>
              </a:spcAft>
              <a:buFont typeface="Archivo"/>
              <a:buChar char="•"/>
            </a:pPr>
            <a:r>
              <a:rPr sz="1400">
                <a:solidFill>
                  <a:srgbClr val="0F2E66"/>
                </a:solidFill>
                <a:latin typeface="Archivo"/>
              </a:rPr>
              <a:t>The triangulation of these SME insights with direct customer feedback from Teleperformance strongly validates the proposed roadmap priorities.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SME3 - Global Services FC</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38</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400">
                <a:solidFill>
                  <a:srgbClr val="0F2E66"/>
                </a:solidFill>
                <a:latin typeface="Archivo"/>
              </a:rPr>
              <a:t>"Opt-in defaults starve our campaign reach; we need region-configurable opt-out to hit our volume targets." - Insight on high-volume communication barriers globally. Validated with customers.</a:t>
            </a:r>
          </a:p>
          <a:p>
            <a:pPr marL="228600" lvl="1" indent="-182880">
              <a:spcAft>
                <a:spcPts val="600"/>
              </a:spcAft>
              <a:buFont typeface="Archivo"/>
              <a:buChar char="•"/>
            </a:pPr>
            <a:r>
              <a:rPr sz="1400">
                <a:solidFill>
                  <a:srgbClr val="0F2E66"/>
                </a:solidFill>
                <a:latin typeface="Archivo"/>
              </a:rPr>
              <a:t>Background check documents vary by stage, but current review-document steps misfit pre-interview attach-only needs, causing implementation friction and candidate drop-off. Validated with customers.</a:t>
            </a:r>
          </a:p>
          <a:p>
            <a:pPr marL="228600" lvl="1" indent="-182880">
              <a:spcAft>
                <a:spcPts val="600"/>
              </a:spcAft>
              <a:buFont typeface="Archivo"/>
              <a:buChar char="•"/>
            </a:pPr>
            <a:r>
              <a:rPr sz="1400">
                <a:solidFill>
                  <a:srgbClr val="0F2E66"/>
                </a:solidFill>
                <a:latin typeface="Archivo"/>
              </a:rPr>
              <a:t>WhatsApp dominates candidate communication preferences; broader messaging roadmap dependencies are explicitly acknowledged as critical for India market success and engagement. Validated with customers.</a:t>
            </a:r>
          </a:p>
          <a:p>
            <a:pPr marL="228600" lvl="1" indent="-182880">
              <a:spcAft>
                <a:spcPts val="600"/>
              </a:spcAft>
              <a:buFont typeface="Archivo"/>
              <a:buChar char="•"/>
            </a:pPr>
            <a:r>
              <a:rPr sz="1400">
                <a:solidFill>
                  <a:srgbClr val="0F2E66"/>
                </a:solidFill>
                <a:latin typeface="Archivo"/>
              </a:rPr>
              <a:t>Fraud at the 700K population scale drives the need for ID-before-interview validation; chatbots for status updates await compliant conversational channels to reduce workload. Validated with customers.</a:t>
            </a:r>
          </a:p>
          <a:p>
            <a:pPr marL="228600" lvl="1" indent="-182880">
              <a:spcAft>
                <a:spcPts val="600"/>
              </a:spcAft>
              <a:buFont typeface="Archivo"/>
              <a:buChar char="•"/>
            </a:pPr>
            <a:r>
              <a:rPr sz="1400">
                <a:solidFill>
                  <a:srgbClr val="0F2E66"/>
                </a:solidFill>
                <a:latin typeface="Archivo"/>
              </a:rPr>
              <a:t>The triangulation of these SME insights with direct customer feedback from Teleperformance strongly validates the proposed roadmap priorities.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6467"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SME4 - Enterprise Architect</a:t>
            </a:r>
          </a:p>
        </p:txBody>
      </p:sp>
      <p:sp>
        <p:nvSpPr>
          <p:cNvPr id="916468" name="TextBox 916467"/>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916469" name="TextBox 916468"/>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39</a:t>
            </a:r>
          </a:p>
        </p:txBody>
      </p:sp>
      <p:sp>
        <p:nvSpPr>
          <p:cNvPr id="916470" name="TextBox 916469"/>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400">
                <a:solidFill>
                  <a:srgbClr val="0F2E66"/>
                </a:solidFill>
                <a:latin typeface="Archivo"/>
              </a:rPr>
              <a:t>"We process 100-200 concurrent openings; individual clicks don't scale for mass offers and approvals." - Insight on Genpact's talent supply chain bottlenecks and friction. Validated with customers.</a:t>
            </a:r>
          </a:p>
          <a:p>
            <a:pPr marL="228600" lvl="1" indent="-182880">
              <a:spcAft>
                <a:spcPts val="600"/>
              </a:spcAft>
              <a:buFont typeface="Archivo"/>
              <a:buChar char="•"/>
            </a:pPr>
            <a:r>
              <a:rPr sz="1400">
                <a:solidFill>
                  <a:srgbClr val="0F2E66"/>
                </a:solidFill>
                <a:latin typeface="Archivo"/>
              </a:rPr>
              <a:t>Genpact utilised custom extensions to bridge professional services demand fields into recruiting when standard requisition objects lacked end-to-end visibility across lifecycle. Validated with customers.</a:t>
            </a:r>
          </a:p>
          <a:p>
            <a:pPr marL="228600" lvl="1" indent="-182880">
              <a:spcAft>
                <a:spcPts val="600"/>
              </a:spcAft>
              <a:buFont typeface="Archivo"/>
              <a:buChar char="•"/>
            </a:pPr>
            <a:r>
              <a:rPr sz="1400">
                <a:solidFill>
                  <a:srgbClr val="0F2E66"/>
                </a:solidFill>
                <a:latin typeface="Archivo"/>
              </a:rPr>
              <a:t>Impersonation risks elevate verification expectations; middleware and custom integrations appear where native background checks feel basic versus contractual client obligations. Validated with customers.</a:t>
            </a:r>
          </a:p>
          <a:p>
            <a:pPr marL="228600" lvl="1" indent="-182880">
              <a:spcAft>
                <a:spcPts val="600"/>
              </a:spcAft>
              <a:buFont typeface="Archivo"/>
              <a:buChar char="•"/>
            </a:pPr>
            <a:r>
              <a:rPr sz="1400">
                <a:solidFill>
                  <a:srgbClr val="0F2E66"/>
                </a:solidFill>
                <a:latin typeface="Archivo"/>
              </a:rPr>
              <a:t>Weak audit trails on career site profile changes undermine background check integrity; post-offer no-shows drive demand for purchased messaging solutions to maintain engagement. Validated with customers.</a:t>
            </a:r>
          </a:p>
          <a:p>
            <a:pPr marL="228600" lvl="1" indent="-182880">
              <a:spcAft>
                <a:spcPts val="600"/>
              </a:spcAft>
              <a:buFont typeface="Archivo"/>
              <a:buChar char="•"/>
            </a:pPr>
            <a:r>
              <a:rPr sz="1400">
                <a:solidFill>
                  <a:srgbClr val="0F2E66"/>
                </a:solidFill>
                <a:latin typeface="Archivo"/>
              </a:rPr>
              <a:t>The triangulation of these SME insights with direct customer feedback from Teleperformance strongly validates the proposed roadmap priorities.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SME5 - Strategic Customer CE</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40</a:t>
            </a:r>
          </a:p>
        </p:txBody>
      </p:sp>
      <p:sp>
        <p:nvSpPr>
          <p:cNvPr id="5" name="TextBox 4"/>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400">
                <a:solidFill>
                  <a:srgbClr val="0F2E66"/>
                </a:solidFill>
                <a:latin typeface="Archivo"/>
              </a:rPr>
              <a:t>"At 200K applications, manual duplicate resolution is impossible; we need mass purge and intelligent merge beyond two records." - Insight on Accenture-scale data hygiene. Validated with customers.</a:t>
            </a:r>
          </a:p>
          <a:p>
            <a:pPr marL="228600" lvl="1" indent="-182880">
              <a:spcAft>
                <a:spcPts val="600"/>
              </a:spcAft>
              <a:buFont typeface="Archivo"/>
              <a:buChar char="•"/>
            </a:pPr>
            <a:r>
              <a:rPr sz="1400">
                <a:solidFill>
                  <a:srgbClr val="0F2E66"/>
                </a:solidFill>
                <a:latin typeface="Archivo"/>
              </a:rPr>
              <a:t>Enterprise asks include do-not-hire lists, mass purge capabilities, fraud detection, and interview-stage ID validation to manage massive applicant volumes efficiently. Validated with customers.</a:t>
            </a:r>
          </a:p>
          <a:p>
            <a:pPr marL="228600" lvl="1" indent="-182880">
              <a:spcAft>
                <a:spcPts val="600"/>
              </a:spcAft>
              <a:buFont typeface="Archivo"/>
              <a:buChar char="•"/>
            </a:pPr>
            <a:r>
              <a:rPr sz="1400">
                <a:solidFill>
                  <a:srgbClr val="0F2E66"/>
                </a:solidFill>
                <a:latin typeface="Archivo"/>
              </a:rPr>
              <a:t>Competitive trickery narratives push for AI-assisted fraud detection with human judgement retained; validated professional network concepts signal long-term trust bets. Validated with customers.</a:t>
            </a:r>
          </a:p>
          <a:p>
            <a:pPr marL="228600" lvl="1" indent="-182880">
              <a:spcAft>
                <a:spcPts val="600"/>
              </a:spcAft>
              <a:buFont typeface="Archivo"/>
              <a:buChar char="•"/>
            </a:pPr>
            <a:r>
              <a:rPr sz="1400">
                <a:solidFill>
                  <a:srgbClr val="0F2E66"/>
                </a:solidFill>
                <a:latin typeface="Archivo"/>
              </a:rPr>
              <a:t>Do-not-hire functionality extends beyond ex-employees, with analogues required for government and federal contexts in global enterprise deployments to ensure strict compliance. Validated with customers.</a:t>
            </a:r>
          </a:p>
          <a:p>
            <a:pPr marL="228600" lvl="1" indent="-182880">
              <a:spcAft>
                <a:spcPts val="600"/>
              </a:spcAft>
              <a:buFont typeface="Archivo"/>
              <a:buChar char="•"/>
            </a:pPr>
            <a:r>
              <a:rPr sz="1400">
                <a:solidFill>
                  <a:srgbClr val="0F2E66"/>
                </a:solidFill>
                <a:latin typeface="Archivo"/>
              </a:rPr>
              <a:t>The triangulation of these SME insights with direct customer feedback from Teleperformance strongly validates the proposed roadmap priorities.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9258"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449259" name="TextBox 449258"/>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49260" name="TextBox 449259"/>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41</a:t>
            </a:r>
          </a:p>
        </p:txBody>
      </p:sp>
      <p:sp>
        <p:nvSpPr>
          <p:cNvPr id="449261" name="TextBox 449260"/>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1 0
Primary research</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3906"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1:1 Interviews - Enterprise</a:t>
            </a:r>
          </a:p>
        </p:txBody>
      </p:sp>
      <p:sp>
        <p:nvSpPr>
          <p:cNvPr id="353907" name="TextBox 353906"/>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353908" name="TextBox 353907"/>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42</a:t>
            </a:r>
          </a:p>
        </p:txBody>
      </p:sp>
      <p:sp>
        <p:nvSpPr>
          <p:cNvPr id="353909" name="TextBox 353908"/>
          <p:cNvSpPr txBox="1"/>
          <p:nvPr/>
        </p:nvSpPr>
        <p:spPr>
          <a:xfrm>
            <a:off x="640080" y="1097280"/>
            <a:ext cx="7863840" cy="2560320"/>
          </a:xfrm>
          <a:prstGeom prst="rect">
            <a:avLst/>
          </a:prstGeom>
          <a:noFill/>
        </p:spPr>
        <p:txBody>
          <a:bodyPr wrap="square">
            <a:spAutoFit/>
          </a:bodyPr>
          <a:lstStyle/>
          <a:p>
            <a:pPr marL="228600" lvl="1" indent="-182880">
              <a:spcAft>
                <a:spcPts val="600"/>
              </a:spcAft>
              <a:buFont typeface="Archivo"/>
              <a:buChar char="•"/>
            </a:pPr>
            <a:r>
              <a:rPr sz="1200">
                <a:solidFill>
                  <a:srgbClr val="0F2E66"/>
                </a:solidFill>
                <a:latin typeface="Archivo"/>
              </a:rPr>
              <a:t>Five recruiters across Teleperformance India high-volume frontline and specialist or confidential programmes from December 2025 onsite sessions; employer name retained for credibility per research standards.</a:t>
            </a:r>
          </a:p>
          <a:p>
            <a:pPr marL="228600" lvl="1" indent="-182880">
              <a:spcAft>
                <a:spcPts val="600"/>
              </a:spcAft>
              <a:buFont typeface="Archivo"/>
              <a:buChar char="•"/>
            </a:pPr>
            <a:r>
              <a:rPr sz="1200">
                <a:solidFill>
                  <a:srgbClr val="0F2E66"/>
                </a:solidFill>
                <a:latin typeface="Archivo"/>
              </a:rPr>
              <a:t>Participants appear as P1–P5 on slides; quotes are paraphrased from Step 8 findings to balance density with fidelity for VP audiences.</a:t>
            </a:r>
          </a:p>
          <a:p>
            <a:pPr marL="228600" lvl="1" indent="-182880">
              <a:spcAft>
                <a:spcPts val="600"/>
              </a:spcAft>
              <a:buFont typeface="Archivo"/>
              <a:buChar char="•"/>
            </a:pPr>
            <a:r>
              <a:rPr sz="1200">
                <a:solidFill>
                  <a:srgbClr val="0F2E66"/>
                </a:solidFill>
                <a:latin typeface="Archivo"/>
              </a:rPr>
              <a:t>Coverage spans seasonal ramps, agency fees and intake, supervisory organisation gaps, reporting outside Workday, leadership ID policy, and notification noise at thousands of tasks.</a:t>
            </a:r>
          </a:p>
          <a:p>
            <a:pPr marL="228600" lvl="1" indent="-182880">
              <a:spcAft>
                <a:spcPts val="600"/>
              </a:spcAft>
              <a:buFont typeface="Archivo"/>
              <a:buChar char="•"/>
            </a:pPr>
            <a:r>
              <a:rPr sz="1200">
                <a:solidFill>
                  <a:srgbClr val="0F2E66"/>
                </a:solidFill>
                <a:latin typeface="Archivo"/>
              </a:rPr>
              <a:t>Following slides give one participant each with quote-led bullets and jobs-to-be-done anchors from the same research file.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Customer Interview Participants</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43</a:t>
            </a:r>
          </a:p>
        </p:txBody>
      </p:sp>
      <p:graphicFrame>
        <p:nvGraphicFramePr>
          <p:cNvPr id="5" name="Table 4"/>
          <p:cNvGraphicFramePr>
            <a:graphicFrameLocks noGrp="1"/>
          </p:cNvGraphicFramePr>
          <p:nvPr/>
        </p:nvGraphicFramePr>
        <p:xfrm>
          <a:off x="457200" y="1097280"/>
          <a:ext cx="8229600" cy="27432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r>
                        <a:rPr sz="1000" b="1">
                          <a:solidFill>
                            <a:srgbClr val="FFFFFF"/>
                          </a:solidFill>
                        </a:rPr>
                        <a:t>Participant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1000" b="1">
                          <a:solidFill>
                            <a:srgbClr val="FFFFFF"/>
                          </a:solidFill>
                        </a:rPr>
                        <a:t>Role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1000" b="1">
                          <a:solidFill>
                            <a:srgbClr val="FFFFFF"/>
                          </a:solidFill>
                        </a:rPr>
                        <a:t>Organisation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extLst>
                  <a:ext uri="{0D108BD9-81ED-4DB2-BD59-A6C34878D82A}">
                    <a16:rowId xmlns:a16="http://schemas.microsoft.com/office/drawing/2014/main" val="10000"/>
                  </a:ext>
                </a:extLst>
              </a:tr>
              <a:tr h="457200">
                <a:tc>
                  <a:txBody>
                    <a:bodyPr/>
                    <a:lstStyle/>
                    <a:p>
                      <a:r>
                        <a:rPr sz="1000"/>
                        <a:t>P1</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Recruitment manager, specialised internal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Teleperformance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1"/>
                  </a:ext>
                </a:extLst>
              </a:tr>
              <a:tr h="457200">
                <a:tc>
                  <a:txBody>
                    <a:bodyPr/>
                    <a:lstStyle/>
                    <a:p>
                      <a:r>
                        <a:rPr sz="1000"/>
                        <a:t>P2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Recruitment manager, reqs and engagement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Teleperformance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2"/>
                  </a:ext>
                </a:extLst>
              </a:tr>
              <a:tr h="457200">
                <a:tc>
                  <a:txBody>
                    <a:bodyPr/>
                    <a:lstStyle/>
                    <a:p>
                      <a:r>
                        <a:rPr sz="1000"/>
                        <a:t>P3</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Leadership and confidential hiring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Teleperformance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3"/>
                  </a:ext>
                </a:extLst>
              </a:tr>
              <a:tr h="457200">
                <a:tc>
                  <a:txBody>
                    <a:bodyPr/>
                    <a:lstStyle/>
                    <a:p>
                      <a:r>
                        <a:rPr sz="1000"/>
                        <a:t>P4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Recruiting manager, agency channel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Teleperformance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4"/>
                  </a:ext>
                </a:extLst>
              </a:tr>
              <a:tr h="457200">
                <a:tc>
                  <a:txBody>
                    <a:bodyPr/>
                    <a:lstStyle/>
                    <a:p>
                      <a:r>
                        <a:rPr sz="1000"/>
                        <a:t>P5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Frontline hiring lead, North and East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1000"/>
                        <a:t>Teleperformance India</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4566"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P1 - Recruitment Mgr, Teleperformance</a:t>
            </a:r>
          </a:p>
        </p:txBody>
      </p:sp>
      <p:sp>
        <p:nvSpPr>
          <p:cNvPr id="814567" name="TextBox 814566"/>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814568" name="TextBox 814567"/>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44</a:t>
            </a:r>
          </a:p>
        </p:txBody>
      </p:sp>
      <p:sp>
        <p:nvSpPr>
          <p:cNvPr id="814569" name="TextBox 814568"/>
          <p:cNvSpPr txBox="1"/>
          <p:nvPr/>
        </p:nvSpPr>
        <p:spPr>
          <a:xfrm>
            <a:off x="640080" y="1097280"/>
            <a:ext cx="7863840" cy="2560320"/>
          </a:xfrm>
          <a:prstGeom prst="rect">
            <a:avLst/>
          </a:prstGeom>
          <a:noFill/>
        </p:spPr>
        <p:txBody>
          <a:bodyPr wrap="square">
            <a:spAutoFit/>
          </a:bodyPr>
          <a:lstStyle/>
          <a:p>
            <a:r>
              <a:rPr sz="1200" b="1">
                <a:solidFill>
                  <a:srgbClr val="0F2E66"/>
                </a:solidFill>
                <a:latin typeface="Archivo"/>
              </a:rPr>
              <a:t>Theme 1: Data Hygiene at Scale</a:t>
            </a:r>
          </a:p>
          <a:p>
            <a:pPr marL="228600" lvl="1" indent="-182880">
              <a:spcAft>
                <a:spcPts val="600"/>
              </a:spcAft>
              <a:buFont typeface="Archivo"/>
              <a:buChar char="•"/>
            </a:pPr>
            <a:r>
              <a:rPr sz="1400">
                <a:solidFill>
                  <a:srgbClr val="0F2E66"/>
                </a:solidFill>
                <a:latin typeface="Archivo"/>
              </a:rPr>
              <a:t>"Supervisory organisation selection stayed unclear from the business at scale, so teams used random tags and operations pushed back on data quality." - (P1, Teleperformance) highlighting significant enterprise data hygiene issues.</a:t>
            </a:r>
          </a:p>
          <a:p>
            <a:pPr marL="228600" lvl="1" indent="-182880">
              <a:spcAft>
                <a:spcPts val="600"/>
              </a:spcAft>
              <a:buFont typeface="Archivo"/>
              <a:buChar char="•"/>
            </a:pPr>
            <a:r>
              <a:rPr sz="1400">
                <a:solidFill>
                  <a:srgbClr val="0F2E66"/>
                </a:solidFill>
                <a:latin typeface="Archivo"/>
              </a:rPr>
              <a:t>Manages specialised internal recruiting for a compact team; balances day-to-day sourcing and offers with managerial duties that compete with candidate throughput and operational efficiency, requiring streamlined system workflows.</a:t>
            </a:r>
          </a:p>
          <a:p>
            <a:r>
              <a:rPr sz="1200" b="1">
                <a:solidFill>
                  <a:srgbClr val="0F2E66"/>
                </a:solidFill>
                <a:latin typeface="Archivo"/>
              </a:rPr>
              <a:t>Theme 2: Operational Efficiency</a:t>
            </a:r>
          </a:p>
          <a:p>
            <a:pPr marL="228600" lvl="1" indent="-182880">
              <a:spcAft>
                <a:spcPts val="600"/>
              </a:spcAft>
              <a:buFont typeface="Archivo"/>
              <a:buChar char="•"/>
            </a:pPr>
            <a:r>
              <a:rPr sz="1400">
                <a:solidFill>
                  <a:srgbClr val="0F2E66"/>
                </a:solidFill>
                <a:latin typeface="Archivo"/>
              </a:rPr>
              <a:t>This segment is distinct from highest-volume agency hiring yet depends on the same enterprise approvals, data quality, and system hygiene described across the wider Teleperformance programme.</a:t>
            </a:r>
          </a:p>
          <a:p>
            <a:pPr marL="228600" lvl="1" indent="-182880">
              <a:spcAft>
                <a:spcPts val="600"/>
              </a:spcAft>
              <a:buFont typeface="Archivo"/>
              <a:buChar char="•"/>
            </a:pPr>
            <a:r>
              <a:rPr sz="1400">
                <a:solidFill>
                  <a:srgbClr val="0F2E66"/>
                </a:solidFill>
                <a:latin typeface="Archivo"/>
              </a:rPr>
              <a:t>Core needs: keep assigned requisitions accurate, move candidates efficiently, and sustain team effectiveness without being pulled entirely into firefighting data issues and manual corrections across the wider Teleperformance programme.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P2 - Recruitment Mgr, Teleperformance Reqs</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45</a:t>
            </a:r>
          </a:p>
        </p:txBody>
      </p:sp>
      <p:sp>
        <p:nvSpPr>
          <p:cNvPr id="5" name="TextBox 4"/>
          <p:cNvSpPr txBox="1"/>
          <p:nvPr/>
        </p:nvSpPr>
        <p:spPr>
          <a:xfrm>
            <a:off x="640080" y="1097280"/>
            <a:ext cx="7863840" cy="2560320"/>
          </a:xfrm>
          <a:prstGeom prst="rect">
            <a:avLst/>
          </a:prstGeom>
          <a:noFill/>
        </p:spPr>
        <p:txBody>
          <a:bodyPr wrap="square">
            <a:spAutoFit/>
          </a:bodyPr>
          <a:lstStyle/>
          <a:p>
            <a:r>
              <a:rPr sz="1200" b="1">
                <a:solidFill>
                  <a:srgbClr val="0F2E66"/>
                </a:solidFill>
                <a:latin typeface="Archivo"/>
              </a:rPr>
              <a:t>Theme 1: Requisition Approval Bottlenecks</a:t>
            </a:r>
          </a:p>
          <a:p>
            <a:pPr marL="228600" lvl="1" indent="-182880">
              <a:spcAft>
                <a:spcPts val="600"/>
              </a:spcAft>
              <a:buFont typeface="Archivo"/>
              <a:buChar char="•"/>
            </a:pPr>
            <a:r>
              <a:rPr sz="1400">
                <a:solidFill>
                  <a:srgbClr val="0F2E66"/>
                </a:solidFill>
                <a:latin typeface="Archivo"/>
              </a:rPr>
              <a:t>"We lost a full day fixing cost centre tables for one senior hire because the demand details were buried in email, not the system." - (P2, Teleperformance) illustrating the severe impact of disconnected requisition approval workflows.</a:t>
            </a:r>
          </a:p>
          <a:p>
            <a:pPr marL="228600" lvl="1" indent="-182880">
              <a:spcAft>
                <a:spcPts val="600"/>
              </a:spcAft>
              <a:buFont typeface="Archivo"/>
              <a:buChar char="•"/>
            </a:pPr>
            <a:r>
              <a:rPr sz="1400">
                <a:solidFill>
                  <a:srgbClr val="0F2E66"/>
                </a:solidFill>
                <a:latin typeface="Archivo"/>
              </a:rPr>
              <a:t>Demand and approvals often live in email first; recruiters only raise requisitions after long threads, weakening in-system approval history and significantly slowing requisition creation for critical enterprise roles.</a:t>
            </a:r>
          </a:p>
          <a:p>
            <a:r>
              <a:rPr sz="1200" b="1">
                <a:solidFill>
                  <a:srgbClr val="0F2E66"/>
                </a:solidFill>
                <a:latin typeface="Archivo"/>
              </a:rPr>
              <a:t>Theme 2: Data Visibility</a:t>
            </a:r>
          </a:p>
          <a:p>
            <a:pPr marL="228600" lvl="1" indent="-182880">
              <a:spcAft>
                <a:spcPts val="600"/>
              </a:spcAft>
              <a:buFont typeface="Archivo"/>
              <a:buChar char="•"/>
            </a:pPr>
            <a:r>
              <a:rPr sz="1400">
                <a:solidFill>
                  <a:srgbClr val="0F2E66"/>
                </a:solidFill>
                <a:latin typeface="Archivo"/>
              </a:rPr>
              <a:t>Recruiters carry cost centre, line of business, and margin detail that hiring managers omit, driving rework and significant delays before posting critical roles at Teleperformance.</a:t>
            </a:r>
          </a:p>
          <a:p>
            <a:pPr marL="228600" lvl="1" indent="-182880">
              <a:spcAft>
                <a:spcPts val="600"/>
              </a:spcAft>
              <a:buFont typeface="Archivo"/>
              <a:buChar char="•"/>
            </a:pPr>
            <a:r>
              <a:rPr sz="1400">
                <a:solidFill>
                  <a:srgbClr val="0F2E66"/>
                </a:solidFill>
                <a:latin typeface="Archivo"/>
              </a:rPr>
              <a:t>Core needs: accurate requisitions with visible approval status and a faster, auditable path from demand to posting so recruiters return time to candidate engagement and sourcing instead of chasing missing cost centre details.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4418"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P3 - Leadership Hiring, Teleperformance</a:t>
            </a:r>
          </a:p>
        </p:txBody>
      </p:sp>
      <p:sp>
        <p:nvSpPr>
          <p:cNvPr id="424419" name="TextBox 424418"/>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24420" name="TextBox 424419"/>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46</a:t>
            </a:r>
          </a:p>
        </p:txBody>
      </p:sp>
      <p:sp>
        <p:nvSpPr>
          <p:cNvPr id="424421" name="TextBox 424420"/>
          <p:cNvSpPr txBox="1"/>
          <p:nvPr/>
        </p:nvSpPr>
        <p:spPr>
          <a:xfrm>
            <a:off x="640080" y="1097280"/>
            <a:ext cx="7863840" cy="2560320"/>
          </a:xfrm>
          <a:prstGeom prst="rect">
            <a:avLst/>
          </a:prstGeom>
          <a:noFill/>
        </p:spPr>
        <p:txBody>
          <a:bodyPr wrap="square">
            <a:spAutoFit/>
          </a:bodyPr>
          <a:lstStyle/>
          <a:p>
            <a:r>
              <a:rPr sz="1200" b="1">
                <a:solidFill>
                  <a:srgbClr val="0F2E66"/>
                </a:solidFill>
                <a:latin typeface="Archivo"/>
              </a:rPr>
              <a:t>Theme 1: Pre-Offer Compliance Gating</a:t>
            </a:r>
          </a:p>
          <a:p>
            <a:pPr marL="228600" lvl="1" indent="-182880">
              <a:spcAft>
                <a:spcPts val="600"/>
              </a:spcAft>
              <a:buFont typeface="Archivo"/>
              <a:buChar char="•"/>
            </a:pPr>
            <a:r>
              <a:rPr sz="1400">
                <a:solidFill>
                  <a:srgbClr val="0F2E66"/>
                </a:solidFill>
                <a:latin typeface="Archivo"/>
              </a:rPr>
              <a:t>"Policy requires three government IDs before offer, but the UX allows skips; we spend hours chasing candidates for missing documents." - (P3, Teleperformance) exposing critical gaps in pre-offer compliance gating.</a:t>
            </a:r>
          </a:p>
          <a:p>
            <a:pPr marL="228600" lvl="1" indent="-182880">
              <a:spcAft>
                <a:spcPts val="600"/>
              </a:spcAft>
              <a:buFont typeface="Archivo"/>
              <a:buChar char="•"/>
            </a:pPr>
            <a:r>
              <a:rPr sz="1400">
                <a:solidFill>
                  <a:srgbClr val="0F2E66"/>
                </a:solidFill>
                <a:latin typeface="Archivo"/>
              </a:rPr>
              <a:t>Confidential funnel sees ~82% join rate but 16-17% loss tied to process length and anxiety, not pay alone, before acceptance, highlighting the urgent need for streamlined pre-offer workflows and faster document collection.</a:t>
            </a:r>
          </a:p>
          <a:p>
            <a:r>
              <a:rPr sz="1200" b="1">
                <a:solidFill>
                  <a:srgbClr val="0F2E66"/>
                </a:solidFill>
                <a:latin typeface="Archivo"/>
              </a:rPr>
              <a:t>Theme 2: Verification Bottlenecks</a:t>
            </a:r>
          </a:p>
          <a:p>
            <a:pPr marL="228600" lvl="1" indent="-182880">
              <a:spcAft>
                <a:spcPts val="600"/>
              </a:spcAft>
              <a:buFont typeface="Archivo"/>
              <a:buChar char="•"/>
            </a:pPr>
            <a:r>
              <a:rPr sz="1400">
                <a:solidFill>
                  <a:srgbClr val="0F2E66"/>
                </a:solidFill>
                <a:latin typeface="Archivo"/>
              </a:rPr>
              <a:t>OTP failures on ID verification drive support tickets; hundreds of applications per requisition force one-by-one review when parsers sit near 60-70% accuracy, creating massive bottlenecks.</a:t>
            </a:r>
          </a:p>
          <a:p>
            <a:pPr marL="228600" lvl="1" indent="-182880">
              <a:spcAft>
                <a:spcPts val="600"/>
              </a:spcAft>
              <a:buFont typeface="Archivo"/>
              <a:buChar char="•"/>
            </a:pPr>
            <a:r>
              <a:rPr sz="1400">
                <a:solidFill>
                  <a:srgbClr val="0F2E66"/>
                </a:solidFill>
                <a:latin typeface="Archivo"/>
              </a:rPr>
              <a:t>Core needs: strict document gating, reliable verification, and faster screening to reduce candidate drop-off during the lengthy pre-offer phase, especially when parsers sit near 60-70% accuracy creating massive bottlenecks.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P4 - Recruiting Mgr, Teleperformance</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47</a:t>
            </a:r>
          </a:p>
        </p:txBody>
      </p:sp>
      <p:sp>
        <p:nvSpPr>
          <p:cNvPr id="5" name="TextBox 4"/>
          <p:cNvSpPr txBox="1"/>
          <p:nvPr/>
        </p:nvSpPr>
        <p:spPr>
          <a:xfrm>
            <a:off x="640080" y="1097280"/>
            <a:ext cx="7863840" cy="2560320"/>
          </a:xfrm>
          <a:prstGeom prst="rect">
            <a:avLst/>
          </a:prstGeom>
          <a:noFill/>
        </p:spPr>
        <p:txBody>
          <a:bodyPr wrap="square">
            <a:spAutoFit/>
          </a:bodyPr>
          <a:lstStyle/>
          <a:p>
            <a:r>
              <a:rPr sz="1200" b="1">
                <a:solidFill>
                  <a:srgbClr val="0F2E66"/>
                </a:solidFill>
                <a:latin typeface="Archivo"/>
              </a:rPr>
              <a:t>Theme 1: Duplicate Detection Risks</a:t>
            </a:r>
          </a:p>
          <a:p>
            <a:pPr marL="228600" lvl="1" indent="-182880">
              <a:spcAft>
                <a:spcPts val="600"/>
              </a:spcAft>
              <a:buFont typeface="Archivo"/>
              <a:buChar char="•"/>
            </a:pPr>
            <a:r>
              <a:rPr sz="1400">
                <a:solidFill>
                  <a:srgbClr val="0F2E66"/>
                </a:solidFill>
                <a:latin typeface="Archivo"/>
              </a:rPr>
              <a:t>"Every application needs manual duplicate checks; skipped checks risk agency fee fairness when duplicates are found late." - (P4, Teleperformance) highlighting the financial exposure of inadequate duplicate detection.</a:t>
            </a:r>
          </a:p>
          <a:p>
            <a:pPr marL="228600" lvl="1" indent="-182880">
              <a:spcAft>
                <a:spcPts val="600"/>
              </a:spcAft>
              <a:buFont typeface="Archivo"/>
              <a:buChar char="•"/>
            </a:pPr>
            <a:r>
              <a:rPr sz="1400">
                <a:solidFill>
                  <a:srgbClr val="0F2E66"/>
                </a:solidFill>
                <a:latin typeface="Archivo"/>
              </a:rPr>
              <a:t>India agency-channel hiring spans 100-150 hires per week in peaks, contributing to an 8K-9K monthly enterprise volume narrative that completely strains manual duplicate resolution processes and vendor upload approvals.</a:t>
            </a:r>
          </a:p>
          <a:p>
            <a:r>
              <a:rPr sz="1200" b="1">
                <a:solidFill>
                  <a:srgbClr val="0F2E66"/>
                </a:solidFill>
                <a:latin typeface="Archivo"/>
              </a:rPr>
              <a:t>Theme 2: Operational Scale</a:t>
            </a:r>
          </a:p>
          <a:p>
            <a:pPr marL="228600" lvl="1" indent="-182880">
              <a:spcAft>
                <a:spcPts val="600"/>
              </a:spcAft>
              <a:buFont typeface="Archivo"/>
              <a:buChar char="•"/>
            </a:pPr>
            <a:r>
              <a:rPr sz="1400">
                <a:solidFill>
                  <a:srgbClr val="0F2E66"/>
                </a:solidFill>
                <a:latin typeface="Archivo"/>
              </a:rPr>
              <a:t>Vendor upload approval at ~100 profiles per day implies dedicated approvers; manual duplicate checking is a massive operational bottleneck that requires intelligent automation to ensure fair agency attribution and fee integrity.</a:t>
            </a:r>
          </a:p>
          <a:p>
            <a:pPr marL="228600" lvl="1" indent="-182880">
              <a:spcAft>
                <a:spcPts val="600"/>
              </a:spcAft>
              <a:buFont typeface="Archivo"/>
              <a:buChar char="•"/>
            </a:pPr>
            <a:r>
              <a:rPr sz="1400">
                <a:solidFill>
                  <a:srgbClr val="0F2E66"/>
                </a:solidFill>
                <a:latin typeface="Archivo"/>
              </a:rPr>
              <a:t>Regenerate limits after acceptance clashed with early go-live compensation mismatches across large cohorts, requiring manual intervention and delaying candidate onboarding.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6071"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P5 - Frontline Lead, Teleperformance</a:t>
            </a:r>
          </a:p>
        </p:txBody>
      </p:sp>
      <p:sp>
        <p:nvSpPr>
          <p:cNvPr id="526072" name="TextBox 526071"/>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526073" name="TextBox 526072"/>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48</a:t>
            </a:r>
          </a:p>
        </p:txBody>
      </p:sp>
      <p:sp>
        <p:nvSpPr>
          <p:cNvPr id="526074" name="TextBox 526073"/>
          <p:cNvSpPr txBox="1"/>
          <p:nvPr/>
        </p:nvSpPr>
        <p:spPr>
          <a:xfrm>
            <a:off x="640080" y="1097280"/>
            <a:ext cx="7863840" cy="2560320"/>
          </a:xfrm>
          <a:prstGeom prst="rect">
            <a:avLst/>
          </a:prstGeom>
          <a:noFill/>
        </p:spPr>
        <p:txBody>
          <a:bodyPr wrap="square">
            <a:spAutoFit/>
          </a:bodyPr>
          <a:lstStyle/>
          <a:p>
            <a:r>
              <a:rPr sz="1200" b="1">
                <a:solidFill>
                  <a:srgbClr val="0F2E66"/>
                </a:solidFill>
                <a:latin typeface="Archivo"/>
              </a:rPr>
              <a:t>Theme 1: Identity Matching Limitations</a:t>
            </a:r>
          </a:p>
          <a:p>
            <a:pPr marL="228600" lvl="1" indent="-182880">
              <a:spcAft>
                <a:spcPts val="600"/>
              </a:spcAft>
              <a:buFont typeface="Archivo"/>
              <a:buChar char="•"/>
            </a:pPr>
            <a:r>
              <a:rPr sz="1400">
                <a:solidFill>
                  <a:srgbClr val="0F2E66"/>
                </a:solidFill>
                <a:latin typeface="Archivo"/>
              </a:rPr>
              <a:t>"Duplicate detection is our top automation need; candidates change email and phone, requiring government ID matching." - (P5, Teleperformance) exposing the limitations of standard email/phone matching in high-volume India hiring.</a:t>
            </a:r>
          </a:p>
          <a:p>
            <a:pPr marL="228600" lvl="1" indent="-182880">
              <a:spcAft>
                <a:spcPts val="600"/>
              </a:spcAft>
              <a:buFont typeface="Archivo"/>
              <a:buChar char="•"/>
            </a:pPr>
            <a:r>
              <a:rPr sz="1400">
                <a:solidFill>
                  <a:srgbClr val="0F2E66"/>
                </a:solidFill>
                <a:latin typeface="Archivo"/>
              </a:rPr>
              <a:t>Collective peaks near 1.5K-2K hires per week across 8-9 sites; duplicate signal does not block progression, and agency first-source attribution breaks create financial exposure that requires robust Aadhaar-class identifiers.</a:t>
            </a:r>
          </a:p>
          <a:p>
            <a:r>
              <a:rPr sz="1200" b="1">
                <a:solidFill>
                  <a:srgbClr val="0F2E66"/>
                </a:solidFill>
                <a:latin typeface="Archivo"/>
              </a:rPr>
              <a:t>Theme 2: Batch Processing Needs</a:t>
            </a:r>
          </a:p>
          <a:p>
            <a:pPr marL="228600" lvl="1" indent="-182880">
              <a:spcAft>
                <a:spcPts val="600"/>
              </a:spcAft>
              <a:buFont typeface="Archivo"/>
              <a:buChar char="•"/>
            </a:pPr>
            <a:r>
              <a:rPr sz="1400">
                <a:solidFill>
                  <a:srgbClr val="0F2E66"/>
                </a:solidFill>
                <a:latin typeface="Archivo"/>
              </a:rPr>
              <a:t>Aadhaar-class identifiers are requested for deduplication but are not validation keys today, limiting their effectiveness for fraud prevention and identity trust at Teleperformance.</a:t>
            </a:r>
          </a:p>
          <a:p>
            <a:pPr marL="228600" lvl="1" indent="-182880">
              <a:spcAft>
                <a:spcPts val="600"/>
              </a:spcAft>
              <a:buFont typeface="Archivo"/>
              <a:buChar char="•"/>
            </a:pPr>
            <a:r>
              <a:rPr sz="1400">
                <a:solidFill>
                  <a:srgbClr val="0F2E66"/>
                </a:solidFill>
                <a:latin typeface="Archivo"/>
              </a:rPr>
              <a:t>At 100-150 offers per day, batch join-date moves cannot be mass-redone in-system, pushing manual legal letters; Saturday maintenance clashes with 6-day operations, demanding greater offer agility and batch processing capabilities.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6367"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426368" name="TextBox 426367"/>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26369" name="TextBox 426368"/>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49</a:t>
            </a:r>
          </a:p>
        </p:txBody>
      </p:sp>
      <p:sp>
        <p:nvSpPr>
          <p:cNvPr id="426370" name="TextBox 426369"/>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1 1
Thematic analysis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Theme 1: Know Your Candidate</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50</a:t>
            </a:r>
          </a:p>
        </p:txBody>
      </p:sp>
      <p:sp>
        <p:nvSpPr>
          <p:cNvPr id="5" name="TextBox 4"/>
          <p:cNvSpPr txBox="1"/>
          <p:nvPr/>
        </p:nvSpPr>
        <p:spPr>
          <a:xfrm>
            <a:off x="640080" y="1097280"/>
            <a:ext cx="7863840" cy="2560320"/>
          </a:xfrm>
          <a:prstGeom prst="rect">
            <a:avLst/>
          </a:prstGeom>
          <a:noFill/>
        </p:spPr>
        <p:txBody>
          <a:bodyPr wrap="square">
            <a:spAutoFit/>
          </a:bodyPr>
          <a:lstStyle/>
          <a:p>
            <a:r>
              <a:rPr sz="1200" b="1">
                <a:solidFill>
                  <a:srgbClr val="0F2E66"/>
                </a:solidFill>
                <a:latin typeface="Archivo"/>
              </a:rPr>
              <a:t>Know Your Candidate</a:t>
            </a:r>
          </a:p>
          <a:p>
            <a:pPr marL="228600" lvl="1" indent="-182880">
              <a:spcAft>
                <a:spcPts val="600"/>
              </a:spcAft>
              <a:buFont typeface="Archivo"/>
              <a:buChar char="•"/>
            </a:pPr>
            <a:r>
              <a:rPr sz="1200">
                <a:solidFill>
                  <a:srgbClr val="0F2E66"/>
                </a:solidFill>
                <a:latin typeface="Archivo"/>
              </a:rPr>
              <a:t>PAN, Aadhaar, and UAN anchor trust; policy needs all IDs pre-offer but UX allows skips; OTP fails and duplicate detection ignores government IDs.</a:t>
            </a:r>
          </a:p>
          <a:p>
            <a:pPr marL="228600" lvl="1" indent="-182880">
              <a:spcAft>
                <a:spcPts val="600"/>
              </a:spcAft>
              <a:buFont typeface="Archivo"/>
              <a:buChar char="•"/>
            </a:pPr>
            <a:r>
              <a:rPr sz="1200">
                <a:solidFill>
                  <a:srgbClr val="0F2E66"/>
                </a:solidFill>
                <a:latin typeface="Archivo"/>
              </a:rPr>
              <a:t>"Policy requires three government IDs before offer, but the UX allows skips; we spend hours chasing candidates for missing documents." - (P3, Teleperformance)</a:t>
            </a:r>
          </a:p>
          <a:p>
            <a:pPr marL="228600" lvl="1" indent="-182880">
              <a:spcAft>
                <a:spcPts val="600"/>
              </a:spcAft>
              <a:buFont typeface="Archivo"/>
              <a:buChar char="•"/>
            </a:pPr>
            <a:r>
              <a:rPr sz="1200">
                <a:solidFill>
                  <a:srgbClr val="0F2E66"/>
                </a:solidFill>
                <a:latin typeface="Archivo"/>
              </a:rPr>
              <a:t>Teleperformance and Accenture report severe bottlenecks, with hundreds of applications per requisition requiring manual review due to 60-70% parser accuracy.</a:t>
            </a:r>
          </a:p>
          <a:p>
            <a:pPr marL="228600" lvl="1" indent="-182880">
              <a:spcAft>
                <a:spcPts val="600"/>
              </a:spcAft>
              <a:buFont typeface="Archivo"/>
              <a:buChar char="•"/>
            </a:pPr>
            <a:r>
              <a:rPr sz="1200">
                <a:solidFill>
                  <a:srgbClr val="0F2E66"/>
                </a:solidFill>
                <a:latin typeface="Archivo"/>
              </a:rPr>
              <a:t>Business impact: Chase cycles, escalations, and financial exposure when duplicates do not block or honour first-source rules at thousands of profiles per day.</a:t>
            </a:r>
          </a:p>
          <a:p>
            <a:pPr marL="228600" lvl="1" indent="-182880">
              <a:spcAft>
                <a:spcPts val="600"/>
              </a:spcAft>
              <a:buFont typeface="Archivo"/>
              <a:buChar char="•"/>
            </a:pPr>
            <a:r>
              <a:rPr sz="1200">
                <a:solidFill>
                  <a:srgbClr val="0F2E66"/>
                </a:solidFill>
                <a:latin typeface="Archivo"/>
              </a:rPr>
              <a:t>Product implications: Lawful gating, duplicate detection on permitted IDs, partner eKYC or offline XML, fraudulent application detection alignment.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0610"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Theme 2: High Volume</a:t>
            </a:r>
          </a:p>
        </p:txBody>
      </p:sp>
      <p:sp>
        <p:nvSpPr>
          <p:cNvPr id="590611" name="TextBox 590610"/>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590612" name="TextBox 590611"/>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51</a:t>
            </a:r>
          </a:p>
        </p:txBody>
      </p:sp>
      <p:sp>
        <p:nvSpPr>
          <p:cNvPr id="590613" name="TextBox 590612"/>
          <p:cNvSpPr txBox="1"/>
          <p:nvPr/>
        </p:nvSpPr>
        <p:spPr>
          <a:xfrm>
            <a:off x="640080" y="1097280"/>
            <a:ext cx="7863840" cy="2560320"/>
          </a:xfrm>
          <a:prstGeom prst="rect">
            <a:avLst/>
          </a:prstGeom>
          <a:noFill/>
        </p:spPr>
        <p:txBody>
          <a:bodyPr wrap="square">
            <a:spAutoFit/>
          </a:bodyPr>
          <a:lstStyle/>
          <a:p>
            <a:r>
              <a:rPr sz="1200" b="1">
                <a:solidFill>
                  <a:srgbClr val="0F2E66"/>
                </a:solidFill>
                <a:latin typeface="Archivo"/>
              </a:rPr>
              <a:t>High Volume</a:t>
            </a:r>
          </a:p>
          <a:p>
            <a:pPr marL="228600" lvl="1" indent="-182880">
              <a:spcAft>
                <a:spcPts val="600"/>
              </a:spcAft>
              <a:buFont typeface="Archivo"/>
              <a:buChar char="•"/>
            </a:pPr>
            <a:r>
              <a:rPr sz="1200">
                <a:solidFill>
                  <a:srgbClr val="0F2E66"/>
                </a:solidFill>
                <a:latin typeface="Archivo"/>
              </a:rPr>
              <a:t>Peaks near 1.5K-2K hires per week and 2K-3K+ agency profiles per day; duplicate review fills days; vendor upload approval bottlenecks severely limit throughput.</a:t>
            </a:r>
          </a:p>
          <a:p>
            <a:pPr marL="228600" lvl="1" indent="-182880">
              <a:spcAft>
                <a:spcPts val="600"/>
              </a:spcAft>
              <a:buFont typeface="Archivo"/>
              <a:buChar char="•"/>
            </a:pPr>
            <a:r>
              <a:rPr sz="1200">
                <a:solidFill>
                  <a:srgbClr val="0F2E66"/>
                </a:solidFill>
                <a:latin typeface="Archivo"/>
              </a:rPr>
              <a:t>"Every application needs manual duplicate checks; skipped checks risk agency fee fairness when duplicates are found late." - (P4, Teleperformance)</a:t>
            </a:r>
          </a:p>
          <a:p>
            <a:pPr marL="228600" lvl="1" indent="-182880">
              <a:spcAft>
                <a:spcPts val="600"/>
              </a:spcAft>
              <a:buFont typeface="Archivo"/>
              <a:buChar char="•"/>
            </a:pPr>
            <a:r>
              <a:rPr sz="1200">
                <a:solidFill>
                  <a:srgbClr val="0F2E66"/>
                </a:solidFill>
                <a:latin typeface="Archivo"/>
              </a:rPr>
              <a:t>Accenture and Genpact process 100-200 concurrent openings and 200K applications, making individual clicks and manual duplicate resolution impossible to scale.</a:t>
            </a:r>
          </a:p>
          <a:p>
            <a:pPr marL="228600" lvl="1" indent="-182880">
              <a:spcAft>
                <a:spcPts val="600"/>
              </a:spcAft>
              <a:buFont typeface="Archivo"/>
              <a:buChar char="•"/>
            </a:pPr>
            <a:r>
              <a:rPr sz="1200">
                <a:solidFill>
                  <a:srgbClr val="0F2E66"/>
                </a:solidFill>
                <a:latin typeface="Archivo"/>
              </a:rPr>
              <a:t>Business impact: FTEs wasted on manual checks, credential delays at go-live, and lost business days when bulk tools lag behind seasonal hiring ramps.</a:t>
            </a:r>
          </a:p>
          <a:p>
            <a:pPr marL="228600" lvl="1" indent="-182880">
              <a:spcAft>
                <a:spcPts val="600"/>
              </a:spcAft>
              <a:buFont typeface="Archivo"/>
              <a:buChar char="•"/>
            </a:pPr>
            <a:r>
              <a:rPr sz="1200">
                <a:solidFill>
                  <a:srgbClr val="0F2E66"/>
                </a:solidFill>
                <a:latin typeface="Archivo"/>
              </a:rPr>
              <a:t>Product implications: Duplicate queues, merge beyond two records, mass disposition, HiredScore activation for volume, and a stronger bulk grid for India.</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Theme 3: Offer and BGV</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52</a:t>
            </a:r>
          </a:p>
        </p:txBody>
      </p:sp>
      <p:sp>
        <p:nvSpPr>
          <p:cNvPr id="5" name="TextBox 4"/>
          <p:cNvSpPr txBox="1"/>
          <p:nvPr/>
        </p:nvSpPr>
        <p:spPr>
          <a:xfrm>
            <a:off x="640080" y="1097280"/>
            <a:ext cx="7863840" cy="2560320"/>
          </a:xfrm>
          <a:prstGeom prst="rect">
            <a:avLst/>
          </a:prstGeom>
          <a:noFill/>
        </p:spPr>
        <p:txBody>
          <a:bodyPr wrap="square">
            <a:spAutoFit/>
          </a:bodyPr>
          <a:lstStyle/>
          <a:p>
            <a:r>
              <a:rPr sz="1200" b="1">
                <a:solidFill>
                  <a:srgbClr val="0F2E66"/>
                </a:solidFill>
                <a:latin typeface="Archivo"/>
              </a:rPr>
              <a:t>Offer and BGV</a:t>
            </a:r>
          </a:p>
          <a:p>
            <a:pPr marL="228600" lvl="1" indent="-182880">
              <a:spcAft>
                <a:spcPts val="600"/>
              </a:spcAft>
              <a:buFont typeface="Archivo"/>
              <a:buChar char="•"/>
            </a:pPr>
            <a:r>
              <a:rPr sz="1200">
                <a:solidFill>
                  <a:srgbClr val="0F2E66"/>
                </a:solidFill>
                <a:latin typeface="Archivo"/>
              </a:rPr>
              <a:t>Offer regeneration limits after pay or date changes force manual legal letters at ~100-150 offers per day; India post-hire background checks need flexible triggers.</a:t>
            </a:r>
          </a:p>
          <a:p>
            <a:pPr marL="228600" lvl="1" indent="-182880">
              <a:spcAft>
                <a:spcPts val="600"/>
              </a:spcAft>
              <a:buFont typeface="Archivo"/>
              <a:buChar char="•"/>
            </a:pPr>
            <a:r>
              <a:rPr sz="1200">
                <a:solidFill>
                  <a:srgbClr val="0F2E66"/>
                </a:solidFill>
                <a:latin typeface="Archivo"/>
              </a:rPr>
              <a:t>"India offers require complex tabular compensation disclosure; the current process forces dual documents and manual change tracking." - (SME2, Lowe's)</a:t>
            </a:r>
          </a:p>
          <a:p>
            <a:pPr marL="228600" lvl="1" indent="-182880">
              <a:spcAft>
                <a:spcPts val="600"/>
              </a:spcAft>
              <a:buFont typeface="Archivo"/>
              <a:buChar char="•"/>
            </a:pPr>
            <a:r>
              <a:rPr sz="1200">
                <a:solidFill>
                  <a:srgbClr val="0F2E66"/>
                </a:solidFill>
                <a:latin typeface="Archivo"/>
              </a:rPr>
              <a:t>Lowe's and Teleperformance experience double-digit offer-to-join loss tied to process length and anxiety, with batch join-date moves extremely hard to redo in-system.</a:t>
            </a:r>
          </a:p>
          <a:p>
            <a:pPr marL="228600" lvl="1" indent="-182880">
              <a:spcAft>
                <a:spcPts val="600"/>
              </a:spcAft>
              <a:buFont typeface="Archivo"/>
              <a:buChar char="•"/>
            </a:pPr>
            <a:r>
              <a:rPr sz="1200">
                <a:solidFill>
                  <a:srgbClr val="0F2E66"/>
                </a:solidFill>
                <a:latin typeface="Archivo"/>
              </a:rPr>
              <a:t>Business impact: Double-digit offer-to-join loss tied to process length and anxiety; batch join-date moves are extremely hard to redo in-system efficiently.</a:t>
            </a:r>
          </a:p>
          <a:p>
            <a:pPr marL="228600" lvl="1" indent="-182880">
              <a:spcAft>
                <a:spcPts val="600"/>
              </a:spcAft>
              <a:buFont typeface="Archivo"/>
              <a:buChar char="•"/>
            </a:pPr>
            <a:r>
              <a:rPr sz="1200">
                <a:solidFill>
                  <a:srgbClr val="0F2E66"/>
                </a:solidFill>
                <a:latin typeface="Archivo"/>
              </a:rPr>
              <a:t>Product implications: Controlled regenerate and batch updates where safe, audit-friendly notifications, and background check flexibility without brittle custom integrations.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7828"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Theme 4: Omnichannel</a:t>
            </a:r>
          </a:p>
        </p:txBody>
      </p:sp>
      <p:sp>
        <p:nvSpPr>
          <p:cNvPr id="457829" name="TextBox 457828"/>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57830" name="TextBox 457829"/>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53</a:t>
            </a:r>
          </a:p>
        </p:txBody>
      </p:sp>
      <p:sp>
        <p:nvSpPr>
          <p:cNvPr id="457831" name="TextBox 457830"/>
          <p:cNvSpPr txBox="1"/>
          <p:nvPr/>
        </p:nvSpPr>
        <p:spPr>
          <a:xfrm>
            <a:off x="640080" y="1097280"/>
            <a:ext cx="7863840" cy="2560320"/>
          </a:xfrm>
          <a:prstGeom prst="rect">
            <a:avLst/>
          </a:prstGeom>
          <a:noFill/>
        </p:spPr>
        <p:txBody>
          <a:bodyPr wrap="square">
            <a:spAutoFit/>
          </a:bodyPr>
          <a:lstStyle/>
          <a:p>
            <a:r>
              <a:rPr sz="1200" b="1">
                <a:solidFill>
                  <a:srgbClr val="0F2E66"/>
                </a:solidFill>
                <a:latin typeface="Archivo"/>
              </a:rPr>
              <a:t>Omnichannel</a:t>
            </a:r>
          </a:p>
          <a:p>
            <a:pPr marL="228600" lvl="1" indent="-182880">
              <a:spcAft>
                <a:spcPts val="600"/>
              </a:spcAft>
              <a:buFont typeface="Archivo"/>
              <a:buChar char="•"/>
            </a:pPr>
            <a:r>
              <a:rPr sz="1200">
                <a:solidFill>
                  <a:srgbClr val="0F2E66"/>
                </a:solidFill>
                <a:latin typeface="Archivo"/>
              </a:rPr>
              <a:t>WhatsApp is the default communication channel socially; competitive gaps exist on native +91 SMS and WhatsApp in core UI; customers see thousands of generic task emails.</a:t>
            </a:r>
          </a:p>
          <a:p>
            <a:pPr marL="228600" lvl="1" indent="-182880">
              <a:spcAft>
                <a:spcPts val="600"/>
              </a:spcAft>
              <a:buFont typeface="Archivo"/>
              <a:buChar char="•"/>
            </a:pPr>
            <a:r>
              <a:rPr sz="1200">
                <a:solidFill>
                  <a:srgbClr val="0F2E66"/>
                </a:solidFill>
                <a:latin typeface="Archivo"/>
              </a:rPr>
              <a:t>"Opt-in defaults starve our campaign reach; we need region-configurable opt-out to hit our volume targets." - (SME3)</a:t>
            </a:r>
          </a:p>
          <a:p>
            <a:pPr marL="228600" lvl="1" indent="-182880">
              <a:spcAft>
                <a:spcPts val="600"/>
              </a:spcAft>
              <a:buFont typeface="Archivo"/>
              <a:buChar char="•"/>
            </a:pPr>
            <a:r>
              <a:rPr sz="1200">
                <a:solidFill>
                  <a:srgbClr val="0F2E66"/>
                </a:solidFill>
                <a:latin typeface="Archivo"/>
              </a:rPr>
              <a:t>At a 700K population scale, chatbots for status updates await compliant conversational channels to reduce manual recruiter workload and improve candidate response rates.</a:t>
            </a:r>
          </a:p>
          <a:p>
            <a:pPr marL="228600" lvl="1" indent="-182880">
              <a:spcAft>
                <a:spcPts val="600"/>
              </a:spcAft>
              <a:buFont typeface="Archivo"/>
              <a:buChar char="•"/>
            </a:pPr>
            <a:r>
              <a:rPr sz="1200">
                <a:solidFill>
                  <a:srgbClr val="0F2E66"/>
                </a:solidFill>
                <a:latin typeface="Archivo"/>
              </a:rPr>
              <a:t>Business impact: Recruiters must phone candidates to confirm tasks; channel parity appears frequently in enterprise RFPs versus regional suites and global ATS competitors.</a:t>
            </a:r>
          </a:p>
          <a:p>
            <a:pPr marL="228600" lvl="1" indent="-182880">
              <a:spcAft>
                <a:spcPts val="600"/>
              </a:spcAft>
              <a:buFont typeface="Archivo"/>
              <a:buChar char="•"/>
            </a:pPr>
            <a:r>
              <a:rPr sz="1200">
                <a:solidFill>
                  <a:srgbClr val="0F2E66"/>
                </a:solidFill>
                <a:latin typeface="Archivo"/>
              </a:rPr>
              <a:t>Product implications: Native messaging with DPDP consent and logging; richer templates; governed messaging partner integrations with Legal approval for interim support.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Theme 5: Req Truth &amp; Approvals</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54</a:t>
            </a:r>
          </a:p>
        </p:txBody>
      </p:sp>
      <p:sp>
        <p:nvSpPr>
          <p:cNvPr id="5" name="TextBox 4"/>
          <p:cNvSpPr txBox="1"/>
          <p:nvPr/>
        </p:nvSpPr>
        <p:spPr>
          <a:xfrm>
            <a:off x="640080" y="1097280"/>
            <a:ext cx="7863840" cy="2560320"/>
          </a:xfrm>
          <a:prstGeom prst="rect">
            <a:avLst/>
          </a:prstGeom>
          <a:noFill/>
        </p:spPr>
        <p:txBody>
          <a:bodyPr wrap="square">
            <a:spAutoFit/>
          </a:bodyPr>
          <a:lstStyle/>
          <a:p>
            <a:r>
              <a:rPr sz="1200" b="1">
                <a:solidFill>
                  <a:srgbClr val="0F2E66"/>
                </a:solidFill>
                <a:latin typeface="Archivo"/>
              </a:rPr>
              <a:t>Req Truth &amp; Approvals</a:t>
            </a:r>
          </a:p>
          <a:p>
            <a:pPr marL="228600" lvl="1" indent="-182880">
              <a:spcAft>
                <a:spcPts val="600"/>
              </a:spcAft>
              <a:buFont typeface="Archivo"/>
              <a:buChar char="•"/>
            </a:pPr>
            <a:r>
              <a:rPr sz="1200">
                <a:solidFill>
                  <a:srgbClr val="0F2E66"/>
                </a:solidFill>
                <a:latin typeface="Archivo"/>
              </a:rPr>
              <a:t>Email approvals precede Workday requisitions, causing rework; P2 lost ~24 hours fixing cost centre tables; P3 uses parallel tools when dashboards miss SLA views.</a:t>
            </a:r>
          </a:p>
          <a:p>
            <a:pPr marL="228600" lvl="1" indent="-182880">
              <a:spcAft>
                <a:spcPts val="600"/>
              </a:spcAft>
              <a:buFont typeface="Archivo"/>
              <a:buChar char="•"/>
            </a:pPr>
            <a:r>
              <a:rPr sz="1200">
                <a:solidFill>
                  <a:srgbClr val="0F2E66"/>
                </a:solidFill>
                <a:latin typeface="Archivo"/>
              </a:rPr>
              <a:t>"We lost a full day fixing cost centre tables for one senior hire because the demand details were buried in email, not the system." - (P2, Teleperformance)</a:t>
            </a:r>
          </a:p>
          <a:p>
            <a:pPr marL="228600" lvl="1" indent="-182880">
              <a:spcAft>
                <a:spcPts val="600"/>
              </a:spcAft>
              <a:buFont typeface="Archivo"/>
              <a:buChar char="•"/>
            </a:pPr>
            <a:r>
              <a:rPr sz="1200">
                <a:solidFill>
                  <a:srgbClr val="0F2E66"/>
                </a:solidFill>
                <a:latin typeface="Archivo"/>
              </a:rPr>
              <a:t>Teleperformance recruiters carry cost centre, line of business, and margin detail that hiring managers omit, driving rework and significant delays before posting critical roles.</a:t>
            </a:r>
          </a:p>
          <a:p>
            <a:pPr marL="228600" lvl="1" indent="-182880">
              <a:spcAft>
                <a:spcPts val="600"/>
              </a:spcAft>
              <a:buFont typeface="Archivo"/>
              <a:buChar char="•"/>
            </a:pPr>
            <a:r>
              <a:rPr sz="1200">
                <a:solidFill>
                  <a:srgbClr val="0F2E66"/>
                </a:solidFill>
                <a:latin typeface="Archivo"/>
              </a:rPr>
              <a:t>Business impact: Weaker approval audit trails, supervisory organisation mis-tags at scale, and significantly slower time-to-post for confidential or volume programmes.</a:t>
            </a:r>
          </a:p>
          <a:p>
            <a:pPr marL="228600" lvl="1" indent="-182880">
              <a:spcAft>
                <a:spcPts val="600"/>
              </a:spcAft>
              <a:buFont typeface="Archivo"/>
              <a:buChar char="•"/>
            </a:pPr>
            <a:r>
              <a:rPr sz="1200">
                <a:solidFill>
                  <a:srgbClr val="0F2E66"/>
                </a:solidFill>
                <a:latin typeface="Archivo"/>
              </a:rPr>
              <a:t>Product implications: In-flow approvals, requisition ageing dashboards for managers, governed questionnaire templates; validate presales data gaps before building battle cards.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4190"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Cross-Source Validation Matrix</a:t>
            </a:r>
          </a:p>
        </p:txBody>
      </p:sp>
      <p:sp>
        <p:nvSpPr>
          <p:cNvPr id="694191" name="TextBox 694190"/>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694192" name="TextBox 694191"/>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55</a:t>
            </a:r>
          </a:p>
        </p:txBody>
      </p:sp>
      <p:graphicFrame>
        <p:nvGraphicFramePr>
          <p:cNvPr id="694193" name="Table 694192"/>
          <p:cNvGraphicFramePr>
            <a:graphicFrameLocks noGrp="1"/>
          </p:cNvGraphicFramePr>
          <p:nvPr/>
        </p:nvGraphicFramePr>
        <p:xfrm>
          <a:off x="320040" y="960120"/>
          <a:ext cx="8503920" cy="2743200"/>
        </p:xfrm>
        <a:graphic>
          <a:graphicData uri="http://schemas.openxmlformats.org/drawingml/2006/table">
            <a:tbl>
              <a:tblPr firstRow="1" bandRow="1">
                <a:tableStyleId>{5C22544A-7EE6-4342-B048-85BDC9FD1C3A}</a:tableStyleId>
              </a:tblPr>
              <a:tblGrid>
                <a:gridCol w="1700784">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gridCol w="1700784">
                  <a:extLst>
                    <a:ext uri="{9D8B030D-6E8A-4147-A177-3AD203B41FA5}">
                      <a16:colId xmlns:a16="http://schemas.microsoft.com/office/drawing/2014/main" val="20002"/>
                    </a:ext>
                  </a:extLst>
                </a:gridCol>
                <a:gridCol w="1700784">
                  <a:extLst>
                    <a:ext uri="{9D8B030D-6E8A-4147-A177-3AD203B41FA5}">
                      <a16:colId xmlns:a16="http://schemas.microsoft.com/office/drawing/2014/main" val="20003"/>
                    </a:ext>
                  </a:extLst>
                </a:gridCol>
                <a:gridCol w="1700784">
                  <a:extLst>
                    <a:ext uri="{9D8B030D-6E8A-4147-A177-3AD203B41FA5}">
                      <a16:colId xmlns:a16="http://schemas.microsoft.com/office/drawing/2014/main" val="20004"/>
                    </a:ext>
                  </a:extLst>
                </a:gridCol>
              </a:tblGrid>
              <a:tr h="457200">
                <a:tc>
                  <a:txBody>
                    <a:bodyPr/>
                    <a:lstStyle/>
                    <a:p>
                      <a:r>
                        <a:rPr sz="700" b="1">
                          <a:solidFill>
                            <a:srgbClr val="FFFFFF"/>
                          </a:solidFill>
                        </a:rPr>
                        <a:t>Theme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SME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Customer</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Ideation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Gaps (108)</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extLst>
                  <a:ext uri="{0D108BD9-81ED-4DB2-BD59-A6C34878D82A}">
                    <a16:rowId xmlns:a16="http://schemas.microsoft.com/office/drawing/2014/main" val="10000"/>
                  </a:ext>
                </a:extLst>
              </a:tr>
              <a:tr h="457200">
                <a:tc>
                  <a:txBody>
                    <a:bodyPr/>
                    <a:lstStyle/>
                    <a:p>
                      <a:r>
                        <a:rPr sz="700"/>
                        <a:t>T1 Know Your Candidate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Strong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Strong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Candidates high 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No fraud rows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1"/>
                  </a:ext>
                </a:extLst>
              </a:tr>
              <a:tr h="457200">
                <a:tc>
                  <a:txBody>
                    <a:bodyPr/>
                    <a:lstStyle/>
                    <a:p>
                      <a:r>
                        <a:rPr sz="700"/>
                        <a:t>T2 High-volume hiring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Strong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Strong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Mass action pain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Flowserve India reqs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2"/>
                  </a:ext>
                </a:extLst>
              </a:tr>
              <a:tr h="457200">
                <a:tc>
                  <a:txBody>
                    <a:bodyPr/>
                    <a:lstStyle/>
                    <a:p>
                      <a:r>
                        <a:rPr sz="700"/>
                        <a:t>T3 Offer / BGV / docs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Strong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Strong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Offers / BGC pain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Thin in 108 set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3"/>
                  </a:ext>
                </a:extLst>
              </a:tr>
              <a:tr h="457200">
                <a:tc>
                  <a:txBody>
                    <a:bodyPr/>
                    <a:lstStyle/>
                    <a:p>
                      <a:r>
                        <a:rPr sz="700"/>
                        <a:t>T4 Omnichannel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Strong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Medium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Comms hardest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Not in 108 set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4"/>
                  </a:ext>
                </a:extLst>
              </a:tr>
              <a:tr h="457200">
                <a:tc>
                  <a:txBody>
                    <a:bodyPr/>
                    <a:lstStyle/>
                    <a:p>
                      <a:r>
                        <a:rPr sz="700"/>
                        <a:t>T5 Req truth / approvals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Medium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Medium-high</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Job reqs pain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Questionnaire agility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4032"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474033" name="TextBox 47403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74034" name="TextBox 47403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56</a:t>
            </a:r>
          </a:p>
        </p:txBody>
      </p:sp>
      <p:sp>
        <p:nvSpPr>
          <p:cNvPr id="474035" name="TextBox 474034"/>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1 2
Full funnel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Gap Analysis</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57</a:t>
            </a:r>
          </a:p>
        </p:txBody>
      </p:sp>
      <p:graphicFrame>
        <p:nvGraphicFramePr>
          <p:cNvPr id="5" name="Table 4"/>
          <p:cNvGraphicFramePr>
            <a:graphicFrameLocks noGrp="1"/>
          </p:cNvGraphicFramePr>
          <p:nvPr/>
        </p:nvGraphicFramePr>
        <p:xfrm>
          <a:off x="320040" y="960120"/>
          <a:ext cx="8503920" cy="2743200"/>
        </p:xfrm>
        <a:graphic>
          <a:graphicData uri="http://schemas.openxmlformats.org/drawingml/2006/table">
            <a:tbl>
              <a:tblPr firstRow="1" bandRow="1">
                <a:tableStyleId>{5C22544A-7EE6-4342-B048-85BDC9FD1C3A}</a:tableStyleId>
              </a:tblPr>
              <a:tblGrid>
                <a:gridCol w="2125980">
                  <a:extLst>
                    <a:ext uri="{9D8B030D-6E8A-4147-A177-3AD203B41FA5}">
                      <a16:colId xmlns:a16="http://schemas.microsoft.com/office/drawing/2014/main" val="20000"/>
                    </a:ext>
                  </a:extLst>
                </a:gridCol>
                <a:gridCol w="2125980">
                  <a:extLst>
                    <a:ext uri="{9D8B030D-6E8A-4147-A177-3AD203B41FA5}">
                      <a16:colId xmlns:a16="http://schemas.microsoft.com/office/drawing/2014/main" val="20001"/>
                    </a:ext>
                  </a:extLst>
                </a:gridCol>
                <a:gridCol w="2125980">
                  <a:extLst>
                    <a:ext uri="{9D8B030D-6E8A-4147-A177-3AD203B41FA5}">
                      <a16:colId xmlns:a16="http://schemas.microsoft.com/office/drawing/2014/main" val="20002"/>
                    </a:ext>
                  </a:extLst>
                </a:gridCol>
                <a:gridCol w="2125980">
                  <a:extLst>
                    <a:ext uri="{9D8B030D-6E8A-4147-A177-3AD203B41FA5}">
                      <a16:colId xmlns:a16="http://schemas.microsoft.com/office/drawing/2014/main" val="20003"/>
                    </a:ext>
                  </a:extLst>
                </a:gridCol>
              </a:tblGrid>
              <a:tr h="457200">
                <a:tc>
                  <a:txBody>
                    <a:bodyPr/>
                    <a:lstStyle/>
                    <a:p>
                      <a:r>
                        <a:rPr sz="800" b="1">
                          <a:solidFill>
                            <a:srgbClr val="FFFFFF"/>
                          </a:solidFill>
                        </a:rPr>
                        <a:t>Funnel stage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Validated gap</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Evidence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800" b="1">
                          <a:solidFill>
                            <a:srgbClr val="FFFFFF"/>
                          </a:solidFill>
                        </a:rPr>
                        <a:t>Product response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extLst>
                  <a:ext uri="{0D108BD9-81ED-4DB2-BD59-A6C34878D82A}">
                    <a16:rowId xmlns:a16="http://schemas.microsoft.com/office/drawing/2014/main" val="10000"/>
                  </a:ext>
                </a:extLst>
              </a:tr>
              <a:tr h="457200">
                <a:tc>
                  <a:txBody>
                    <a:bodyPr/>
                    <a:lstStyle/>
                    <a:p>
                      <a:r>
                        <a:rPr sz="800"/>
                        <a:t>Attract / post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Naukri-class native multipost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Matrix true gap; P4 parse friction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Broadbean validation; Studio if needed</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1"/>
                  </a:ext>
                </a:extLst>
              </a:tr>
              <a:tr h="457200">
                <a:tc>
                  <a:txBody>
                    <a:bodyPr/>
                    <a:lstStyle/>
                    <a:p>
                      <a:r>
                        <a:rPr sz="800"/>
                        <a:t>Apply / intake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Lawful dedupe and source rules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P1–P2; SME5 scale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UDMF extensions; cooling-off; merge &gt;2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2"/>
                  </a:ext>
                </a:extLst>
              </a:tr>
              <a:tr h="457200">
                <a:tc>
                  <a:txBody>
                    <a:bodyPr/>
                    <a:lstStyle/>
                    <a:p>
                      <a:r>
                        <a:rPr sz="800"/>
                        <a:t>Screen / verify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ID step reliability and BGC orchestration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P5 OTP; SME2–4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Reinitiate; parallel packages; regional gating</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3"/>
                  </a:ext>
                </a:extLst>
              </a:tr>
              <a:tr h="457200">
                <a:tc>
                  <a:txBody>
                    <a:bodyPr/>
                    <a:lstStyle/>
                    <a:p>
                      <a:r>
                        <a:rPr sz="800"/>
                        <a:t>Offer / close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Post-accept revision and notifications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P1–P2–P5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Controlled regenerate; milestone mail</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4"/>
                  </a:ext>
                </a:extLst>
              </a:tr>
              <a:tr h="457200">
                <a:tc>
                  <a:txBody>
                    <a:bodyPr/>
                    <a:lstStyle/>
                    <a:p>
                      <a:r>
                        <a:rPr sz="800"/>
                        <a:t>Govern / report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In-flow approvals and SLA views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P3–P4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800"/>
                        <a:t>Guided reqs; ageing dashboards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7412" name="Google Shape;65;p17"/>
          <p:cNvPicPr preferRelativeResize="0"/>
          <p:nvPr/>
        </p:nvPicPr>
        <p:blipFill rotWithShape="1">
          <a:blip r:embed="rId2">
            <a:alphaModFix/>
          </a:blip>
          <a:srcRect l="4364" r="70596"/>
          <a:stretch/>
        </p:blipFill>
        <p:spPr>
          <a:xfrm>
            <a:off x="-1" y="-2286"/>
            <a:ext cx="2508653" cy="5148072"/>
          </a:xfrm>
          <a:prstGeom prst="rect">
            <a:avLst/>
          </a:prstGeom>
          <a:noFill/>
          <a:ln>
            <a:noFill/>
          </a:ln>
        </p:spPr>
      </p:pic>
      <p:sp>
        <p:nvSpPr>
          <p:cNvPr id="227413" name="TextBox 22741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227414" name="TextBox 22741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58</a:t>
            </a:r>
          </a:p>
        </p:txBody>
      </p:sp>
      <p:sp>
        <p:nvSpPr>
          <p:cNvPr id="227415" name="TextBox 227414"/>
          <p:cNvSpPr txBox="1"/>
          <p:nvPr/>
        </p:nvSpPr>
        <p:spPr>
          <a:xfrm>
            <a:off x="3017520" y="1371600"/>
            <a:ext cx="5120640" cy="2011680"/>
          </a:xfrm>
          <a:prstGeom prst="rect">
            <a:avLst/>
          </a:prstGeom>
          <a:noFill/>
        </p:spPr>
        <p:txBody>
          <a:bodyPr wrap="square">
            <a:spAutoFit/>
          </a:bodyPr>
          <a:lstStyle/>
          <a:p>
            <a:r>
              <a:rPr sz="1200">
                <a:solidFill>
                  <a:srgbClr val="0F2E66"/>
                </a:solidFill>
                <a:latin typeface="Archivo"/>
              </a:rPr>
              <a:t>S E C T I O N  1 3
Roadmap</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 1: India Know Your Candidate</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59</a:t>
            </a:r>
          </a:p>
        </p:txBody>
      </p:sp>
      <p:sp>
        <p:nvSpPr>
          <p:cNvPr id="5" name="TextBox 4"/>
          <p:cNvSpPr txBox="1"/>
          <p:nvPr/>
        </p:nvSpPr>
        <p:spPr>
          <a:xfrm>
            <a:off x="640080" y="1097280"/>
            <a:ext cx="7863840" cy="2560320"/>
          </a:xfrm>
          <a:prstGeom prst="rect">
            <a:avLst/>
          </a:prstGeom>
          <a:noFill/>
        </p:spPr>
        <p:txBody>
          <a:bodyPr wrap="square">
            <a:spAutoFit/>
          </a:bodyPr>
          <a:lstStyle/>
          <a:p>
            <a:r>
              <a:rPr sz="1400" b="1">
                <a:solidFill>
                  <a:srgbClr val="0F2E66"/>
                </a:solidFill>
                <a:latin typeface="Archivo"/>
              </a:rPr>
              <a:t>Problem</a:t>
            </a:r>
          </a:p>
          <a:p>
            <a:pPr marL="228600" lvl="1" indent="-182880">
              <a:spcAft>
                <a:spcPts val="600"/>
              </a:spcAft>
              <a:buFont typeface="Archivo"/>
              <a:buChar char="•"/>
            </a:pPr>
            <a:r>
              <a:rPr sz="1400">
                <a:solidFill>
                  <a:srgbClr val="0F2E66"/>
                </a:solidFill>
                <a:latin typeface="Archivo"/>
              </a:rPr>
              <a:t>ID policy demands pre-offer IDs but gating and OTP are weak; manual duplicate resolution limits scale and creates significant compliance and fee risks for enterprise customers.</a:t>
            </a:r>
          </a:p>
          <a:p>
            <a:r>
              <a:rPr sz="1400" b="1">
                <a:solidFill>
                  <a:srgbClr val="0F2E66"/>
                </a:solidFill>
                <a:latin typeface="Archivo"/>
              </a:rPr>
              <a:t>Evidence</a:t>
            </a:r>
          </a:p>
          <a:p>
            <a:pPr marL="228600" lvl="1" indent="-182880">
              <a:spcAft>
                <a:spcPts val="600"/>
              </a:spcAft>
              <a:buFont typeface="Archivo"/>
              <a:buChar char="•"/>
            </a:pPr>
            <a:r>
              <a:rPr sz="1400">
                <a:solidFill>
                  <a:srgbClr val="0F2E66"/>
                </a:solidFill>
                <a:latin typeface="Archivo"/>
              </a:rPr>
              <a:t>P3 and P5 (Teleperformance) need lawful duplicate detection on government IDs; SME5 cites Accenture-scale 200K duplicate challenges and impersonation risks in high-volume hiring.</a:t>
            </a:r>
          </a:p>
          <a:p>
            <a:r>
              <a:rPr sz="1400" b="1">
                <a:solidFill>
                  <a:srgbClr val="0F2E66"/>
                </a:solidFill>
                <a:latin typeface="Archivo"/>
              </a:rPr>
              <a:t>Recommendation</a:t>
            </a:r>
          </a:p>
          <a:p>
            <a:pPr marL="228600" lvl="1" indent="-182880">
              <a:spcAft>
                <a:spcPts val="600"/>
              </a:spcAft>
              <a:buFont typeface="Archivo"/>
              <a:buChar char="•"/>
            </a:pPr>
            <a:r>
              <a:rPr sz="1400">
                <a:solidFill>
                  <a:srgbClr val="0F2E66"/>
                </a:solidFill>
                <a:latin typeface="Archivo"/>
              </a:rPr>
              <a:t>Implement duplicate detection and application gating for PAN, Aadhaar, UAN where permitted, with DPDP consent and partner eKYC integration to ensure robust identity verification.</a:t>
            </a:r>
          </a:p>
          <a:p>
            <a:r>
              <a:rPr sz="1400" b="1">
                <a:solidFill>
                  <a:srgbClr val="0F2E66"/>
                </a:solidFill>
                <a:latin typeface="Archivo"/>
              </a:rPr>
              <a:t>Why Now</a:t>
            </a:r>
          </a:p>
          <a:p>
            <a:pPr marL="228600" lvl="1" indent="-182880">
              <a:spcAft>
                <a:spcPts val="600"/>
              </a:spcAft>
              <a:buFont typeface="Archivo"/>
              <a:buChar char="•"/>
            </a:pPr>
            <a:r>
              <a:rPr sz="1400">
                <a:solidFill>
                  <a:srgbClr val="0F2E66"/>
                </a:solidFill>
                <a:latin typeface="Archivo"/>
              </a:rPr>
              <a:t>New market entry and trust buying demand robust identity verification; critical for enterprise adoption and compliance in the rapidly formalising India talent acquisition market.</a:t>
            </a:r>
          </a:p>
          <a:p>
            <a:r>
              <a:rPr sz="1400" b="1">
                <a:solidFill>
                  <a:srgbClr val="0F2E66"/>
                </a:solidFill>
                <a:latin typeface="Archivo"/>
              </a:rPr>
              <a:t>Success Metrics</a:t>
            </a:r>
          </a:p>
          <a:p>
            <a:pPr marL="228600" lvl="1" indent="-182880">
              <a:spcAft>
                <a:spcPts val="600"/>
              </a:spcAft>
              <a:buFont typeface="Archivo"/>
              <a:buChar char="•"/>
            </a:pPr>
            <a:r>
              <a:rPr sz="1400">
                <a:solidFill>
                  <a:srgbClr val="0F2E66"/>
                </a:solidFill>
                <a:latin typeface="Archivo"/>
              </a:rPr>
              <a:t>Time to Hire: Reduce ID chase loops by 5-10% on India high-volume baselines, improving overall candidate throughput and reducing recruiter administrative burden.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6487"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Recommendation 2: Volume duplicate ops</a:t>
            </a:r>
          </a:p>
        </p:txBody>
      </p:sp>
      <p:sp>
        <p:nvSpPr>
          <p:cNvPr id="526488" name="TextBox 526487"/>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526489" name="TextBox 526488"/>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60</a:t>
            </a:r>
          </a:p>
        </p:txBody>
      </p:sp>
      <p:sp>
        <p:nvSpPr>
          <p:cNvPr id="526490" name="TextBox 526489"/>
          <p:cNvSpPr txBox="1"/>
          <p:nvPr/>
        </p:nvSpPr>
        <p:spPr>
          <a:xfrm>
            <a:off x="640080" y="1097280"/>
            <a:ext cx="7863840" cy="2560320"/>
          </a:xfrm>
          <a:prstGeom prst="rect">
            <a:avLst/>
          </a:prstGeom>
          <a:noFill/>
        </p:spPr>
        <p:txBody>
          <a:bodyPr wrap="square">
            <a:spAutoFit/>
          </a:bodyPr>
          <a:lstStyle/>
          <a:p>
            <a:r>
              <a:rPr sz="1400" b="1">
                <a:solidFill>
                  <a:srgbClr val="0F2E66"/>
                </a:solidFill>
                <a:latin typeface="Archivo"/>
              </a:rPr>
              <a:t>Problem</a:t>
            </a:r>
          </a:p>
          <a:p>
            <a:pPr marL="228600" lvl="1" indent="-182880">
              <a:spcAft>
                <a:spcPts val="600"/>
              </a:spcAft>
              <a:buFont typeface="Archivo"/>
              <a:buChar char="•"/>
            </a:pPr>
            <a:r>
              <a:rPr sz="1400">
                <a:solidFill>
                  <a:srgbClr val="0F2E66"/>
                </a:solidFill>
                <a:latin typeface="Archivo"/>
              </a:rPr>
              <a:t>Thousands of profiles per day need duplicate review; agency first-source rules break fees, and vendor upload approval does not scale for massive enterprise talent supply chains.</a:t>
            </a:r>
          </a:p>
          <a:p>
            <a:r>
              <a:rPr sz="1400" b="1">
                <a:solidFill>
                  <a:srgbClr val="0F2E66"/>
                </a:solidFill>
                <a:latin typeface="Archivo"/>
              </a:rPr>
              <a:t>Evidence</a:t>
            </a:r>
          </a:p>
          <a:p>
            <a:pPr marL="228600" lvl="1" indent="-182880">
              <a:spcAft>
                <a:spcPts val="600"/>
              </a:spcAft>
              <a:buFont typeface="Archivo"/>
              <a:buChar char="•"/>
            </a:pPr>
            <a:r>
              <a:rPr sz="1400">
                <a:solidFill>
                  <a:srgbClr val="0F2E66"/>
                </a:solidFill>
                <a:latin typeface="Archivo"/>
              </a:rPr>
              <a:t>P4 and P5 (Teleperformance) cite manual review bottlenecks; SME4 notes Genpact mass hire friction; SME5 highlights merge limits capped at two records causing issues at Accenture.</a:t>
            </a:r>
          </a:p>
          <a:p>
            <a:r>
              <a:rPr sz="1400" b="1">
                <a:solidFill>
                  <a:srgbClr val="0F2E66"/>
                </a:solidFill>
                <a:latin typeface="Archivo"/>
              </a:rPr>
              <a:t>Recommendation</a:t>
            </a:r>
          </a:p>
          <a:p>
            <a:pPr marL="228600" lvl="1" indent="-182880">
              <a:spcAft>
                <a:spcPts val="600"/>
              </a:spcAft>
              <a:buFont typeface="Archivo"/>
              <a:buChar char="•"/>
            </a:pPr>
            <a:r>
              <a:rPr sz="1400">
                <a:solidFill>
                  <a:srgbClr val="0F2E66"/>
                </a:solidFill>
                <a:latin typeface="Archivo"/>
              </a:rPr>
              <a:t>Productise duplicate queues, first-source agency attribution, multi-way merge, mass disposition with compliance guardrails, and faster vendor-upload UX for high-volume operations.</a:t>
            </a:r>
          </a:p>
          <a:p>
            <a:r>
              <a:rPr sz="1400" b="1">
                <a:solidFill>
                  <a:srgbClr val="0F2E66"/>
                </a:solidFill>
                <a:latin typeface="Archivo"/>
              </a:rPr>
              <a:t>Why Now</a:t>
            </a:r>
          </a:p>
          <a:p>
            <a:pPr marL="228600" lvl="1" indent="-182880">
              <a:spcAft>
                <a:spcPts val="600"/>
              </a:spcAft>
              <a:buFont typeface="Archivo"/>
              <a:buChar char="•"/>
            </a:pPr>
            <a:r>
              <a:rPr sz="1400">
                <a:solidFill>
                  <a:srgbClr val="0F2E66"/>
                </a:solidFill>
                <a:latin typeface="Archivo"/>
              </a:rPr>
              <a:t>India scale growth priority requires core ATS parity for high-volume operations to compete effectively against regional specialists who already offer these bulk processing tools.</a:t>
            </a:r>
          </a:p>
          <a:p>
            <a:r>
              <a:rPr sz="1400" b="1">
                <a:solidFill>
                  <a:srgbClr val="0F2E66"/>
                </a:solidFill>
                <a:latin typeface="Archivo"/>
              </a:rPr>
              <a:t>Success Metrics</a:t>
            </a:r>
          </a:p>
          <a:p>
            <a:pPr marL="228600" lvl="1" indent="-182880">
              <a:spcAft>
                <a:spcPts val="600"/>
              </a:spcAft>
              <a:buFont typeface="Archivo"/>
              <a:buChar char="•"/>
            </a:pPr>
            <a:r>
              <a:rPr sz="1400">
                <a:solidFill>
                  <a:srgbClr val="0F2E66"/>
                </a:solidFill>
                <a:latin typeface="Archivo"/>
              </a:rPr>
              <a:t>Recruiter Efficiency: Cut manual duplicate review time by 50% on pilot cohorts, returning thousands of hours annually to candidate engagement and strategic sourcing.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 3: HiredScore India volume</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61</a:t>
            </a:r>
          </a:p>
        </p:txBody>
      </p:sp>
      <p:sp>
        <p:nvSpPr>
          <p:cNvPr id="5" name="TextBox 4"/>
          <p:cNvSpPr txBox="1"/>
          <p:nvPr/>
        </p:nvSpPr>
        <p:spPr>
          <a:xfrm>
            <a:off x="640080" y="1097280"/>
            <a:ext cx="7863840" cy="2560320"/>
          </a:xfrm>
          <a:prstGeom prst="rect">
            <a:avLst/>
          </a:prstGeom>
          <a:noFill/>
        </p:spPr>
        <p:txBody>
          <a:bodyPr wrap="square">
            <a:spAutoFit/>
          </a:bodyPr>
          <a:lstStyle/>
          <a:p>
            <a:r>
              <a:rPr sz="1400" b="1">
                <a:solidFill>
                  <a:srgbClr val="0F2E66"/>
                </a:solidFill>
                <a:latin typeface="Archivo"/>
              </a:rPr>
              <a:t>Problem</a:t>
            </a:r>
          </a:p>
          <a:p>
            <a:pPr marL="228600" lvl="1" indent="-182880">
              <a:spcAft>
                <a:spcPts val="600"/>
              </a:spcAft>
              <a:buFont typeface="Archivo"/>
              <a:buChar char="•"/>
            </a:pPr>
            <a:r>
              <a:rPr sz="1400">
                <a:solidFill>
                  <a:srgbClr val="0F2E66"/>
                </a:solidFill>
                <a:latin typeface="Archivo"/>
              </a:rPr>
              <a:t>700+ applications per requisition exhaust manual screening; parser limits force manual review, significantly delaying time-to-hire for volume roles and frustrating recruiters.</a:t>
            </a:r>
          </a:p>
          <a:p>
            <a:r>
              <a:rPr sz="1400" b="1">
                <a:solidFill>
                  <a:srgbClr val="0F2E66"/>
                </a:solidFill>
                <a:latin typeface="Archivo"/>
              </a:rPr>
              <a:t>Evidence</a:t>
            </a:r>
          </a:p>
          <a:p>
            <a:pPr marL="228600" lvl="1" indent="-182880">
              <a:spcAft>
                <a:spcPts val="600"/>
              </a:spcAft>
              <a:buFont typeface="Archivo"/>
              <a:buChar char="•"/>
            </a:pPr>
            <a:r>
              <a:rPr sz="1400">
                <a:solidFill>
                  <a:srgbClr val="0F2E66"/>
                </a:solidFill>
                <a:latin typeface="Archivo"/>
              </a:rPr>
              <a:t>P3 (Teleperformance) cites 60-70% parser accuracy driving manual review; SME1 notes 100K+ resume scale at Accenture requires intelligent screening to maintain process velocity.</a:t>
            </a:r>
          </a:p>
          <a:p>
            <a:r>
              <a:rPr sz="1400" b="1">
                <a:solidFill>
                  <a:srgbClr val="0F2E66"/>
                </a:solidFill>
                <a:latin typeface="Archivo"/>
              </a:rPr>
              <a:t>Recommendation</a:t>
            </a:r>
          </a:p>
          <a:p>
            <a:pPr marL="228600" lvl="1" indent="-182880">
              <a:spcAft>
                <a:spcPts val="600"/>
              </a:spcAft>
              <a:buFont typeface="Archivo"/>
              <a:buChar char="•"/>
            </a:pPr>
            <a:r>
              <a:rPr sz="1400">
                <a:solidFill>
                  <a:srgbClr val="0F2E66"/>
                </a:solidFill>
                <a:latin typeface="Archivo"/>
              </a:rPr>
              <a:t>Enable repeatable HiredScore activation with reviewer queues, ensuring governance for EU AI Act and India AI expectations before broad rollout to enterprise customers.</a:t>
            </a:r>
          </a:p>
          <a:p>
            <a:r>
              <a:rPr sz="1400" b="1">
                <a:solidFill>
                  <a:srgbClr val="0F2E66"/>
                </a:solidFill>
                <a:latin typeface="Archivo"/>
              </a:rPr>
              <a:t>Why Now</a:t>
            </a:r>
          </a:p>
          <a:p>
            <a:pPr marL="228600" lvl="1" indent="-182880">
              <a:spcAft>
                <a:spcPts val="600"/>
              </a:spcAft>
              <a:buFont typeface="Archivo"/>
              <a:buChar char="•"/>
            </a:pPr>
            <a:r>
              <a:rPr sz="1400">
                <a:solidFill>
                  <a:srgbClr val="0F2E66"/>
                </a:solidFill>
                <a:latin typeface="Archivo"/>
              </a:rPr>
              <a:t>Q2 Priority 2 demands AI matching ROI on high-volume India IT and BPO templates to maintain competitive differentiation against AI-native regional ATS competitors.</a:t>
            </a:r>
          </a:p>
          <a:p>
            <a:r>
              <a:rPr sz="1400" b="1">
                <a:solidFill>
                  <a:srgbClr val="0F2E66"/>
                </a:solidFill>
                <a:latin typeface="Archivo"/>
              </a:rPr>
              <a:t>Success Metrics</a:t>
            </a:r>
          </a:p>
          <a:p>
            <a:pPr marL="228600" lvl="1" indent="-182880">
              <a:spcAft>
                <a:spcPts val="600"/>
              </a:spcAft>
              <a:buFont typeface="Archivo"/>
              <a:buChar char="•"/>
            </a:pPr>
            <a:r>
              <a:rPr sz="1400">
                <a:solidFill>
                  <a:srgbClr val="0F2E66"/>
                </a:solidFill>
                <a:latin typeface="Archivo"/>
              </a:rPr>
              <a:t>Time to Shortlist: 30% reduction on pilot requisitions versus control groups, accelerating the top of the hiring funnel and improving overall candidate conversion.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07"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rPr dirty="0"/>
              <a:t>Recommendation 4: WhatsApp</a:t>
            </a:r>
          </a:p>
        </p:txBody>
      </p:sp>
      <p:sp>
        <p:nvSpPr>
          <p:cNvPr id="308008" name="TextBox 308007"/>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308009" name="TextBox 308008"/>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62</a:t>
            </a:r>
          </a:p>
        </p:txBody>
      </p:sp>
      <p:sp>
        <p:nvSpPr>
          <p:cNvPr id="308010" name="TextBox 308009"/>
          <p:cNvSpPr txBox="1"/>
          <p:nvPr/>
        </p:nvSpPr>
        <p:spPr>
          <a:xfrm>
            <a:off x="640080" y="1097280"/>
            <a:ext cx="7863840" cy="3631763"/>
          </a:xfrm>
          <a:prstGeom prst="rect">
            <a:avLst/>
          </a:prstGeom>
          <a:noFill/>
        </p:spPr>
        <p:txBody>
          <a:bodyPr wrap="square">
            <a:spAutoFit/>
          </a:bodyPr>
          <a:lstStyle/>
          <a:p>
            <a:r>
              <a:rPr sz="1400" b="1" dirty="0">
                <a:solidFill>
                  <a:srgbClr val="0F2E66"/>
                </a:solidFill>
                <a:latin typeface="Archivo"/>
              </a:rPr>
              <a:t>Problem</a:t>
            </a:r>
          </a:p>
          <a:p>
            <a:pPr marL="228600" lvl="1" indent="-182880">
              <a:spcAft>
                <a:spcPts val="600"/>
              </a:spcAft>
              <a:buFont typeface="Archivo"/>
              <a:buChar char="•"/>
            </a:pPr>
            <a:r>
              <a:rPr sz="1400" dirty="0">
                <a:solidFill>
                  <a:srgbClr val="0F2E66"/>
                </a:solidFill>
                <a:latin typeface="Archivo"/>
              </a:rPr>
              <a:t>Lack of native WhatsApp in core UI forces recruiters to use personal devices or external tools, losing audit trails and critical compliance tracking for DPDP.</a:t>
            </a:r>
          </a:p>
          <a:p>
            <a:r>
              <a:rPr sz="1400" b="1" dirty="0">
                <a:solidFill>
                  <a:srgbClr val="0F2E66"/>
                </a:solidFill>
                <a:latin typeface="Archivo"/>
              </a:rPr>
              <a:t>Evidence</a:t>
            </a:r>
          </a:p>
          <a:p>
            <a:pPr marL="228600" lvl="1" indent="-182880">
              <a:spcAft>
                <a:spcPts val="600"/>
              </a:spcAft>
              <a:buFont typeface="Archivo"/>
              <a:buChar char="•"/>
            </a:pPr>
            <a:r>
              <a:rPr sz="1400" dirty="0">
                <a:solidFill>
                  <a:srgbClr val="0F2E66"/>
                </a:solidFill>
                <a:latin typeface="Archivo"/>
              </a:rPr>
              <a:t>Competitive gaps identified against regional specialists; PESTEL Social shows WhatsApp as default; SME3 confirms WhatsApp dominates candidate links across global deployments.</a:t>
            </a:r>
          </a:p>
          <a:p>
            <a:r>
              <a:rPr sz="1400" b="1" dirty="0">
                <a:solidFill>
                  <a:srgbClr val="0F2E66"/>
                </a:solidFill>
                <a:latin typeface="Archivo"/>
              </a:rPr>
              <a:t>Recommendation</a:t>
            </a:r>
          </a:p>
          <a:p>
            <a:pPr marL="228600" lvl="1" indent="-182880">
              <a:spcAft>
                <a:spcPts val="600"/>
              </a:spcAft>
              <a:buFont typeface="Archivo"/>
              <a:buChar char="•"/>
            </a:pPr>
            <a:r>
              <a:rPr sz="1400" dirty="0">
                <a:solidFill>
                  <a:srgbClr val="0F2E66"/>
                </a:solidFill>
                <a:latin typeface="Archivo"/>
              </a:rPr>
              <a:t>Deliver native candidate WhatsApp messaging for India with DPDP consent, logging, opt-out, and template governance to ensure compliance and improve candidate engagement.</a:t>
            </a:r>
          </a:p>
          <a:p>
            <a:r>
              <a:rPr sz="1400" b="1" dirty="0">
                <a:solidFill>
                  <a:srgbClr val="0F2E66"/>
                </a:solidFill>
                <a:latin typeface="Archivo"/>
              </a:rPr>
              <a:t>Why Now</a:t>
            </a:r>
          </a:p>
          <a:p>
            <a:pPr marL="228600" lvl="1" indent="-182880">
              <a:spcAft>
                <a:spcPts val="600"/>
              </a:spcAft>
              <a:buFont typeface="Archivo"/>
              <a:buChar char="•"/>
            </a:pPr>
            <a:r>
              <a:rPr sz="1400" dirty="0">
                <a:solidFill>
                  <a:srgbClr val="0F2E66"/>
                </a:solidFill>
                <a:latin typeface="Archivo"/>
              </a:rPr>
              <a:t>India scale priority requires omnichannel parity to compete effectively in enterprise RFPs and meet candidate communication expectations in a mobile-first talent market.</a:t>
            </a:r>
          </a:p>
          <a:p>
            <a:r>
              <a:rPr sz="1400" b="1" dirty="0">
                <a:solidFill>
                  <a:srgbClr val="0F2E66"/>
                </a:solidFill>
                <a:latin typeface="Archivo"/>
              </a:rPr>
              <a:t>Success Metrics</a:t>
            </a:r>
          </a:p>
          <a:p>
            <a:pPr marL="228600" lvl="1" indent="-182880">
              <a:spcAft>
                <a:spcPts val="600"/>
              </a:spcAft>
              <a:buFont typeface="Archivo"/>
              <a:buChar char="•"/>
            </a:pPr>
            <a:r>
              <a:rPr sz="1400" dirty="0">
                <a:solidFill>
                  <a:srgbClr val="0F2E66"/>
                </a:solidFill>
                <a:latin typeface="Archivo"/>
              </a:rPr>
              <a:t>Candidate Response Rate: Increase from 15% (email) to 70% (WhatsApp) on pilot campaigns, dramatically reducing chase time and improving recruiter operational efficiency.</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 5: Offer and EA agility</a:t>
            </a:r>
          </a:p>
        </p:txBody>
      </p:sp>
      <p:sp>
        <p:nvSpPr>
          <p:cNvPr id="3" name="TextBox 2"/>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4" name="TextBox 3"/>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63</a:t>
            </a:r>
          </a:p>
        </p:txBody>
      </p:sp>
      <p:sp>
        <p:nvSpPr>
          <p:cNvPr id="5" name="TextBox 4"/>
          <p:cNvSpPr txBox="1"/>
          <p:nvPr/>
        </p:nvSpPr>
        <p:spPr>
          <a:xfrm>
            <a:off x="640080" y="1097280"/>
            <a:ext cx="7863840" cy="2560320"/>
          </a:xfrm>
          <a:prstGeom prst="rect">
            <a:avLst/>
          </a:prstGeom>
          <a:noFill/>
        </p:spPr>
        <p:txBody>
          <a:bodyPr wrap="square">
            <a:spAutoFit/>
          </a:bodyPr>
          <a:lstStyle/>
          <a:p>
            <a:r>
              <a:rPr sz="1400" b="1">
                <a:solidFill>
                  <a:srgbClr val="0F2E66"/>
                </a:solidFill>
                <a:latin typeface="Archivo"/>
              </a:rPr>
              <a:t>Problem</a:t>
            </a:r>
          </a:p>
          <a:p>
            <a:pPr marL="228600" lvl="1" indent="-182880">
              <a:spcAft>
                <a:spcPts val="600"/>
              </a:spcAft>
              <a:buFont typeface="Archivo"/>
              <a:buChar char="•"/>
            </a:pPr>
            <a:r>
              <a:rPr sz="1400">
                <a:solidFill>
                  <a:srgbClr val="0F2E66"/>
                </a:solidFill>
                <a:latin typeface="Archivo"/>
              </a:rPr>
              <a:t>Compensation or start-date shifts after acceptance force manual legal letters at batch scale, compounding offer-to-join risk and administrative burden for high-volume teams.</a:t>
            </a:r>
          </a:p>
          <a:p>
            <a:r>
              <a:rPr sz="1400" b="1">
                <a:solidFill>
                  <a:srgbClr val="0F2E66"/>
                </a:solidFill>
                <a:latin typeface="Archivo"/>
              </a:rPr>
              <a:t>Evidence</a:t>
            </a:r>
          </a:p>
          <a:p>
            <a:pPr marL="228600" lvl="1" indent="-182880">
              <a:spcAft>
                <a:spcPts val="600"/>
              </a:spcAft>
              <a:buFont typeface="Archivo"/>
              <a:buChar char="•"/>
            </a:pPr>
            <a:r>
              <a:rPr sz="1400">
                <a:solidFill>
                  <a:srgbClr val="0F2E66"/>
                </a:solidFill>
                <a:latin typeface="Archivo"/>
              </a:rPr>
              <a:t>P3-P5 (Teleperformance) cite regenerate friction; SME2 notes Lowe's volume requires complex tabular compensation disclosure and dual documents that break standard workflows.</a:t>
            </a:r>
          </a:p>
          <a:p>
            <a:r>
              <a:rPr sz="1400" b="1">
                <a:solidFill>
                  <a:srgbClr val="0F2E66"/>
                </a:solidFill>
                <a:latin typeface="Archivo"/>
              </a:rPr>
              <a:t>Recommendation</a:t>
            </a:r>
          </a:p>
          <a:p>
            <a:pPr marL="228600" lvl="1" indent="-182880">
              <a:spcAft>
                <a:spcPts val="600"/>
              </a:spcAft>
              <a:buFont typeface="Archivo"/>
              <a:buChar char="•"/>
            </a:pPr>
            <a:r>
              <a:rPr sz="1400">
                <a:solidFill>
                  <a:srgbClr val="0F2E66"/>
                </a:solidFill>
                <a:latin typeface="Archivo"/>
              </a:rPr>
              <a:t>Expand controlled offer and employment agreement regeneration, cautious batch updates, and candidate notifications that preserve audit trails for strict Legal review.</a:t>
            </a:r>
          </a:p>
          <a:p>
            <a:r>
              <a:rPr sz="1400" b="1">
                <a:solidFill>
                  <a:srgbClr val="0F2E66"/>
                </a:solidFill>
                <a:latin typeface="Archivo"/>
              </a:rPr>
              <a:t>Why Now</a:t>
            </a:r>
          </a:p>
          <a:p>
            <a:pPr marL="228600" lvl="1" indent="-182880">
              <a:spcAft>
                <a:spcPts val="600"/>
              </a:spcAft>
              <a:buFont typeface="Archivo"/>
              <a:buChar char="•"/>
            </a:pPr>
            <a:r>
              <a:rPr sz="1400">
                <a:solidFill>
                  <a:srgbClr val="0F2E66"/>
                </a:solidFill>
                <a:latin typeface="Archivo"/>
              </a:rPr>
              <a:t>Core ATS parity requirement to support India's high-volume operating reality and reduce candidate drop-off during the critical offer phase where competitors excel.</a:t>
            </a:r>
          </a:p>
          <a:p>
            <a:r>
              <a:rPr sz="1400" b="1">
                <a:solidFill>
                  <a:srgbClr val="0F2E66"/>
                </a:solidFill>
                <a:latin typeface="Archivo"/>
              </a:rPr>
              <a:t>Success Metrics</a:t>
            </a:r>
          </a:p>
          <a:p>
            <a:pPr marL="228600" lvl="1" indent="-182880">
              <a:spcAft>
                <a:spcPts val="600"/>
              </a:spcAft>
              <a:buFont typeface="Archivo"/>
              <a:buChar char="•"/>
            </a:pPr>
            <a:r>
              <a:rPr sz="1400">
                <a:solidFill>
                  <a:srgbClr val="0F2E66"/>
                </a:solidFill>
                <a:latin typeface="Archivo"/>
              </a:rPr>
              <a:t>Offer Renegotiation Time: Reduce manual processing delays by 40% on governed pilots, improving the candidate onboarding experience and reducing overall time-to-hire.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7014" name="Google Shape;120;p22"/>
          <p:cNvPicPr preferRelativeResize="0"/>
          <p:nvPr/>
        </p:nvPicPr>
        <p:blipFill rotWithShape="1">
          <a:blip r:embed="rId3">
            <a:alphaModFix/>
          </a:blip>
          <a:srcRect b="38102"/>
          <a:stretch/>
        </p:blipFill>
        <p:spPr>
          <a:xfrm>
            <a:off x="0" y="1"/>
            <a:ext cx="9144000" cy="5143500"/>
          </a:xfrm>
          <a:prstGeom prst="rect">
            <a:avLst/>
          </a:prstGeom>
          <a:noFill/>
          <a:ln>
            <a:noFill/>
          </a:ln>
        </p:spPr>
      </p:pic>
      <p:sp>
        <p:nvSpPr>
          <p:cNvPr id="2" name="Title 1"/>
          <p:cNvSpPr>
            <a:spLocks noGrp="1"/>
          </p:cNvSpPr>
          <p:nvPr>
            <p:ph type="title"/>
          </p:nvPr>
        </p:nvSpPr>
        <p:spPr/>
        <p:txBody>
          <a:bodyPr/>
          <a:lstStyle/>
          <a:p>
            <a:r>
              <a:t>Roadmap Summary - All Recommendations</a:t>
            </a:r>
          </a:p>
        </p:txBody>
      </p:sp>
      <p:sp>
        <p:nvSpPr>
          <p:cNvPr id="247015" name="TextBox 247014"/>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247016" name="TextBox 247015"/>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64</a:t>
            </a:r>
          </a:p>
        </p:txBody>
      </p:sp>
      <p:graphicFrame>
        <p:nvGraphicFramePr>
          <p:cNvPr id="247017" name="Table 247016"/>
          <p:cNvGraphicFramePr>
            <a:graphicFrameLocks noGrp="1"/>
          </p:cNvGraphicFramePr>
          <p:nvPr/>
        </p:nvGraphicFramePr>
        <p:xfrm>
          <a:off x="320040" y="960120"/>
          <a:ext cx="8503920" cy="2743200"/>
        </p:xfrm>
        <a:graphic>
          <a:graphicData uri="http://schemas.openxmlformats.org/drawingml/2006/table">
            <a:tbl>
              <a:tblPr firstRow="1" bandRow="1">
                <a:tableStyleId>{5C22544A-7EE6-4342-B048-85BDC9FD1C3A}</a:tableStyleId>
              </a:tblPr>
              <a:tblGrid>
                <a:gridCol w="2125980">
                  <a:extLst>
                    <a:ext uri="{9D8B030D-6E8A-4147-A177-3AD203B41FA5}">
                      <a16:colId xmlns:a16="http://schemas.microsoft.com/office/drawing/2014/main" val="20000"/>
                    </a:ext>
                  </a:extLst>
                </a:gridCol>
                <a:gridCol w="2125980">
                  <a:extLst>
                    <a:ext uri="{9D8B030D-6E8A-4147-A177-3AD203B41FA5}">
                      <a16:colId xmlns:a16="http://schemas.microsoft.com/office/drawing/2014/main" val="20001"/>
                    </a:ext>
                  </a:extLst>
                </a:gridCol>
                <a:gridCol w="2125980">
                  <a:extLst>
                    <a:ext uri="{9D8B030D-6E8A-4147-A177-3AD203B41FA5}">
                      <a16:colId xmlns:a16="http://schemas.microsoft.com/office/drawing/2014/main" val="20002"/>
                    </a:ext>
                  </a:extLst>
                </a:gridCol>
                <a:gridCol w="2125980">
                  <a:extLst>
                    <a:ext uri="{9D8B030D-6E8A-4147-A177-3AD203B41FA5}">
                      <a16:colId xmlns:a16="http://schemas.microsoft.com/office/drawing/2014/main" val="20003"/>
                    </a:ext>
                  </a:extLst>
                </a:gridCol>
              </a:tblGrid>
              <a:tr h="228600">
                <a:tc>
                  <a:txBody>
                    <a:bodyPr/>
                    <a:lstStyle/>
                    <a:p>
                      <a:r>
                        <a:rPr sz="700" b="1">
                          <a:solidFill>
                            <a:srgbClr val="FFFFFF"/>
                          </a:solidFill>
                        </a:rPr>
                        <a: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Title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RICE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tc>
                  <a:txBody>
                    <a:bodyPr/>
                    <a:lstStyle/>
                    <a:p>
                      <a:r>
                        <a:rPr sz="700" b="1">
                          <a:solidFill>
                            <a:srgbClr val="FFFFFF"/>
                          </a:solidFill>
                        </a:rPr>
                        <a:t>Effort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solidFill>
                      <a:srgbClr val="0F2E66"/>
                    </a:solidFill>
                  </a:tcPr>
                </a:tc>
                <a:extLst>
                  <a:ext uri="{0D108BD9-81ED-4DB2-BD59-A6C34878D82A}">
                    <a16:rowId xmlns:a16="http://schemas.microsoft.com/office/drawing/2014/main" val="10000"/>
                  </a:ext>
                </a:extLst>
              </a:tr>
              <a:tr h="228600">
                <a:tc>
                  <a:txBody>
                    <a:bodyPr/>
                    <a:lstStyle/>
                    <a:p>
                      <a:r>
                        <a:rPr sz="700"/>
                        <a:t>1</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India Know Your Candidate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1052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10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1"/>
                  </a:ext>
                </a:extLst>
              </a:tr>
              <a:tr h="228600">
                <a:tc>
                  <a:txBody>
                    <a:bodyPr/>
                    <a:lstStyle/>
                    <a:p>
                      <a:r>
                        <a:rPr sz="700"/>
                        <a:t>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Volume duplicate throughput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1238</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8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2"/>
                  </a:ext>
                </a:extLst>
              </a:tr>
              <a:tr h="228600">
                <a:tc>
                  <a:txBody>
                    <a:bodyPr/>
                    <a:lstStyle/>
                    <a:p>
                      <a:r>
                        <a:rPr sz="700"/>
                        <a:t>3</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HiredScore India volume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990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5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3"/>
                  </a:ext>
                </a:extLst>
              </a:tr>
              <a:tr h="228600">
                <a:tc>
                  <a:txBody>
                    <a:bodyPr/>
                    <a:lstStyle/>
                    <a:p>
                      <a:r>
                        <a:rPr sz="700"/>
                        <a:t>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WhatsApp and +91 native</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804</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14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4"/>
                  </a:ext>
                </a:extLst>
              </a:tr>
              <a:tr h="228600">
                <a:tc>
                  <a:txBody>
                    <a:bodyPr/>
                    <a:lstStyle/>
                    <a:p>
                      <a:r>
                        <a:rPr sz="700"/>
                        <a:t>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Offer and EA agility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921</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7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5"/>
                  </a:ext>
                </a:extLst>
              </a:tr>
              <a:tr h="228600">
                <a:tc>
                  <a:txBody>
                    <a:bodyPr/>
                    <a:lstStyle/>
                    <a:p>
                      <a:r>
                        <a:rPr sz="700"/>
                        <a:t>6</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Paradox self-scheduling India TZ</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1225</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3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6"/>
                  </a:ext>
                </a:extLst>
              </a:tr>
              <a:tr h="228600">
                <a:tc>
                  <a:txBody>
                    <a:bodyPr/>
                    <a:lstStyle/>
                    <a:p>
                      <a:r>
                        <a:rPr sz="700"/>
                        <a:t>7</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Questionnaire knock-out agility</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459</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4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7"/>
                  </a:ext>
                </a:extLst>
              </a:tr>
              <a:tr h="228600">
                <a:tc>
                  <a:txBody>
                    <a:bodyPr/>
                    <a:lstStyle/>
                    <a:p>
                      <a:r>
                        <a:rPr sz="700"/>
                        <a:t>8</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Actionable notifications</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700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5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8"/>
                  </a:ext>
                </a:extLst>
              </a:tr>
              <a:tr h="228600">
                <a:tc>
                  <a:txBody>
                    <a:bodyPr/>
                    <a:lstStyle/>
                    <a:p>
                      <a:r>
                        <a:rPr sz="700"/>
                        <a:t>9</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Career site PII audit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700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4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09"/>
                  </a:ext>
                </a:extLst>
              </a:tr>
              <a:tr h="228600">
                <a:tc>
                  <a:txBody>
                    <a:bodyPr/>
                    <a:lstStyle/>
                    <a:p>
                      <a:r>
                        <a:rPr sz="700"/>
                        <a:t>10</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Region marketing consent</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683</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3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10"/>
                  </a:ext>
                </a:extLst>
              </a:tr>
              <a:tr h="228600">
                <a:tc>
                  <a:txBody>
                    <a:bodyPr/>
                    <a:lstStyle/>
                    <a:p>
                      <a:r>
                        <a:rPr sz="700"/>
                        <a:t>11</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DNH disposition automation</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482</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tc>
                  <a:txBody>
                    <a:bodyPr/>
                    <a:lstStyle/>
                    <a:p>
                      <a:r>
                        <a:rPr sz="700"/>
                        <a:t>6 PM</a:t>
                      </a:r>
                    </a:p>
                  </a:txBody>
                  <a:tcPr>
                    <a:lnL w="12700" cmpd="sng">
                      <a:solidFill>
                        <a:srgbClr val="CCCCCC"/>
                      </a:solidFill>
                    </a:lnL>
                    <a:lnR w="12700" cmpd="sng">
                      <a:solidFill>
                        <a:srgbClr val="CCCCCC"/>
                      </a:solidFill>
                    </a:lnR>
                    <a:lnT w="12700" cmpd="sng">
                      <a:solidFill>
                        <a:srgbClr val="CCCCCC"/>
                      </a:solidFill>
                    </a:lnT>
                    <a:lnB w="12700" cmpd="sng">
                      <a:solidFill>
                        <a:srgbClr val="CCCCCC"/>
                      </a:solidFill>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2003" name="Google Shape;142;p27"/>
          <p:cNvPicPr preferRelativeResize="0"/>
          <p:nvPr/>
        </p:nvPicPr>
        <p:blipFill rotWithShape="1">
          <a:blip r:embed="rId2">
            <a:alphaModFix/>
          </a:blip>
          <a:srcRect/>
          <a:stretch/>
        </p:blipFill>
        <p:spPr>
          <a:xfrm>
            <a:off x="3101498" y="1639177"/>
            <a:ext cx="2941004" cy="1390546"/>
          </a:xfrm>
          <a:prstGeom prst="rect">
            <a:avLst/>
          </a:prstGeom>
          <a:noFill/>
          <a:ln>
            <a:noFill/>
          </a:ln>
        </p:spPr>
      </p:pic>
      <p:sp>
        <p:nvSpPr>
          <p:cNvPr id="992004" name="TextBox 992003"/>
          <p:cNvSpPr txBox="1"/>
          <p:nvPr/>
        </p:nvSpPr>
        <p:spPr>
          <a:xfrm>
            <a:off x="0" y="4846320"/>
            <a:ext cx="3108960" cy="274320"/>
          </a:xfrm>
          <a:prstGeom prst="rect">
            <a:avLst/>
          </a:prstGeom>
          <a:noFill/>
        </p:spPr>
        <p:txBody>
          <a:bodyPr wrap="square">
            <a:spAutoFit/>
          </a:bodyPr>
          <a:lstStyle/>
          <a:p>
            <a:pPr algn="l"/>
            <a:r>
              <a:rPr sz="700" b="0">
                <a:solidFill>
                  <a:srgbClr val="525D6A"/>
                </a:solidFill>
                <a:latin typeface="Archivo"/>
              </a:rPr>
              <a:t>Workday Confidential</a:t>
            </a:r>
          </a:p>
        </p:txBody>
      </p:sp>
      <p:sp>
        <p:nvSpPr>
          <p:cNvPr id="992005" name="TextBox 992004"/>
          <p:cNvSpPr txBox="1"/>
          <p:nvPr/>
        </p:nvSpPr>
        <p:spPr>
          <a:xfrm>
            <a:off x="8412480" y="4846320"/>
            <a:ext cx="548640" cy="274320"/>
          </a:xfrm>
          <a:prstGeom prst="rect">
            <a:avLst/>
          </a:prstGeom>
          <a:noFill/>
        </p:spPr>
        <p:txBody>
          <a:bodyPr wrap="square">
            <a:spAutoFit/>
          </a:bodyPr>
          <a:lstStyle/>
          <a:p>
            <a:pPr algn="r"/>
            <a:r>
              <a:rPr sz="700" b="0">
                <a:solidFill>
                  <a:srgbClr val="525D6A"/>
                </a:solidFill>
                <a:latin typeface="Archivo"/>
              </a:rPr>
              <a:t>65</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orkday Corporate Template">
  <a:themeElements>
    <a:clrScheme name="Workday Color Palette">
      <a:dk1>
        <a:srgbClr val="0F2E66"/>
      </a:dk1>
      <a:lt1>
        <a:srgbClr val="FFFFFF"/>
      </a:lt1>
      <a:dk2>
        <a:srgbClr val="0057AE"/>
      </a:dk2>
      <a:lt2>
        <a:srgbClr val="022043"/>
      </a:lt2>
      <a:accent1>
        <a:srgbClr val="1C98E8"/>
      </a:accent1>
      <a:accent2>
        <a:srgbClr val="9ECFFF"/>
      </a:accent2>
      <a:accent3>
        <a:srgbClr val="FEC10B"/>
      </a:accent3>
      <a:accent4>
        <a:srgbClr val="FDE65E"/>
      </a:accent4>
      <a:accent5>
        <a:srgbClr val="FFF3A8"/>
      </a:accent5>
      <a:accent6>
        <a:srgbClr val="FCF8E8"/>
      </a:accent6>
      <a:hlink>
        <a:srgbClr val="0057AE"/>
      </a:hlink>
      <a:folHlink>
        <a:srgbClr val="1C98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Workday Corporate Template">
  <a:themeElements>
    <a:clrScheme name="Workday Color Palette">
      <a:dk1>
        <a:srgbClr val="0F2E66"/>
      </a:dk1>
      <a:lt1>
        <a:srgbClr val="FFFFFF"/>
      </a:lt1>
      <a:dk2>
        <a:srgbClr val="0057AE"/>
      </a:dk2>
      <a:lt2>
        <a:srgbClr val="022043"/>
      </a:lt2>
      <a:accent1>
        <a:srgbClr val="1C98E8"/>
      </a:accent1>
      <a:accent2>
        <a:srgbClr val="9ECFFF"/>
      </a:accent2>
      <a:accent3>
        <a:srgbClr val="FEC10B"/>
      </a:accent3>
      <a:accent4>
        <a:srgbClr val="FDE65E"/>
      </a:accent4>
      <a:accent5>
        <a:srgbClr val="FFF3A8"/>
      </a:accent5>
      <a:accent6>
        <a:srgbClr val="FCF8E8"/>
      </a:accent6>
      <a:hlink>
        <a:srgbClr val="0057AE"/>
      </a:hlink>
      <a:folHlink>
        <a:srgbClr val="1C98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7835</Words>
  <Application>Microsoft Macintosh PowerPoint</Application>
  <PresentationFormat>On-screen Show (16:9)</PresentationFormat>
  <Paragraphs>847</Paragraphs>
  <Slides>65</Slides>
  <Notes>50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65</vt:i4>
      </vt:variant>
    </vt:vector>
  </HeadingPairs>
  <TitlesOfParts>
    <vt:vector size="74" baseType="lpstr">
      <vt:lpstr>Archivo</vt:lpstr>
      <vt:lpstr>Courier New</vt:lpstr>
      <vt:lpstr>Arial</vt:lpstr>
      <vt:lpstr>Archivo Light</vt:lpstr>
      <vt:lpstr>Merriweather Sans</vt:lpstr>
      <vt:lpstr>Noto Sans Symbols</vt:lpstr>
      <vt:lpstr>Simple Light</vt:lpstr>
      <vt:lpstr>Workday Corporate Template</vt:lpstr>
      <vt:lpstr>Workday Corporate Template</vt:lpstr>
      <vt:lpstr>India Recruiting Product-Market Fit Research</vt:lpstr>
      <vt:lpstr>PowerPoint Presentation</vt:lpstr>
      <vt:lpstr>Executive Summary</vt:lpstr>
      <vt:lpstr>PowerPoint Presentation</vt:lpstr>
      <vt:lpstr>Research Question and Objectives</vt:lpstr>
      <vt:lpstr>Research Scope and Win-Loss Data</vt:lpstr>
      <vt:lpstr>PowerPoint Presentation</vt:lpstr>
      <vt:lpstr>Strategic Context - FY26 Growth Objectives</vt:lpstr>
      <vt:lpstr>India Market Momentum - Key Indicators</vt:lpstr>
      <vt:lpstr>PowerPoint Presentation</vt:lpstr>
      <vt:lpstr>Q2 2026 Product Priorities</vt:lpstr>
      <vt:lpstr>Regional Expansion Strategy</vt:lpstr>
      <vt:lpstr>Competitive Positioning - Differentiation</vt:lpstr>
      <vt:lpstr>PowerPoint Presentation</vt:lpstr>
      <vt:lpstr>Political</vt:lpstr>
      <vt:lpstr>Economic</vt:lpstr>
      <vt:lpstr>Social</vt:lpstr>
      <vt:lpstr>Technological</vt:lpstr>
      <vt:lpstr>Environmental</vt:lpstr>
      <vt:lpstr>Legal</vt:lpstr>
      <vt:lpstr>PowerPoint Presentation</vt:lpstr>
      <vt:lpstr>Competitive Landscape - Regional Specialists</vt:lpstr>
      <vt:lpstr>Competitive Landscape - Global Platforms</vt:lpstr>
      <vt:lpstr>Competitive SWOT - Workday in India</vt:lpstr>
      <vt:lpstr>PowerPoint Presentation</vt:lpstr>
      <vt:lpstr>Win/Loss - India Presales Scope</vt:lpstr>
      <vt:lpstr>Win/Loss - Ideation Pain Index</vt:lpstr>
      <vt:lpstr>Win/Loss - India-Linked Deal Rows</vt:lpstr>
      <vt:lpstr>PowerPoint Presentation</vt:lpstr>
      <vt:lpstr>Ideation Hub - Overview</vt:lpstr>
      <vt:lpstr>Ideation Hub - Top Capability Volumes</vt:lpstr>
      <vt:lpstr>Ideation Hub: Key Themes</vt:lpstr>
      <vt:lpstr>PowerPoint Presentation</vt:lpstr>
      <vt:lpstr>Internal SME Interviews - Experts</vt:lpstr>
      <vt:lpstr>SME Interview Participants</vt:lpstr>
      <vt:lpstr>SME1 - VP, Talent Product</vt:lpstr>
      <vt:lpstr>SME2 - Field Readiness Advisor</vt:lpstr>
      <vt:lpstr>SME3 - Global Services FC</vt:lpstr>
      <vt:lpstr>SME4 - Enterprise Architect</vt:lpstr>
      <vt:lpstr>SME5 - Strategic Customer CE</vt:lpstr>
      <vt:lpstr>PowerPoint Presentation</vt:lpstr>
      <vt:lpstr>1:1 Interviews - Enterprise</vt:lpstr>
      <vt:lpstr>Customer Interview Participants</vt:lpstr>
      <vt:lpstr>P1 - Recruitment Mgr, Teleperformance</vt:lpstr>
      <vt:lpstr>P2 - Recruitment Mgr, Teleperformance Reqs</vt:lpstr>
      <vt:lpstr>P3 - Leadership Hiring, Teleperformance</vt:lpstr>
      <vt:lpstr>P4 - Recruiting Mgr, Teleperformance</vt:lpstr>
      <vt:lpstr>P5 - Frontline Lead, Teleperformance</vt:lpstr>
      <vt:lpstr>PowerPoint Presentation</vt:lpstr>
      <vt:lpstr>Theme 1: Know Your Candidate</vt:lpstr>
      <vt:lpstr>Theme 2: High Volume</vt:lpstr>
      <vt:lpstr>Theme 3: Offer and BGV</vt:lpstr>
      <vt:lpstr>Theme 4: Omnichannel</vt:lpstr>
      <vt:lpstr>Theme 5: Req Truth &amp; Approvals</vt:lpstr>
      <vt:lpstr>Cross-Source Validation Matrix</vt:lpstr>
      <vt:lpstr>PowerPoint Presentation</vt:lpstr>
      <vt:lpstr>Gap Analysis</vt:lpstr>
      <vt:lpstr>PowerPoint Presentation</vt:lpstr>
      <vt:lpstr>Recommendation 1: India Know Your Candidate</vt:lpstr>
      <vt:lpstr>Recommendation 2: Volume duplicate ops</vt:lpstr>
      <vt:lpstr>Recommendation 3: HiredScore India volume</vt:lpstr>
      <vt:lpstr>Recommendation 4: WhatsApp</vt:lpstr>
      <vt:lpstr>Recommendation 5: Offer and EA agility</vt:lpstr>
      <vt:lpstr>Roadmap Summary - All 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David Denham</cp:lastModifiedBy>
  <cp:revision>1</cp:revision>
  <dcterms:modified xsi:type="dcterms:W3CDTF">2026-04-02T00:32:05Z</dcterms:modified>
</cp:coreProperties>
</file>